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32"/>
  </p:notesMasterIdLst>
  <p:handoutMasterIdLst>
    <p:handoutMasterId r:id="rId33"/>
  </p:handoutMasterIdLst>
  <p:sldIdLst>
    <p:sldId id="256" r:id="rId2"/>
    <p:sldId id="268" r:id="rId3"/>
    <p:sldId id="270" r:id="rId4"/>
    <p:sldId id="296" r:id="rId5"/>
    <p:sldId id="306" r:id="rId6"/>
    <p:sldId id="307" r:id="rId7"/>
    <p:sldId id="278" r:id="rId8"/>
    <p:sldId id="280" r:id="rId9"/>
    <p:sldId id="304" r:id="rId10"/>
    <p:sldId id="282" r:id="rId11"/>
    <p:sldId id="298" r:id="rId12"/>
    <p:sldId id="299" r:id="rId13"/>
    <p:sldId id="283" r:id="rId14"/>
    <p:sldId id="293" r:id="rId15"/>
    <p:sldId id="300" r:id="rId16"/>
    <p:sldId id="272" r:id="rId17"/>
    <p:sldId id="301" r:id="rId18"/>
    <p:sldId id="302" r:id="rId19"/>
    <p:sldId id="303" r:id="rId20"/>
    <p:sldId id="273" r:id="rId21"/>
    <p:sldId id="288" r:id="rId22"/>
    <p:sldId id="308" r:id="rId23"/>
    <p:sldId id="310" r:id="rId24"/>
    <p:sldId id="311" r:id="rId25"/>
    <p:sldId id="274" r:id="rId26"/>
    <p:sldId id="313" r:id="rId27"/>
    <p:sldId id="291" r:id="rId28"/>
    <p:sldId id="309" r:id="rId29"/>
    <p:sldId id="312" r:id="rId30"/>
    <p:sldId id="267" r:id="rId31"/>
  </p:sldIdLst>
  <p:sldSz cx="18288000" cy="10287000"/>
  <p:notesSz cx="6858000" cy="9144000"/>
  <p:embeddedFontLst>
    <p:embeddedFont>
      <p:font typeface="Cambria Math" panose="02040503050406030204" pitchFamily="18" charset="0"/>
      <p:regular r:id="rId34"/>
    </p:embeddedFont>
    <p:embeddedFont>
      <p:font typeface="Martel" panose="020B0604020202020204" charset="0"/>
      <p:regular r:id="rId35"/>
    </p:embeddedFont>
    <p:embeddedFont>
      <p:font typeface="Martel Semi-Bold" panose="020B0604020202020204" charset="0"/>
      <p:regular r:id="rId3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5DFD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p:scale>
          <a:sx n="50" d="100"/>
          <a:sy n="50" d="100"/>
        </p:scale>
        <p:origin x="874" y="-7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font" Target="fonts/font1.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handoutMaster" Target="handoutMasters/handoutMaster1.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2.fntdata"/><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B5288C9-6F6F-8FAF-65C5-ADBFBD4C9607}"/>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id="{50295D79-2C78-B878-EB49-32590843917A}"/>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EECBDD3-A241-4C85-A002-480E432A8511}" type="datetimeFigureOut">
              <a:rPr lang="en-IN" smtClean="0"/>
              <a:t>06-04-2026</a:t>
            </a:fld>
            <a:endParaRPr lang="en-IN"/>
          </a:p>
        </p:txBody>
      </p:sp>
      <p:sp>
        <p:nvSpPr>
          <p:cNvPr id="4" name="Footer Placeholder 3">
            <a:extLst>
              <a:ext uri="{FF2B5EF4-FFF2-40B4-BE49-F238E27FC236}">
                <a16:creationId xmlns:a16="http://schemas.microsoft.com/office/drawing/2014/main" id="{C9FA7F41-5E6C-1F25-99A2-BEA00C31B4F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a:extLst>
              <a:ext uri="{FF2B5EF4-FFF2-40B4-BE49-F238E27FC236}">
                <a16:creationId xmlns:a16="http://schemas.microsoft.com/office/drawing/2014/main" id="{CCE8FEF1-89BC-6A75-0EA8-89202586C77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AB5EB0A-2CA5-4784-B749-92018F52CA33}" type="slidenum">
              <a:rPr lang="en-IN" smtClean="0"/>
              <a:t>‹#›</a:t>
            </a:fld>
            <a:endParaRPr lang="en-IN"/>
          </a:p>
        </p:txBody>
      </p:sp>
    </p:spTree>
    <p:extLst>
      <p:ext uri="{BB962C8B-B14F-4D97-AF65-F5344CB8AC3E}">
        <p14:creationId xmlns:p14="http://schemas.microsoft.com/office/powerpoint/2010/main" val="3253975580"/>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53785A6-4B28-48C5-A959-CF5336959213}" type="datetimeFigureOut">
              <a:rPr lang="en-IN" smtClean="0"/>
              <a:t>06-04-2026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7804B89-CD6E-4319-BD31-AE4A1BB52013}" type="slidenum">
              <a:rPr lang="en-IN" smtClean="0"/>
              <a:t>‹#›</a:t>
            </a:fld>
            <a:endParaRPr lang="en-IN"/>
          </a:p>
        </p:txBody>
      </p:sp>
    </p:spTree>
    <p:extLst>
      <p:ext uri="{BB962C8B-B14F-4D97-AF65-F5344CB8AC3E}">
        <p14:creationId xmlns:p14="http://schemas.microsoft.com/office/powerpoint/2010/main" val="4171346481"/>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Footer Placeholder 3"/>
          <p:cNvSpPr>
            <a:spLocks noGrp="1"/>
          </p:cNvSpPr>
          <p:nvPr>
            <p:ph type="ftr" sz="quarter" idx="4"/>
          </p:nvPr>
        </p:nvSpPr>
        <p:spPr/>
        <p:txBody>
          <a:bodyPr/>
          <a:lstStyle/>
          <a:p>
            <a:endParaRPr lang="en-IN"/>
          </a:p>
        </p:txBody>
      </p:sp>
      <p:sp>
        <p:nvSpPr>
          <p:cNvPr id="5" name="Slide Number Placeholder 4"/>
          <p:cNvSpPr>
            <a:spLocks noGrp="1"/>
          </p:cNvSpPr>
          <p:nvPr>
            <p:ph type="sldNum" sz="quarter" idx="5"/>
          </p:nvPr>
        </p:nvSpPr>
        <p:spPr/>
        <p:txBody>
          <a:bodyPr/>
          <a:lstStyle/>
          <a:p>
            <a:fld id="{F7804B89-CD6E-4319-BD31-AE4A1BB52013}" type="slidenum">
              <a:rPr lang="en-IN" smtClean="0"/>
              <a:t>1</a:t>
            </a:fld>
            <a:endParaRPr lang="en-IN"/>
          </a:p>
        </p:txBody>
      </p:sp>
    </p:spTree>
    <p:extLst>
      <p:ext uri="{BB962C8B-B14F-4D97-AF65-F5344CB8AC3E}">
        <p14:creationId xmlns:p14="http://schemas.microsoft.com/office/powerpoint/2010/main" val="38856637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7804B89-CD6E-4319-BD31-AE4A1BB52013}" type="slidenum">
              <a:rPr lang="en-IN" smtClean="0"/>
              <a:t>8</a:t>
            </a:fld>
            <a:endParaRPr lang="en-IN"/>
          </a:p>
        </p:txBody>
      </p:sp>
      <p:sp>
        <p:nvSpPr>
          <p:cNvPr id="5" name="Footer Placeholder 4">
            <a:extLst>
              <a:ext uri="{FF2B5EF4-FFF2-40B4-BE49-F238E27FC236}">
                <a16:creationId xmlns:a16="http://schemas.microsoft.com/office/drawing/2014/main" id="{6B8B877B-93C9-DEB1-1761-8A70E92B7FF7}"/>
              </a:ext>
            </a:extLst>
          </p:cNvPr>
          <p:cNvSpPr>
            <a:spLocks noGrp="1"/>
          </p:cNvSpPr>
          <p:nvPr>
            <p:ph type="ftr" sz="quarter" idx="4"/>
          </p:nvPr>
        </p:nvSpPr>
        <p:spPr/>
        <p:txBody>
          <a:bodyPr/>
          <a:lstStyle/>
          <a:p>
            <a:endParaRPr lang="en-IN"/>
          </a:p>
        </p:txBody>
      </p:sp>
    </p:spTree>
    <p:extLst>
      <p:ext uri="{BB962C8B-B14F-4D97-AF65-F5344CB8AC3E}">
        <p14:creationId xmlns:p14="http://schemas.microsoft.com/office/powerpoint/2010/main" val="380664026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F755AE48-A48D-46DC-A118-53163692A613}" type="datetime1">
              <a:rPr lang="en-US" smtClean="0"/>
              <a:t>4/6/2026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26F22B-5BE3-4A4F-AA0D-A65120FD2715}" type="datetime1">
              <a:rPr lang="en-US" smtClean="0"/>
              <a:t>4/6/2026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96D54C6-CC73-47C4-B207-7C989404DAB0}" type="datetime1">
              <a:rPr lang="en-US" smtClean="0"/>
              <a:t>4/6/2026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3179D684-594D-464A-B198-123A467FBC66}" type="datetime1">
              <a:rPr lang="en-US" smtClean="0"/>
              <a:t>4/6/2026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D049E766-7EC8-4603-B8EF-5C6C0ADAC041}" type="datetime1">
              <a:rPr lang="en-US" smtClean="0"/>
              <a:t>4/6/2026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F68E838-D369-4A76-9142-4E2D317FDD90}" type="datetime1">
              <a:rPr lang="en-US" smtClean="0"/>
              <a:t>4/6/2026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967658D-CA21-4A04-85BF-20EBE538405A}" type="datetime1">
              <a:rPr lang="en-US" smtClean="0"/>
              <a:t>4/6/2026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6355997-5FB3-4757-BAA4-1FF2AAED5E21}" type="datetime1">
              <a:rPr lang="en-US" smtClean="0"/>
              <a:t>4/6/2026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7075735-17FF-4DD2-A276-B799F0E78338}" type="datetime1">
              <a:rPr lang="en-US" smtClean="0"/>
              <a:t>4/6/2026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E9393DE-F236-404D-A367-6930F3AD397C}" type="datetime1">
              <a:rPr lang="en-US" smtClean="0"/>
              <a:t>4/6/2026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F6E2D38-ADA0-41AF-88D9-08912200E759}" type="datetime1">
              <a:rPr lang="en-US" smtClean="0"/>
              <a:t>4/6/2026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61016CA-E80A-4CC5-80C6-1FB4FCC7B836}" type="datetime1">
              <a:rPr lang="en-US" smtClean="0"/>
              <a:t>4/6/2026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sv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sv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sv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sv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sv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6.jpeg"/><Relationship Id="rId5" Type="http://schemas.openxmlformats.org/officeDocument/2006/relationships/image" Target="../media/image4.sv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7.jpeg"/><Relationship Id="rId5" Type="http://schemas.openxmlformats.org/officeDocument/2006/relationships/image" Target="../media/image4.sv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8.jpeg"/><Relationship Id="rId5" Type="http://schemas.openxmlformats.org/officeDocument/2006/relationships/image" Target="../media/image4.sv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4.svg"/><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4.svg"/><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svg"/><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svg"/><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svg"/><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svg"/><Relationship Id="rId4" Type="http://schemas.openxmlformats.org/officeDocument/2006/relationships/image" Target="../media/image3.png"/></Relationships>
</file>

<file path=ppt/slides/_rels/slide1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svg"/><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svg"/><Relationship Id="rId4" Type="http://schemas.openxmlformats.org/officeDocument/2006/relationships/image" Target="../media/image3.png"/></Relationships>
</file>

<file path=ppt/slides/_rels/slide21.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2.svg"/><Relationship Id="rId7" Type="http://schemas.openxmlformats.org/officeDocument/2006/relationships/image" Target="../media/image12.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4.svg"/><Relationship Id="rId4" Type="http://schemas.openxmlformats.org/officeDocument/2006/relationships/image" Target="../media/image3.png"/><Relationship Id="rId9" Type="http://schemas.openxmlformats.org/officeDocument/2006/relationships/image" Target="../media/image14.png"/></Relationships>
</file>

<file path=ppt/slides/_rels/slide22.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2.svg"/><Relationship Id="rId7" Type="http://schemas.openxmlformats.org/officeDocument/2006/relationships/image" Target="../media/image16.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4.svg"/><Relationship Id="rId4" Type="http://schemas.openxmlformats.org/officeDocument/2006/relationships/image" Target="../media/image3.png"/></Relationships>
</file>

<file path=ppt/slides/_rels/slide23.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19.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4.svg"/><Relationship Id="rId4" Type="http://schemas.openxmlformats.org/officeDocument/2006/relationships/image" Target="../media/image3.png"/></Relationships>
</file>

<file path=ppt/slides/_rels/slide2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4.svg"/><Relationship Id="rId4" Type="http://schemas.openxmlformats.org/officeDocument/2006/relationships/image" Target="../media/image3.png"/></Relationships>
</file>

<file path=ppt/slides/_rels/slide2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svg"/><Relationship Id="rId4" Type="http://schemas.openxmlformats.org/officeDocument/2006/relationships/image" Target="../media/image3.png"/></Relationships>
</file>

<file path=ppt/slides/_rels/slide2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svg"/><Relationship Id="rId4" Type="http://schemas.openxmlformats.org/officeDocument/2006/relationships/image" Target="../media/image3.png"/></Relationships>
</file>

<file path=ppt/slides/_rels/slide2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svg"/><Relationship Id="rId4" Type="http://schemas.openxmlformats.org/officeDocument/2006/relationships/image" Target="../media/image3.png"/></Relationships>
</file>

<file path=ppt/slides/_rels/slide2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svg"/><Relationship Id="rId4" Type="http://schemas.openxmlformats.org/officeDocument/2006/relationships/image" Target="../media/image3.png"/></Relationships>
</file>

<file path=ppt/slides/_rels/slide2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svg"/><Relationship Id="rId4" Type="http://schemas.openxmlformats.org/officeDocument/2006/relationships/image" Target="../media/image3.png"/></Relationships>
</file>

<file path=ppt/slides/_rels/slide3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Group 5">
            <a:extLst>
              <a:ext uri="{FF2B5EF4-FFF2-40B4-BE49-F238E27FC236}">
                <a16:creationId xmlns:a16="http://schemas.microsoft.com/office/drawing/2014/main" id="{221A4C86-FEA8-F168-C0A8-BA8E84D2DC5D}"/>
              </a:ext>
            </a:extLst>
          </p:cNvPr>
          <p:cNvGrpSpPr/>
          <p:nvPr/>
        </p:nvGrpSpPr>
        <p:grpSpPr>
          <a:xfrm>
            <a:off x="18088875" y="-137537"/>
            <a:ext cx="1273129" cy="10562074"/>
            <a:chOff x="0" y="0"/>
            <a:chExt cx="335310" cy="2781781"/>
          </a:xfrm>
        </p:grpSpPr>
        <p:sp>
          <p:nvSpPr>
            <p:cNvPr id="20" name="Freeform 6">
              <a:extLst>
                <a:ext uri="{FF2B5EF4-FFF2-40B4-BE49-F238E27FC236}">
                  <a16:creationId xmlns:a16="http://schemas.microsoft.com/office/drawing/2014/main" id="{4EE511B1-72AB-805F-AC7E-B2248A372F2A}"/>
                </a:ext>
              </a:extLst>
            </p:cNvPr>
            <p:cNvSpPr/>
            <p:nvPr/>
          </p:nvSpPr>
          <p:spPr>
            <a:xfrm>
              <a:off x="0" y="0"/>
              <a:ext cx="335310" cy="2781781"/>
            </a:xfrm>
            <a:custGeom>
              <a:avLst/>
              <a:gdLst/>
              <a:ahLst/>
              <a:cxnLst/>
              <a:rect l="l" t="t" r="r" b="b"/>
              <a:pathLst>
                <a:path w="335310" h="2781781">
                  <a:moveTo>
                    <a:pt x="0" y="0"/>
                  </a:moveTo>
                  <a:lnTo>
                    <a:pt x="335310" y="0"/>
                  </a:lnTo>
                  <a:lnTo>
                    <a:pt x="335310" y="2781781"/>
                  </a:lnTo>
                  <a:lnTo>
                    <a:pt x="0" y="2781781"/>
                  </a:lnTo>
                  <a:close/>
                </a:path>
              </a:pathLst>
            </a:custGeom>
            <a:solidFill>
              <a:srgbClr val="F5DFDC"/>
            </a:solidFill>
            <a:ln cap="sq">
              <a:noFill/>
              <a:prstDash val="solid"/>
              <a:miter/>
            </a:ln>
          </p:spPr>
          <p:txBody>
            <a:bodyPr/>
            <a:lstStyle/>
            <a:p>
              <a:endParaRPr lang="en-IN"/>
            </a:p>
          </p:txBody>
        </p:sp>
        <p:sp>
          <p:nvSpPr>
            <p:cNvPr id="21" name="TextBox 7">
              <a:extLst>
                <a:ext uri="{FF2B5EF4-FFF2-40B4-BE49-F238E27FC236}">
                  <a16:creationId xmlns:a16="http://schemas.microsoft.com/office/drawing/2014/main" id="{135D91B1-A9C3-2A2B-CF35-A95EBE1EE52F}"/>
                </a:ext>
              </a:extLst>
            </p:cNvPr>
            <p:cNvSpPr txBox="1"/>
            <p:nvPr/>
          </p:nvSpPr>
          <p:spPr>
            <a:xfrm>
              <a:off x="0" y="38100"/>
              <a:ext cx="335310" cy="2743681"/>
            </a:xfrm>
            <a:prstGeom prst="rect">
              <a:avLst/>
            </a:prstGeom>
          </p:spPr>
          <p:txBody>
            <a:bodyPr lIns="50800" tIns="50800" rIns="50800" bIns="50800" rtlCol="0" anchor="ctr"/>
            <a:lstStyle/>
            <a:p>
              <a:pPr algn="ctr">
                <a:lnSpc>
                  <a:spcPts val="2100"/>
                </a:lnSpc>
              </a:pPr>
              <a:endParaRPr/>
            </a:p>
          </p:txBody>
        </p:sp>
      </p:grpSp>
      <p:grpSp>
        <p:nvGrpSpPr>
          <p:cNvPr id="16" name="Group 2">
            <a:extLst>
              <a:ext uri="{FF2B5EF4-FFF2-40B4-BE49-F238E27FC236}">
                <a16:creationId xmlns:a16="http://schemas.microsoft.com/office/drawing/2014/main" id="{C91BDB0F-831E-B85A-4276-3E0A7787592D}"/>
              </a:ext>
            </a:extLst>
          </p:cNvPr>
          <p:cNvGrpSpPr/>
          <p:nvPr/>
        </p:nvGrpSpPr>
        <p:grpSpPr>
          <a:xfrm>
            <a:off x="-998214" y="24260"/>
            <a:ext cx="1273129" cy="10562074"/>
            <a:chOff x="0" y="0"/>
            <a:chExt cx="335310" cy="2781781"/>
          </a:xfrm>
        </p:grpSpPr>
        <p:sp>
          <p:nvSpPr>
            <p:cNvPr id="17" name="Freeform 3">
              <a:extLst>
                <a:ext uri="{FF2B5EF4-FFF2-40B4-BE49-F238E27FC236}">
                  <a16:creationId xmlns:a16="http://schemas.microsoft.com/office/drawing/2014/main" id="{8EEB1490-D54E-F3B5-4D09-B1D043F74F7A}"/>
                </a:ext>
              </a:extLst>
            </p:cNvPr>
            <p:cNvSpPr/>
            <p:nvPr/>
          </p:nvSpPr>
          <p:spPr>
            <a:xfrm>
              <a:off x="0" y="0"/>
              <a:ext cx="335310" cy="2781781"/>
            </a:xfrm>
            <a:custGeom>
              <a:avLst/>
              <a:gdLst/>
              <a:ahLst/>
              <a:cxnLst/>
              <a:rect l="l" t="t" r="r" b="b"/>
              <a:pathLst>
                <a:path w="335310" h="2781781">
                  <a:moveTo>
                    <a:pt x="0" y="0"/>
                  </a:moveTo>
                  <a:lnTo>
                    <a:pt x="335310" y="0"/>
                  </a:lnTo>
                  <a:lnTo>
                    <a:pt x="335310" y="2781781"/>
                  </a:lnTo>
                  <a:lnTo>
                    <a:pt x="0" y="2781781"/>
                  </a:lnTo>
                  <a:close/>
                </a:path>
              </a:pathLst>
            </a:custGeom>
            <a:solidFill>
              <a:srgbClr val="F5DFDC"/>
            </a:solidFill>
            <a:ln cap="sq">
              <a:noFill/>
              <a:prstDash val="solid"/>
              <a:miter/>
            </a:ln>
          </p:spPr>
          <p:txBody>
            <a:bodyPr/>
            <a:lstStyle/>
            <a:p>
              <a:endParaRPr lang="en-IN"/>
            </a:p>
          </p:txBody>
        </p:sp>
        <p:sp>
          <p:nvSpPr>
            <p:cNvPr id="18" name="TextBox 4">
              <a:extLst>
                <a:ext uri="{FF2B5EF4-FFF2-40B4-BE49-F238E27FC236}">
                  <a16:creationId xmlns:a16="http://schemas.microsoft.com/office/drawing/2014/main" id="{D250FB4D-60A4-8392-140C-A2718545A832}"/>
                </a:ext>
              </a:extLst>
            </p:cNvPr>
            <p:cNvSpPr txBox="1"/>
            <p:nvPr/>
          </p:nvSpPr>
          <p:spPr>
            <a:xfrm>
              <a:off x="0" y="38100"/>
              <a:ext cx="335310" cy="2743681"/>
            </a:xfrm>
            <a:prstGeom prst="rect">
              <a:avLst/>
            </a:prstGeom>
          </p:spPr>
          <p:txBody>
            <a:bodyPr lIns="50800" tIns="50800" rIns="50800" bIns="50800" rtlCol="0" anchor="ctr"/>
            <a:lstStyle/>
            <a:p>
              <a:pPr algn="ctr">
                <a:lnSpc>
                  <a:spcPts val="2100"/>
                </a:lnSpc>
              </a:pPr>
              <a:endParaRPr/>
            </a:p>
          </p:txBody>
        </p:sp>
      </p:grpSp>
      <p:sp>
        <p:nvSpPr>
          <p:cNvPr id="8" name="Freeform 8"/>
          <p:cNvSpPr/>
          <p:nvPr/>
        </p:nvSpPr>
        <p:spPr>
          <a:xfrm>
            <a:off x="14706600" y="-202510"/>
            <a:ext cx="4521184" cy="1528982"/>
          </a:xfrm>
          <a:custGeom>
            <a:avLst/>
            <a:gdLst/>
            <a:ahLst/>
            <a:cxnLst/>
            <a:rect l="l" t="t" r="r" b="b"/>
            <a:pathLst>
              <a:path w="4521184" h="1528982">
                <a:moveTo>
                  <a:pt x="0" y="0"/>
                </a:moveTo>
                <a:lnTo>
                  <a:pt x="4521184" y="0"/>
                </a:lnTo>
                <a:lnTo>
                  <a:pt x="4521184" y="1528982"/>
                </a:lnTo>
                <a:lnTo>
                  <a:pt x="0" y="152898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IN"/>
          </a:p>
        </p:txBody>
      </p:sp>
      <p:sp>
        <p:nvSpPr>
          <p:cNvPr id="9" name="Freeform 9"/>
          <p:cNvSpPr/>
          <p:nvPr/>
        </p:nvSpPr>
        <p:spPr>
          <a:xfrm flipH="1" flipV="1">
            <a:off x="-1128348" y="8895555"/>
            <a:ext cx="4521184" cy="1528982"/>
          </a:xfrm>
          <a:custGeom>
            <a:avLst/>
            <a:gdLst/>
            <a:ahLst/>
            <a:cxnLst/>
            <a:rect l="l" t="t" r="r" b="b"/>
            <a:pathLst>
              <a:path w="4521184" h="1528982">
                <a:moveTo>
                  <a:pt x="4521184" y="1528982"/>
                </a:moveTo>
                <a:lnTo>
                  <a:pt x="0" y="1528982"/>
                </a:lnTo>
                <a:lnTo>
                  <a:pt x="0" y="0"/>
                </a:lnTo>
                <a:lnTo>
                  <a:pt x="4521184" y="0"/>
                </a:lnTo>
                <a:lnTo>
                  <a:pt x="4521184" y="1528982"/>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IN"/>
          </a:p>
        </p:txBody>
      </p:sp>
      <p:sp>
        <p:nvSpPr>
          <p:cNvPr id="10" name="Freeform 10"/>
          <p:cNvSpPr/>
          <p:nvPr/>
        </p:nvSpPr>
        <p:spPr>
          <a:xfrm>
            <a:off x="16459200" y="9182100"/>
            <a:ext cx="2636110" cy="1524151"/>
          </a:xfrm>
          <a:custGeom>
            <a:avLst/>
            <a:gdLst/>
            <a:ahLst/>
            <a:cxnLst/>
            <a:rect l="l" t="t" r="r" b="b"/>
            <a:pathLst>
              <a:path w="2636110" h="1524151">
                <a:moveTo>
                  <a:pt x="0" y="0"/>
                </a:moveTo>
                <a:lnTo>
                  <a:pt x="2636110" y="0"/>
                </a:lnTo>
                <a:lnTo>
                  <a:pt x="2636110" y="1524151"/>
                </a:lnTo>
                <a:lnTo>
                  <a:pt x="0" y="1524151"/>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IN" dirty="0"/>
          </a:p>
        </p:txBody>
      </p:sp>
      <p:sp>
        <p:nvSpPr>
          <p:cNvPr id="11" name="Freeform 11"/>
          <p:cNvSpPr/>
          <p:nvPr/>
        </p:nvSpPr>
        <p:spPr>
          <a:xfrm flipH="1" flipV="1">
            <a:off x="-762000" y="-428776"/>
            <a:ext cx="2636110" cy="1524151"/>
          </a:xfrm>
          <a:custGeom>
            <a:avLst/>
            <a:gdLst/>
            <a:ahLst/>
            <a:cxnLst/>
            <a:rect l="l" t="t" r="r" b="b"/>
            <a:pathLst>
              <a:path w="2636110" h="1524151">
                <a:moveTo>
                  <a:pt x="2636110" y="1524151"/>
                </a:moveTo>
                <a:lnTo>
                  <a:pt x="0" y="1524151"/>
                </a:lnTo>
                <a:lnTo>
                  <a:pt x="0" y="0"/>
                </a:lnTo>
                <a:lnTo>
                  <a:pt x="2636110" y="0"/>
                </a:lnTo>
                <a:lnTo>
                  <a:pt x="2636110" y="1524151"/>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IN" dirty="0"/>
          </a:p>
        </p:txBody>
      </p:sp>
      <p:sp>
        <p:nvSpPr>
          <p:cNvPr id="14" name="TextBox 14"/>
          <p:cNvSpPr txBox="1"/>
          <p:nvPr/>
        </p:nvSpPr>
        <p:spPr>
          <a:xfrm>
            <a:off x="3392836" y="2691260"/>
            <a:ext cx="6947466" cy="1797800"/>
          </a:xfrm>
          <a:prstGeom prst="rect">
            <a:avLst/>
          </a:prstGeom>
        </p:spPr>
        <p:txBody>
          <a:bodyPr lIns="0" tIns="0" rIns="0" bIns="0" rtlCol="0" anchor="t">
            <a:spAutoFit/>
          </a:bodyPr>
          <a:lstStyle/>
          <a:p>
            <a:pPr algn="l">
              <a:lnSpc>
                <a:spcPts val="13898"/>
              </a:lnSpc>
            </a:pPr>
            <a:endParaRPr lang="en-US" sz="11981" b="1" spc="599" dirty="0">
              <a:solidFill>
                <a:srgbClr val="111B1E"/>
              </a:solidFill>
              <a:latin typeface="Martel Semi-Bold"/>
              <a:ea typeface="Martel Semi-Bold"/>
              <a:cs typeface="Martel Semi-Bold"/>
              <a:sym typeface="Martel Semi-Bold"/>
            </a:endParaRPr>
          </a:p>
        </p:txBody>
      </p:sp>
      <p:sp>
        <p:nvSpPr>
          <p:cNvPr id="23" name="TextBox 22">
            <a:extLst>
              <a:ext uri="{FF2B5EF4-FFF2-40B4-BE49-F238E27FC236}">
                <a16:creationId xmlns:a16="http://schemas.microsoft.com/office/drawing/2014/main" id="{8BD1696E-4D11-4D01-B029-468420287D04}"/>
              </a:ext>
            </a:extLst>
          </p:cNvPr>
          <p:cNvSpPr txBox="1"/>
          <p:nvPr/>
        </p:nvSpPr>
        <p:spPr>
          <a:xfrm>
            <a:off x="1478177" y="2856029"/>
            <a:ext cx="15331645" cy="1723549"/>
          </a:xfrm>
          <a:prstGeom prst="rect">
            <a:avLst/>
          </a:prstGeom>
          <a:noFill/>
        </p:spPr>
        <p:txBody>
          <a:bodyPr wrap="square">
            <a:spAutoFit/>
          </a:bodyPr>
          <a:lstStyle/>
          <a:p>
            <a:pPr algn="ctr"/>
            <a:r>
              <a:rPr lang="en-US" sz="5300" b="1" dirty="0"/>
              <a:t>HPC Optimization of Large-Scale Matrix Multiplication for Brain Tumor Detection Using MRI Images</a:t>
            </a:r>
            <a:endParaRPr lang="en-IN" sz="5300" b="1" dirty="0">
              <a:latin typeface="+mj-lt"/>
            </a:endParaRPr>
          </a:p>
        </p:txBody>
      </p:sp>
      <p:sp>
        <p:nvSpPr>
          <p:cNvPr id="25" name="TextBox 24">
            <a:extLst>
              <a:ext uri="{FF2B5EF4-FFF2-40B4-BE49-F238E27FC236}">
                <a16:creationId xmlns:a16="http://schemas.microsoft.com/office/drawing/2014/main" id="{17858AA8-484B-70B2-60F5-E7F9EE6C807C}"/>
              </a:ext>
            </a:extLst>
          </p:cNvPr>
          <p:cNvSpPr txBox="1"/>
          <p:nvPr/>
        </p:nvSpPr>
        <p:spPr>
          <a:xfrm>
            <a:off x="10441925" y="5360381"/>
            <a:ext cx="6367897" cy="2523768"/>
          </a:xfrm>
          <a:prstGeom prst="rect">
            <a:avLst/>
          </a:prstGeom>
          <a:noFill/>
        </p:spPr>
        <p:txBody>
          <a:bodyPr wrap="none" rtlCol="0">
            <a:spAutoFit/>
          </a:bodyPr>
          <a:lstStyle/>
          <a:p>
            <a:r>
              <a:rPr lang="en-IN" sz="3000" dirty="0">
                <a:effectLst>
                  <a:outerShdw blurRad="38100" dist="38100" dir="2700000" algn="tl">
                    <a:srgbClr val="000000">
                      <a:alpha val="43137"/>
                    </a:srgbClr>
                  </a:outerShdw>
                </a:effectLst>
              </a:rPr>
              <a:t>Presented by : </a:t>
            </a:r>
          </a:p>
          <a:p>
            <a:r>
              <a:rPr lang="en-US" sz="3200" dirty="0" err="1"/>
              <a:t>Ayshath</a:t>
            </a:r>
            <a:r>
              <a:rPr lang="en-US" sz="3200" dirty="0"/>
              <a:t> </a:t>
            </a:r>
            <a:r>
              <a:rPr lang="en-US" sz="3200" dirty="0" err="1"/>
              <a:t>Afeesa</a:t>
            </a:r>
            <a:r>
              <a:rPr lang="en-US" sz="3200" dirty="0"/>
              <a:t> P A (KSD22IT010)</a:t>
            </a:r>
          </a:p>
          <a:p>
            <a:r>
              <a:rPr lang="en-IN" sz="3200" dirty="0" err="1"/>
              <a:t>Fathimmath</a:t>
            </a:r>
            <a:r>
              <a:rPr lang="en-IN" sz="3200" dirty="0"/>
              <a:t> </a:t>
            </a:r>
            <a:r>
              <a:rPr lang="en-IN" sz="3200" dirty="0" err="1"/>
              <a:t>Sanoobiya</a:t>
            </a:r>
            <a:r>
              <a:rPr lang="en-IN" sz="3200" dirty="0"/>
              <a:t> (KSD22IT015)</a:t>
            </a:r>
          </a:p>
          <a:p>
            <a:r>
              <a:rPr lang="en-IN" sz="3200" dirty="0"/>
              <a:t>Shreevani M S (KSD22IT029)</a:t>
            </a:r>
          </a:p>
          <a:p>
            <a:r>
              <a:rPr lang="en-IN" sz="3200" dirty="0"/>
              <a:t>Rosna Mol N V (LKSD22IT035)</a:t>
            </a:r>
            <a:endParaRPr lang="en-IN" sz="3000" dirty="0"/>
          </a:p>
        </p:txBody>
      </p:sp>
      <p:sp>
        <p:nvSpPr>
          <p:cNvPr id="26" name="TextBox 25">
            <a:extLst>
              <a:ext uri="{FF2B5EF4-FFF2-40B4-BE49-F238E27FC236}">
                <a16:creationId xmlns:a16="http://schemas.microsoft.com/office/drawing/2014/main" id="{36ED84D4-687F-F361-2FBA-B67817AF50AD}"/>
              </a:ext>
            </a:extLst>
          </p:cNvPr>
          <p:cNvSpPr txBox="1"/>
          <p:nvPr/>
        </p:nvSpPr>
        <p:spPr>
          <a:xfrm>
            <a:off x="3825982" y="5477346"/>
            <a:ext cx="4692438" cy="1477328"/>
          </a:xfrm>
          <a:prstGeom prst="rect">
            <a:avLst/>
          </a:prstGeom>
          <a:noFill/>
        </p:spPr>
        <p:txBody>
          <a:bodyPr wrap="square" rtlCol="0">
            <a:spAutoFit/>
          </a:bodyPr>
          <a:lstStyle/>
          <a:p>
            <a:r>
              <a:rPr lang="en-IN" sz="3000" dirty="0">
                <a:effectLst>
                  <a:outerShdw blurRad="38100" dist="38100" dir="2700000" algn="tl">
                    <a:srgbClr val="000000">
                      <a:alpha val="43137"/>
                    </a:srgbClr>
                  </a:outerShdw>
                </a:effectLst>
              </a:rPr>
              <a:t>Project Guide :</a:t>
            </a:r>
          </a:p>
          <a:p>
            <a:r>
              <a:rPr lang="en-IN" sz="3000" dirty="0"/>
              <a:t>Dr. </a:t>
            </a:r>
            <a:r>
              <a:rPr lang="en-IN" sz="3000" dirty="0" err="1"/>
              <a:t>Anver</a:t>
            </a:r>
            <a:r>
              <a:rPr lang="en-IN" sz="3000" dirty="0"/>
              <a:t> S R / </a:t>
            </a:r>
          </a:p>
          <a:p>
            <a:pPr>
              <a:spcAft>
                <a:spcPts val="1200"/>
              </a:spcAft>
            </a:pPr>
            <a:r>
              <a:rPr lang="en-IN" sz="3000" dirty="0"/>
              <a:t>Prof. Indu K B </a:t>
            </a:r>
          </a:p>
        </p:txBody>
      </p:sp>
      <p:sp>
        <p:nvSpPr>
          <p:cNvPr id="28" name="TextBox 27">
            <a:extLst>
              <a:ext uri="{FF2B5EF4-FFF2-40B4-BE49-F238E27FC236}">
                <a16:creationId xmlns:a16="http://schemas.microsoft.com/office/drawing/2014/main" id="{CE9F0535-F59A-87F9-E428-0F31B0F2DD5E}"/>
              </a:ext>
            </a:extLst>
          </p:cNvPr>
          <p:cNvSpPr txBox="1"/>
          <p:nvPr/>
        </p:nvSpPr>
        <p:spPr>
          <a:xfrm>
            <a:off x="4076495" y="8822751"/>
            <a:ext cx="10241280" cy="800219"/>
          </a:xfrm>
          <a:prstGeom prst="rect">
            <a:avLst/>
          </a:prstGeom>
          <a:noFill/>
        </p:spPr>
        <p:txBody>
          <a:bodyPr wrap="square">
            <a:spAutoFit/>
          </a:bodyPr>
          <a:lstStyle/>
          <a:p>
            <a:pPr algn="ctr"/>
            <a:r>
              <a:rPr lang="en-US" sz="2300" b="1" dirty="0"/>
              <a:t>Department of Computer Science &amp; Engineering </a:t>
            </a:r>
          </a:p>
          <a:p>
            <a:pPr algn="ctr"/>
            <a:r>
              <a:rPr lang="en-US" sz="2300" b="1" dirty="0"/>
              <a:t>B.TECH INFORMATION TECHNOLOGY </a:t>
            </a:r>
            <a:endParaRPr lang="en-IN" sz="2300" b="1" dirty="0"/>
          </a:p>
        </p:txBody>
      </p:sp>
      <p:grpSp>
        <p:nvGrpSpPr>
          <p:cNvPr id="2" name="Group 1">
            <a:extLst>
              <a:ext uri="{FF2B5EF4-FFF2-40B4-BE49-F238E27FC236}">
                <a16:creationId xmlns:a16="http://schemas.microsoft.com/office/drawing/2014/main" id="{FF25E978-4B66-BA7F-0DB6-C7EFAAB99FFC}"/>
              </a:ext>
            </a:extLst>
          </p:cNvPr>
          <p:cNvGrpSpPr/>
          <p:nvPr/>
        </p:nvGrpSpPr>
        <p:grpSpPr>
          <a:xfrm>
            <a:off x="6172201" y="613552"/>
            <a:ext cx="5846612" cy="1438663"/>
            <a:chOff x="6172201" y="613552"/>
            <a:chExt cx="5846612" cy="1438663"/>
          </a:xfrm>
        </p:grpSpPr>
        <p:pic>
          <p:nvPicPr>
            <p:cNvPr id="4" name="Picture 3" descr="A logo for a college&#10;&#10;AI-generated content may be incorrect.">
              <a:extLst>
                <a:ext uri="{FF2B5EF4-FFF2-40B4-BE49-F238E27FC236}">
                  <a16:creationId xmlns:a16="http://schemas.microsoft.com/office/drawing/2014/main" id="{128A9433-ACA9-3F66-CD0B-6D80EB58AF36}"/>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172201" y="613552"/>
              <a:ext cx="2010272" cy="1438663"/>
            </a:xfrm>
            <a:prstGeom prst="rect">
              <a:avLst/>
            </a:prstGeom>
          </p:spPr>
        </p:pic>
        <p:sp>
          <p:nvSpPr>
            <p:cNvPr id="5" name="TextBox 4">
              <a:extLst>
                <a:ext uri="{FF2B5EF4-FFF2-40B4-BE49-F238E27FC236}">
                  <a16:creationId xmlns:a16="http://schemas.microsoft.com/office/drawing/2014/main" id="{5FA872A7-745E-21FE-54BD-9861988FE778}"/>
                </a:ext>
              </a:extLst>
            </p:cNvPr>
            <p:cNvSpPr txBox="1"/>
            <p:nvPr/>
          </p:nvSpPr>
          <p:spPr>
            <a:xfrm>
              <a:off x="8023488" y="848820"/>
              <a:ext cx="3995325" cy="861774"/>
            </a:xfrm>
            <a:prstGeom prst="rect">
              <a:avLst/>
            </a:prstGeom>
            <a:noFill/>
          </p:spPr>
          <p:txBody>
            <a:bodyPr wrap="none" rtlCol="0">
              <a:spAutoFit/>
            </a:bodyPr>
            <a:lstStyle/>
            <a:p>
              <a:r>
                <a:rPr lang="en-IN" sz="2500" b="1" dirty="0">
                  <a:latin typeface="+mj-lt"/>
                </a:rPr>
                <a:t>L.B.S College of Engineering</a:t>
              </a:r>
            </a:p>
            <a:p>
              <a:r>
                <a:rPr lang="en-IN" sz="2500" b="1" dirty="0">
                  <a:latin typeface="+mj-lt"/>
                </a:rPr>
                <a:t>(</a:t>
              </a:r>
              <a:r>
                <a:rPr lang="en-IN" sz="2250" b="1" dirty="0">
                  <a:latin typeface="+mj-lt"/>
                </a:rPr>
                <a:t>A Govt. of Kerala undertaking)</a:t>
              </a: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EF2A34-27EC-10BC-DDD2-7D8BCF27372B}"/>
            </a:ext>
          </a:extLst>
        </p:cNvPr>
        <p:cNvGrpSpPr/>
        <p:nvPr/>
      </p:nvGrpSpPr>
      <p:grpSpPr>
        <a:xfrm>
          <a:off x="0" y="0"/>
          <a:ext cx="0" cy="0"/>
          <a:chOff x="0" y="0"/>
          <a:chExt cx="0" cy="0"/>
        </a:xfrm>
      </p:grpSpPr>
      <p:grpSp>
        <p:nvGrpSpPr>
          <p:cNvPr id="19" name="Group 5">
            <a:extLst>
              <a:ext uri="{FF2B5EF4-FFF2-40B4-BE49-F238E27FC236}">
                <a16:creationId xmlns:a16="http://schemas.microsoft.com/office/drawing/2014/main" id="{950B6674-F217-9395-E913-1AA6A401C541}"/>
              </a:ext>
            </a:extLst>
          </p:cNvPr>
          <p:cNvGrpSpPr/>
          <p:nvPr/>
        </p:nvGrpSpPr>
        <p:grpSpPr>
          <a:xfrm>
            <a:off x="18088875" y="-137537"/>
            <a:ext cx="1273129" cy="10562074"/>
            <a:chOff x="0" y="0"/>
            <a:chExt cx="335310" cy="2781781"/>
          </a:xfrm>
        </p:grpSpPr>
        <p:sp>
          <p:nvSpPr>
            <p:cNvPr id="20" name="Freeform 6">
              <a:extLst>
                <a:ext uri="{FF2B5EF4-FFF2-40B4-BE49-F238E27FC236}">
                  <a16:creationId xmlns:a16="http://schemas.microsoft.com/office/drawing/2014/main" id="{5245E0F7-DE58-C383-B3C5-43A83035E66A}"/>
                </a:ext>
              </a:extLst>
            </p:cNvPr>
            <p:cNvSpPr/>
            <p:nvPr/>
          </p:nvSpPr>
          <p:spPr>
            <a:xfrm>
              <a:off x="0" y="0"/>
              <a:ext cx="335310" cy="2781781"/>
            </a:xfrm>
            <a:custGeom>
              <a:avLst/>
              <a:gdLst/>
              <a:ahLst/>
              <a:cxnLst/>
              <a:rect l="l" t="t" r="r" b="b"/>
              <a:pathLst>
                <a:path w="335310" h="2781781">
                  <a:moveTo>
                    <a:pt x="0" y="0"/>
                  </a:moveTo>
                  <a:lnTo>
                    <a:pt x="335310" y="0"/>
                  </a:lnTo>
                  <a:lnTo>
                    <a:pt x="335310" y="2781781"/>
                  </a:lnTo>
                  <a:lnTo>
                    <a:pt x="0" y="2781781"/>
                  </a:lnTo>
                  <a:close/>
                </a:path>
              </a:pathLst>
            </a:custGeom>
            <a:solidFill>
              <a:srgbClr val="F5DFDC"/>
            </a:solidFill>
            <a:ln cap="sq">
              <a:noFill/>
              <a:prstDash val="solid"/>
              <a:miter/>
            </a:ln>
          </p:spPr>
          <p:txBody>
            <a:bodyPr/>
            <a:lstStyle/>
            <a:p>
              <a:endParaRPr lang="en-IN"/>
            </a:p>
          </p:txBody>
        </p:sp>
        <p:sp>
          <p:nvSpPr>
            <p:cNvPr id="21" name="TextBox 7">
              <a:extLst>
                <a:ext uri="{FF2B5EF4-FFF2-40B4-BE49-F238E27FC236}">
                  <a16:creationId xmlns:a16="http://schemas.microsoft.com/office/drawing/2014/main" id="{E10B9D12-4D95-1B98-1E24-2E13FA7B4C1F}"/>
                </a:ext>
              </a:extLst>
            </p:cNvPr>
            <p:cNvSpPr txBox="1"/>
            <p:nvPr/>
          </p:nvSpPr>
          <p:spPr>
            <a:xfrm>
              <a:off x="0" y="38100"/>
              <a:ext cx="335310" cy="2743681"/>
            </a:xfrm>
            <a:prstGeom prst="rect">
              <a:avLst/>
            </a:prstGeom>
          </p:spPr>
          <p:txBody>
            <a:bodyPr lIns="50800" tIns="50800" rIns="50800" bIns="50800" rtlCol="0" anchor="ctr"/>
            <a:lstStyle/>
            <a:p>
              <a:pPr algn="ctr">
                <a:lnSpc>
                  <a:spcPts val="2100"/>
                </a:lnSpc>
              </a:pPr>
              <a:endParaRPr/>
            </a:p>
          </p:txBody>
        </p:sp>
      </p:grpSp>
      <p:grpSp>
        <p:nvGrpSpPr>
          <p:cNvPr id="16" name="Group 2">
            <a:extLst>
              <a:ext uri="{FF2B5EF4-FFF2-40B4-BE49-F238E27FC236}">
                <a16:creationId xmlns:a16="http://schemas.microsoft.com/office/drawing/2014/main" id="{10AF015F-2BB5-51F4-6211-D378E1469331}"/>
              </a:ext>
            </a:extLst>
          </p:cNvPr>
          <p:cNvGrpSpPr/>
          <p:nvPr/>
        </p:nvGrpSpPr>
        <p:grpSpPr>
          <a:xfrm>
            <a:off x="-998214" y="24260"/>
            <a:ext cx="1273129" cy="10562074"/>
            <a:chOff x="0" y="0"/>
            <a:chExt cx="335310" cy="2781781"/>
          </a:xfrm>
        </p:grpSpPr>
        <p:sp>
          <p:nvSpPr>
            <p:cNvPr id="17" name="Freeform 3">
              <a:extLst>
                <a:ext uri="{FF2B5EF4-FFF2-40B4-BE49-F238E27FC236}">
                  <a16:creationId xmlns:a16="http://schemas.microsoft.com/office/drawing/2014/main" id="{873A0D28-5E1F-80B9-F849-30552E158ACA}"/>
                </a:ext>
              </a:extLst>
            </p:cNvPr>
            <p:cNvSpPr/>
            <p:nvPr/>
          </p:nvSpPr>
          <p:spPr>
            <a:xfrm>
              <a:off x="0" y="0"/>
              <a:ext cx="335310" cy="2781781"/>
            </a:xfrm>
            <a:custGeom>
              <a:avLst/>
              <a:gdLst/>
              <a:ahLst/>
              <a:cxnLst/>
              <a:rect l="l" t="t" r="r" b="b"/>
              <a:pathLst>
                <a:path w="335310" h="2781781">
                  <a:moveTo>
                    <a:pt x="0" y="0"/>
                  </a:moveTo>
                  <a:lnTo>
                    <a:pt x="335310" y="0"/>
                  </a:lnTo>
                  <a:lnTo>
                    <a:pt x="335310" y="2781781"/>
                  </a:lnTo>
                  <a:lnTo>
                    <a:pt x="0" y="2781781"/>
                  </a:lnTo>
                  <a:close/>
                </a:path>
              </a:pathLst>
            </a:custGeom>
            <a:solidFill>
              <a:srgbClr val="F5DFDC"/>
            </a:solidFill>
            <a:ln cap="sq">
              <a:noFill/>
              <a:prstDash val="solid"/>
              <a:miter/>
            </a:ln>
          </p:spPr>
          <p:txBody>
            <a:bodyPr/>
            <a:lstStyle/>
            <a:p>
              <a:endParaRPr lang="en-IN"/>
            </a:p>
          </p:txBody>
        </p:sp>
        <p:sp>
          <p:nvSpPr>
            <p:cNvPr id="18" name="TextBox 4">
              <a:extLst>
                <a:ext uri="{FF2B5EF4-FFF2-40B4-BE49-F238E27FC236}">
                  <a16:creationId xmlns:a16="http://schemas.microsoft.com/office/drawing/2014/main" id="{E7AAFEC5-414A-799C-8DBB-073F41505F11}"/>
                </a:ext>
              </a:extLst>
            </p:cNvPr>
            <p:cNvSpPr txBox="1"/>
            <p:nvPr/>
          </p:nvSpPr>
          <p:spPr>
            <a:xfrm>
              <a:off x="0" y="38100"/>
              <a:ext cx="335310" cy="2743681"/>
            </a:xfrm>
            <a:prstGeom prst="rect">
              <a:avLst/>
            </a:prstGeom>
          </p:spPr>
          <p:txBody>
            <a:bodyPr lIns="50800" tIns="50800" rIns="50800" bIns="50800" rtlCol="0" anchor="ctr"/>
            <a:lstStyle/>
            <a:p>
              <a:pPr algn="ctr">
                <a:lnSpc>
                  <a:spcPts val="2100"/>
                </a:lnSpc>
              </a:pPr>
              <a:endParaRPr/>
            </a:p>
          </p:txBody>
        </p:sp>
      </p:grpSp>
      <p:sp>
        <p:nvSpPr>
          <p:cNvPr id="8" name="Freeform 8">
            <a:extLst>
              <a:ext uri="{FF2B5EF4-FFF2-40B4-BE49-F238E27FC236}">
                <a16:creationId xmlns:a16="http://schemas.microsoft.com/office/drawing/2014/main" id="{2B035787-13BF-722E-2E44-F8F3DAE60D4E}"/>
              </a:ext>
            </a:extLst>
          </p:cNvPr>
          <p:cNvSpPr/>
          <p:nvPr/>
        </p:nvSpPr>
        <p:spPr>
          <a:xfrm>
            <a:off x="14706600" y="-202510"/>
            <a:ext cx="4521184" cy="1528982"/>
          </a:xfrm>
          <a:custGeom>
            <a:avLst/>
            <a:gdLst/>
            <a:ahLst/>
            <a:cxnLst/>
            <a:rect l="l" t="t" r="r" b="b"/>
            <a:pathLst>
              <a:path w="4521184" h="1528982">
                <a:moveTo>
                  <a:pt x="0" y="0"/>
                </a:moveTo>
                <a:lnTo>
                  <a:pt x="4521184" y="0"/>
                </a:lnTo>
                <a:lnTo>
                  <a:pt x="4521184" y="1528982"/>
                </a:lnTo>
                <a:lnTo>
                  <a:pt x="0" y="152898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9" name="Freeform 9">
            <a:extLst>
              <a:ext uri="{FF2B5EF4-FFF2-40B4-BE49-F238E27FC236}">
                <a16:creationId xmlns:a16="http://schemas.microsoft.com/office/drawing/2014/main" id="{A6BB40D5-7621-1861-C443-B8CEBC6CCFDC}"/>
              </a:ext>
            </a:extLst>
          </p:cNvPr>
          <p:cNvSpPr/>
          <p:nvPr/>
        </p:nvSpPr>
        <p:spPr>
          <a:xfrm flipH="1" flipV="1">
            <a:off x="-1128348" y="8895555"/>
            <a:ext cx="4521184" cy="1528982"/>
          </a:xfrm>
          <a:custGeom>
            <a:avLst/>
            <a:gdLst/>
            <a:ahLst/>
            <a:cxnLst/>
            <a:rect l="l" t="t" r="r" b="b"/>
            <a:pathLst>
              <a:path w="4521184" h="1528982">
                <a:moveTo>
                  <a:pt x="4521184" y="1528982"/>
                </a:moveTo>
                <a:lnTo>
                  <a:pt x="0" y="1528982"/>
                </a:lnTo>
                <a:lnTo>
                  <a:pt x="0" y="0"/>
                </a:lnTo>
                <a:lnTo>
                  <a:pt x="4521184" y="0"/>
                </a:lnTo>
                <a:lnTo>
                  <a:pt x="4521184" y="1528982"/>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10" name="Freeform 10">
            <a:extLst>
              <a:ext uri="{FF2B5EF4-FFF2-40B4-BE49-F238E27FC236}">
                <a16:creationId xmlns:a16="http://schemas.microsoft.com/office/drawing/2014/main" id="{46FCFBA1-F8E6-2B98-ECF4-DBBB182B389F}"/>
              </a:ext>
            </a:extLst>
          </p:cNvPr>
          <p:cNvSpPr/>
          <p:nvPr/>
        </p:nvSpPr>
        <p:spPr>
          <a:xfrm>
            <a:off x="16459200" y="9182100"/>
            <a:ext cx="2636110" cy="1524151"/>
          </a:xfrm>
          <a:custGeom>
            <a:avLst/>
            <a:gdLst/>
            <a:ahLst/>
            <a:cxnLst/>
            <a:rect l="l" t="t" r="r" b="b"/>
            <a:pathLst>
              <a:path w="2636110" h="1524151">
                <a:moveTo>
                  <a:pt x="0" y="0"/>
                </a:moveTo>
                <a:lnTo>
                  <a:pt x="2636110" y="0"/>
                </a:lnTo>
                <a:lnTo>
                  <a:pt x="2636110" y="1524151"/>
                </a:lnTo>
                <a:lnTo>
                  <a:pt x="0" y="152415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dirty="0"/>
          </a:p>
        </p:txBody>
      </p:sp>
      <p:sp>
        <p:nvSpPr>
          <p:cNvPr id="11" name="Freeform 11">
            <a:extLst>
              <a:ext uri="{FF2B5EF4-FFF2-40B4-BE49-F238E27FC236}">
                <a16:creationId xmlns:a16="http://schemas.microsoft.com/office/drawing/2014/main" id="{A9B952F7-F9AE-FD29-324E-086E6D6A9EB9}"/>
              </a:ext>
            </a:extLst>
          </p:cNvPr>
          <p:cNvSpPr/>
          <p:nvPr/>
        </p:nvSpPr>
        <p:spPr>
          <a:xfrm flipH="1" flipV="1">
            <a:off x="-762000" y="-428776"/>
            <a:ext cx="2636110" cy="1524151"/>
          </a:xfrm>
          <a:custGeom>
            <a:avLst/>
            <a:gdLst/>
            <a:ahLst/>
            <a:cxnLst/>
            <a:rect l="l" t="t" r="r" b="b"/>
            <a:pathLst>
              <a:path w="2636110" h="1524151">
                <a:moveTo>
                  <a:pt x="2636110" y="1524151"/>
                </a:moveTo>
                <a:lnTo>
                  <a:pt x="0" y="1524151"/>
                </a:lnTo>
                <a:lnTo>
                  <a:pt x="0" y="0"/>
                </a:lnTo>
                <a:lnTo>
                  <a:pt x="2636110" y="0"/>
                </a:lnTo>
                <a:lnTo>
                  <a:pt x="2636110" y="1524151"/>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dirty="0"/>
          </a:p>
        </p:txBody>
      </p:sp>
      <p:grpSp>
        <p:nvGrpSpPr>
          <p:cNvPr id="2" name="Group 13">
            <a:extLst>
              <a:ext uri="{FF2B5EF4-FFF2-40B4-BE49-F238E27FC236}">
                <a16:creationId xmlns:a16="http://schemas.microsoft.com/office/drawing/2014/main" id="{E4AB3FDC-C321-B042-5B92-7DD279095F99}"/>
              </a:ext>
            </a:extLst>
          </p:cNvPr>
          <p:cNvGrpSpPr/>
          <p:nvPr/>
        </p:nvGrpSpPr>
        <p:grpSpPr>
          <a:xfrm rot="5400000">
            <a:off x="8858829" y="254414"/>
            <a:ext cx="842843" cy="11919495"/>
            <a:chOff x="0" y="0"/>
            <a:chExt cx="221983" cy="3077272"/>
          </a:xfrm>
        </p:grpSpPr>
        <p:sp>
          <p:nvSpPr>
            <p:cNvPr id="3" name="Freeform 14">
              <a:extLst>
                <a:ext uri="{FF2B5EF4-FFF2-40B4-BE49-F238E27FC236}">
                  <a16:creationId xmlns:a16="http://schemas.microsoft.com/office/drawing/2014/main" id="{86BD0807-D4E6-260C-DEE7-B8F745362A9F}"/>
                </a:ext>
              </a:extLst>
            </p:cNvPr>
            <p:cNvSpPr/>
            <p:nvPr/>
          </p:nvSpPr>
          <p:spPr>
            <a:xfrm>
              <a:off x="0" y="0"/>
              <a:ext cx="221983" cy="3077272"/>
            </a:xfrm>
            <a:custGeom>
              <a:avLst/>
              <a:gdLst/>
              <a:ahLst/>
              <a:cxnLst/>
              <a:rect l="l" t="t" r="r" b="b"/>
              <a:pathLst>
                <a:path w="221983" h="3077272">
                  <a:moveTo>
                    <a:pt x="0" y="0"/>
                  </a:moveTo>
                  <a:lnTo>
                    <a:pt x="221983" y="0"/>
                  </a:lnTo>
                  <a:lnTo>
                    <a:pt x="221983" y="3077272"/>
                  </a:lnTo>
                  <a:lnTo>
                    <a:pt x="0" y="3077272"/>
                  </a:lnTo>
                  <a:close/>
                </a:path>
              </a:pathLst>
            </a:custGeom>
            <a:solidFill>
              <a:srgbClr val="F5DFDC">
                <a:alpha val="35686"/>
              </a:srgbClr>
            </a:solidFill>
            <a:ln cap="sq">
              <a:noFill/>
              <a:prstDash val="solid"/>
              <a:miter/>
            </a:ln>
          </p:spPr>
          <p:txBody>
            <a:bodyPr/>
            <a:lstStyle/>
            <a:p>
              <a:pPr marL="571500" indent="-571500">
                <a:buFont typeface="Arial" panose="020B0604020202020204" pitchFamily="34" charset="0"/>
                <a:buChar char="•"/>
              </a:pPr>
              <a:endParaRPr lang="en-IN" sz="3600">
                <a:latin typeface="+mj-lt"/>
              </a:endParaRPr>
            </a:p>
          </p:txBody>
        </p:sp>
        <p:sp>
          <p:nvSpPr>
            <p:cNvPr id="4" name="TextBox 15">
              <a:extLst>
                <a:ext uri="{FF2B5EF4-FFF2-40B4-BE49-F238E27FC236}">
                  <a16:creationId xmlns:a16="http://schemas.microsoft.com/office/drawing/2014/main" id="{E773269B-6B2D-65E0-4BA8-9298861425FA}"/>
                </a:ext>
              </a:extLst>
            </p:cNvPr>
            <p:cNvSpPr txBox="1"/>
            <p:nvPr/>
          </p:nvSpPr>
          <p:spPr>
            <a:xfrm>
              <a:off x="0" y="38100"/>
              <a:ext cx="221983" cy="3039172"/>
            </a:xfrm>
            <a:prstGeom prst="rect">
              <a:avLst/>
            </a:prstGeom>
          </p:spPr>
          <p:txBody>
            <a:bodyPr lIns="50800" tIns="50800" rIns="50800" bIns="50800" rtlCol="0" anchor="ctr"/>
            <a:lstStyle/>
            <a:p>
              <a:pPr marL="571500" indent="-571500" algn="ctr">
                <a:lnSpc>
                  <a:spcPts val="2100"/>
                </a:lnSpc>
                <a:buFont typeface="Arial" panose="020B0604020202020204" pitchFamily="34" charset="0"/>
                <a:buChar char="•"/>
              </a:pPr>
              <a:endParaRPr sz="3600">
                <a:latin typeface="+mj-lt"/>
              </a:endParaRPr>
            </a:p>
          </p:txBody>
        </p:sp>
      </p:grpSp>
      <p:grpSp>
        <p:nvGrpSpPr>
          <p:cNvPr id="5" name="Group 16">
            <a:extLst>
              <a:ext uri="{FF2B5EF4-FFF2-40B4-BE49-F238E27FC236}">
                <a16:creationId xmlns:a16="http://schemas.microsoft.com/office/drawing/2014/main" id="{7732F180-F335-93C0-054F-94B6EAE15B8C}"/>
              </a:ext>
            </a:extLst>
          </p:cNvPr>
          <p:cNvGrpSpPr/>
          <p:nvPr/>
        </p:nvGrpSpPr>
        <p:grpSpPr>
          <a:xfrm rot="5400000">
            <a:off x="8832789" y="-736390"/>
            <a:ext cx="842843" cy="11904442"/>
            <a:chOff x="0" y="0"/>
            <a:chExt cx="221983" cy="3077272"/>
          </a:xfrm>
        </p:grpSpPr>
        <p:sp>
          <p:nvSpPr>
            <p:cNvPr id="6" name="Freeform 17">
              <a:extLst>
                <a:ext uri="{FF2B5EF4-FFF2-40B4-BE49-F238E27FC236}">
                  <a16:creationId xmlns:a16="http://schemas.microsoft.com/office/drawing/2014/main" id="{9C032F7E-81D9-0B0B-8F77-28AD3BBEFDCF}"/>
                </a:ext>
              </a:extLst>
            </p:cNvPr>
            <p:cNvSpPr/>
            <p:nvPr/>
          </p:nvSpPr>
          <p:spPr>
            <a:xfrm>
              <a:off x="0" y="0"/>
              <a:ext cx="221983" cy="3077272"/>
            </a:xfrm>
            <a:custGeom>
              <a:avLst/>
              <a:gdLst/>
              <a:ahLst/>
              <a:cxnLst/>
              <a:rect l="l" t="t" r="r" b="b"/>
              <a:pathLst>
                <a:path w="221983" h="3077272">
                  <a:moveTo>
                    <a:pt x="0" y="0"/>
                  </a:moveTo>
                  <a:lnTo>
                    <a:pt x="221983" y="0"/>
                  </a:lnTo>
                  <a:lnTo>
                    <a:pt x="221983" y="3077272"/>
                  </a:lnTo>
                  <a:lnTo>
                    <a:pt x="0" y="3077272"/>
                  </a:lnTo>
                  <a:close/>
                </a:path>
              </a:pathLst>
            </a:custGeom>
            <a:solidFill>
              <a:srgbClr val="F5DFDC">
                <a:alpha val="35686"/>
              </a:srgbClr>
            </a:solidFill>
            <a:ln cap="sq">
              <a:noFill/>
              <a:prstDash val="solid"/>
              <a:miter/>
            </a:ln>
          </p:spPr>
          <p:txBody>
            <a:bodyPr/>
            <a:lstStyle/>
            <a:p>
              <a:pPr marL="571500" indent="-571500">
                <a:buFont typeface="Arial" panose="020B0604020202020204" pitchFamily="34" charset="0"/>
                <a:buChar char="•"/>
              </a:pPr>
              <a:endParaRPr lang="en-IN" sz="3600">
                <a:latin typeface="+mj-lt"/>
              </a:endParaRPr>
            </a:p>
          </p:txBody>
        </p:sp>
        <p:sp>
          <p:nvSpPr>
            <p:cNvPr id="7" name="TextBox 18">
              <a:extLst>
                <a:ext uri="{FF2B5EF4-FFF2-40B4-BE49-F238E27FC236}">
                  <a16:creationId xmlns:a16="http://schemas.microsoft.com/office/drawing/2014/main" id="{F64F5CF1-FEEF-E8FA-7492-D3E8211F9797}"/>
                </a:ext>
              </a:extLst>
            </p:cNvPr>
            <p:cNvSpPr txBox="1"/>
            <p:nvPr/>
          </p:nvSpPr>
          <p:spPr>
            <a:xfrm>
              <a:off x="0" y="38100"/>
              <a:ext cx="221983" cy="3039172"/>
            </a:xfrm>
            <a:prstGeom prst="rect">
              <a:avLst/>
            </a:prstGeom>
          </p:spPr>
          <p:txBody>
            <a:bodyPr lIns="50800" tIns="50800" rIns="50800" bIns="50800" rtlCol="0" anchor="ctr"/>
            <a:lstStyle/>
            <a:p>
              <a:pPr marL="571500" indent="-571500" algn="ctr">
                <a:lnSpc>
                  <a:spcPts val="2100"/>
                </a:lnSpc>
                <a:buFont typeface="Arial" panose="020B0604020202020204" pitchFamily="34" charset="0"/>
                <a:buChar char="•"/>
              </a:pPr>
              <a:endParaRPr sz="3600">
                <a:latin typeface="+mj-lt"/>
              </a:endParaRPr>
            </a:p>
          </p:txBody>
        </p:sp>
      </p:grpSp>
      <p:grpSp>
        <p:nvGrpSpPr>
          <p:cNvPr id="12" name="Group 19">
            <a:extLst>
              <a:ext uri="{FF2B5EF4-FFF2-40B4-BE49-F238E27FC236}">
                <a16:creationId xmlns:a16="http://schemas.microsoft.com/office/drawing/2014/main" id="{A41555FB-115D-B33A-AFFB-1F1723B27720}"/>
              </a:ext>
            </a:extLst>
          </p:cNvPr>
          <p:cNvGrpSpPr/>
          <p:nvPr/>
        </p:nvGrpSpPr>
        <p:grpSpPr>
          <a:xfrm rot="5400000">
            <a:off x="8697230" y="-1600637"/>
            <a:ext cx="1098905" cy="11919494"/>
            <a:chOff x="-67440" y="27891"/>
            <a:chExt cx="289423" cy="3077272"/>
          </a:xfrm>
        </p:grpSpPr>
        <p:sp>
          <p:nvSpPr>
            <p:cNvPr id="13" name="Freeform 20">
              <a:extLst>
                <a:ext uri="{FF2B5EF4-FFF2-40B4-BE49-F238E27FC236}">
                  <a16:creationId xmlns:a16="http://schemas.microsoft.com/office/drawing/2014/main" id="{CBADD9B8-FE2F-026A-8B9E-25F7CECE78FE}"/>
                </a:ext>
              </a:extLst>
            </p:cNvPr>
            <p:cNvSpPr/>
            <p:nvPr/>
          </p:nvSpPr>
          <p:spPr>
            <a:xfrm>
              <a:off x="-67440" y="27891"/>
              <a:ext cx="221983" cy="3077272"/>
            </a:xfrm>
            <a:custGeom>
              <a:avLst/>
              <a:gdLst/>
              <a:ahLst/>
              <a:cxnLst/>
              <a:rect l="l" t="t" r="r" b="b"/>
              <a:pathLst>
                <a:path w="221983" h="3077272">
                  <a:moveTo>
                    <a:pt x="0" y="0"/>
                  </a:moveTo>
                  <a:lnTo>
                    <a:pt x="221983" y="0"/>
                  </a:lnTo>
                  <a:lnTo>
                    <a:pt x="221983" y="3077272"/>
                  </a:lnTo>
                  <a:lnTo>
                    <a:pt x="0" y="3077272"/>
                  </a:lnTo>
                  <a:close/>
                </a:path>
              </a:pathLst>
            </a:custGeom>
            <a:solidFill>
              <a:srgbClr val="F5DFDC">
                <a:alpha val="35686"/>
              </a:srgbClr>
            </a:solidFill>
            <a:ln cap="sq">
              <a:noFill/>
              <a:prstDash val="solid"/>
              <a:miter/>
            </a:ln>
          </p:spPr>
          <p:txBody>
            <a:bodyPr/>
            <a:lstStyle/>
            <a:p>
              <a:pPr marL="571500" indent="-571500">
                <a:buFont typeface="Arial" panose="020B0604020202020204" pitchFamily="34" charset="0"/>
                <a:buChar char="•"/>
              </a:pPr>
              <a:endParaRPr lang="en-IN" sz="3600" dirty="0">
                <a:latin typeface="+mj-lt"/>
              </a:endParaRPr>
            </a:p>
          </p:txBody>
        </p:sp>
        <p:sp>
          <p:nvSpPr>
            <p:cNvPr id="15" name="TextBox 21">
              <a:extLst>
                <a:ext uri="{FF2B5EF4-FFF2-40B4-BE49-F238E27FC236}">
                  <a16:creationId xmlns:a16="http://schemas.microsoft.com/office/drawing/2014/main" id="{1F16AED4-51D0-025E-8CE9-900AC5DC0772}"/>
                </a:ext>
              </a:extLst>
            </p:cNvPr>
            <p:cNvSpPr txBox="1"/>
            <p:nvPr/>
          </p:nvSpPr>
          <p:spPr>
            <a:xfrm>
              <a:off x="0" y="38100"/>
              <a:ext cx="221983" cy="3039172"/>
            </a:xfrm>
            <a:prstGeom prst="rect">
              <a:avLst/>
            </a:prstGeom>
          </p:spPr>
          <p:txBody>
            <a:bodyPr lIns="50800" tIns="50800" rIns="50800" bIns="50800" rtlCol="0" anchor="ctr"/>
            <a:lstStyle/>
            <a:p>
              <a:pPr marL="571500" indent="-571500" algn="ctr">
                <a:lnSpc>
                  <a:spcPts val="2100"/>
                </a:lnSpc>
                <a:buFont typeface="Arial" panose="020B0604020202020204" pitchFamily="34" charset="0"/>
                <a:buChar char="•"/>
              </a:pPr>
              <a:endParaRPr sz="3600">
                <a:latin typeface="+mj-lt"/>
              </a:endParaRPr>
            </a:p>
          </p:txBody>
        </p:sp>
      </p:grpSp>
      <p:grpSp>
        <p:nvGrpSpPr>
          <p:cNvPr id="22" name="Group 22">
            <a:extLst>
              <a:ext uri="{FF2B5EF4-FFF2-40B4-BE49-F238E27FC236}">
                <a16:creationId xmlns:a16="http://schemas.microsoft.com/office/drawing/2014/main" id="{696E6A81-6F86-A2A5-88D4-361D0DC6864E}"/>
              </a:ext>
            </a:extLst>
          </p:cNvPr>
          <p:cNvGrpSpPr/>
          <p:nvPr/>
        </p:nvGrpSpPr>
        <p:grpSpPr>
          <a:xfrm rot="5400000">
            <a:off x="8858830" y="-2731641"/>
            <a:ext cx="842843" cy="11919495"/>
            <a:chOff x="0" y="0"/>
            <a:chExt cx="221983" cy="3077272"/>
          </a:xfrm>
        </p:grpSpPr>
        <p:sp>
          <p:nvSpPr>
            <p:cNvPr id="27" name="Freeform 23">
              <a:extLst>
                <a:ext uri="{FF2B5EF4-FFF2-40B4-BE49-F238E27FC236}">
                  <a16:creationId xmlns:a16="http://schemas.microsoft.com/office/drawing/2014/main" id="{1D4DB69F-8890-9B5F-CC02-2A2A165AE309}"/>
                </a:ext>
              </a:extLst>
            </p:cNvPr>
            <p:cNvSpPr/>
            <p:nvPr/>
          </p:nvSpPr>
          <p:spPr>
            <a:xfrm>
              <a:off x="0" y="0"/>
              <a:ext cx="221983" cy="3077272"/>
            </a:xfrm>
            <a:custGeom>
              <a:avLst/>
              <a:gdLst/>
              <a:ahLst/>
              <a:cxnLst/>
              <a:rect l="l" t="t" r="r" b="b"/>
              <a:pathLst>
                <a:path w="221983" h="3077272">
                  <a:moveTo>
                    <a:pt x="0" y="0"/>
                  </a:moveTo>
                  <a:lnTo>
                    <a:pt x="221983" y="0"/>
                  </a:lnTo>
                  <a:lnTo>
                    <a:pt x="221983" y="3077272"/>
                  </a:lnTo>
                  <a:lnTo>
                    <a:pt x="0" y="3077272"/>
                  </a:lnTo>
                  <a:close/>
                </a:path>
              </a:pathLst>
            </a:custGeom>
            <a:solidFill>
              <a:srgbClr val="F5DFDC">
                <a:alpha val="35686"/>
              </a:srgbClr>
            </a:solidFill>
            <a:ln cap="sq">
              <a:noFill/>
              <a:prstDash val="solid"/>
              <a:miter/>
            </a:ln>
          </p:spPr>
          <p:txBody>
            <a:bodyPr/>
            <a:lstStyle/>
            <a:p>
              <a:pPr marL="571500" indent="-571500">
                <a:buFont typeface="Arial" panose="020B0604020202020204" pitchFamily="34" charset="0"/>
                <a:buChar char="•"/>
              </a:pPr>
              <a:endParaRPr lang="en-IN" sz="3600">
                <a:latin typeface="+mj-lt"/>
              </a:endParaRPr>
            </a:p>
          </p:txBody>
        </p:sp>
        <p:sp>
          <p:nvSpPr>
            <p:cNvPr id="29" name="TextBox 24">
              <a:extLst>
                <a:ext uri="{FF2B5EF4-FFF2-40B4-BE49-F238E27FC236}">
                  <a16:creationId xmlns:a16="http://schemas.microsoft.com/office/drawing/2014/main" id="{A5930527-8863-CD2D-C91F-FB9999C55BB3}"/>
                </a:ext>
              </a:extLst>
            </p:cNvPr>
            <p:cNvSpPr txBox="1"/>
            <p:nvPr/>
          </p:nvSpPr>
          <p:spPr>
            <a:xfrm>
              <a:off x="0" y="38100"/>
              <a:ext cx="221983" cy="3039172"/>
            </a:xfrm>
            <a:prstGeom prst="rect">
              <a:avLst/>
            </a:prstGeom>
          </p:spPr>
          <p:txBody>
            <a:bodyPr lIns="50800" tIns="50800" rIns="50800" bIns="50800" rtlCol="0" anchor="ctr"/>
            <a:lstStyle/>
            <a:p>
              <a:pPr marL="571500" indent="-571500" algn="ctr">
                <a:lnSpc>
                  <a:spcPts val="2100"/>
                </a:lnSpc>
                <a:buFont typeface="Arial" panose="020B0604020202020204" pitchFamily="34" charset="0"/>
                <a:buChar char="•"/>
              </a:pPr>
              <a:endParaRPr sz="3600">
                <a:latin typeface="+mj-lt"/>
              </a:endParaRPr>
            </a:p>
          </p:txBody>
        </p:sp>
      </p:grpSp>
      <p:sp>
        <p:nvSpPr>
          <p:cNvPr id="37" name="TextBox 33">
            <a:extLst>
              <a:ext uri="{FF2B5EF4-FFF2-40B4-BE49-F238E27FC236}">
                <a16:creationId xmlns:a16="http://schemas.microsoft.com/office/drawing/2014/main" id="{9B09A55A-4BD2-4BB7-F104-4D950616B778}"/>
              </a:ext>
            </a:extLst>
          </p:cNvPr>
          <p:cNvSpPr txBox="1"/>
          <p:nvPr/>
        </p:nvSpPr>
        <p:spPr>
          <a:xfrm>
            <a:off x="3657190" y="2678001"/>
            <a:ext cx="4761074" cy="899093"/>
          </a:xfrm>
          <a:prstGeom prst="rect">
            <a:avLst/>
          </a:prstGeom>
        </p:spPr>
        <p:txBody>
          <a:bodyPr wrap="square" lIns="0" tIns="0" rIns="0" bIns="0" rtlCol="0" anchor="t">
            <a:spAutoFit/>
          </a:bodyPr>
          <a:lstStyle/>
          <a:p>
            <a:pPr marL="1163956" lvl="1" indent="-742950" algn="l">
              <a:lnSpc>
                <a:spcPts val="7800"/>
              </a:lnSpc>
              <a:buFont typeface="Arial" panose="020B0604020202020204" pitchFamily="34" charset="0"/>
              <a:buChar char="•"/>
            </a:pPr>
            <a:r>
              <a:rPr lang="en-US" sz="3600" dirty="0">
                <a:solidFill>
                  <a:srgbClr val="000000"/>
                </a:solidFill>
                <a:latin typeface="+mj-lt"/>
                <a:ea typeface="Assistant"/>
                <a:cs typeface="Assistant"/>
                <a:sym typeface="Assistant"/>
              </a:rPr>
              <a:t>Introduction</a:t>
            </a:r>
          </a:p>
        </p:txBody>
      </p:sp>
      <p:sp>
        <p:nvSpPr>
          <p:cNvPr id="39" name="Title 38">
            <a:extLst>
              <a:ext uri="{FF2B5EF4-FFF2-40B4-BE49-F238E27FC236}">
                <a16:creationId xmlns:a16="http://schemas.microsoft.com/office/drawing/2014/main" id="{246A0ACF-2618-8D4F-6DE7-7B6749AEEB04}"/>
              </a:ext>
            </a:extLst>
          </p:cNvPr>
          <p:cNvSpPr>
            <a:spLocks noGrp="1"/>
          </p:cNvSpPr>
          <p:nvPr>
            <p:ph type="title"/>
          </p:nvPr>
        </p:nvSpPr>
        <p:spPr>
          <a:xfrm>
            <a:off x="4500356" y="1095375"/>
            <a:ext cx="8229600" cy="1143000"/>
          </a:xfrm>
        </p:spPr>
        <p:txBody>
          <a:bodyPr>
            <a:normAutofit/>
          </a:bodyPr>
          <a:lstStyle/>
          <a:p>
            <a:r>
              <a:rPr lang="en-IN" sz="5000" dirty="0">
                <a:effectLst>
                  <a:outerShdw blurRad="38100" dist="38100" dir="2700000" algn="tl">
                    <a:srgbClr val="000000">
                      <a:alpha val="43137"/>
                    </a:srgbClr>
                  </a:outerShdw>
                </a:effectLst>
              </a:rPr>
              <a:t>Table of Contents</a:t>
            </a:r>
          </a:p>
        </p:txBody>
      </p:sp>
      <p:sp>
        <p:nvSpPr>
          <p:cNvPr id="28" name="TextBox 27">
            <a:extLst>
              <a:ext uri="{FF2B5EF4-FFF2-40B4-BE49-F238E27FC236}">
                <a16:creationId xmlns:a16="http://schemas.microsoft.com/office/drawing/2014/main" id="{FB60A00F-15C6-3EF3-C94E-24AEE91F94C3}"/>
              </a:ext>
            </a:extLst>
          </p:cNvPr>
          <p:cNvSpPr txBox="1"/>
          <p:nvPr/>
        </p:nvSpPr>
        <p:spPr>
          <a:xfrm>
            <a:off x="8941102" y="8951267"/>
            <a:ext cx="340158" cy="461665"/>
          </a:xfrm>
          <a:prstGeom prst="rect">
            <a:avLst/>
          </a:prstGeom>
          <a:noFill/>
        </p:spPr>
        <p:txBody>
          <a:bodyPr wrap="none" rtlCol="0">
            <a:spAutoFit/>
          </a:bodyPr>
          <a:lstStyle/>
          <a:p>
            <a:pPr algn="ctr"/>
            <a:r>
              <a:rPr lang="en-IN" sz="2400" dirty="0">
                <a:solidFill>
                  <a:schemeClr val="tx1">
                    <a:lumMod val="65000"/>
                    <a:lumOff val="35000"/>
                  </a:schemeClr>
                </a:solidFill>
              </a:rPr>
              <a:t>2</a:t>
            </a:r>
          </a:p>
        </p:txBody>
      </p:sp>
      <p:grpSp>
        <p:nvGrpSpPr>
          <p:cNvPr id="38" name="Group 13">
            <a:extLst>
              <a:ext uri="{FF2B5EF4-FFF2-40B4-BE49-F238E27FC236}">
                <a16:creationId xmlns:a16="http://schemas.microsoft.com/office/drawing/2014/main" id="{CD9F45A3-E7B5-5B7F-A74D-F8E05E92CABA}"/>
              </a:ext>
            </a:extLst>
          </p:cNvPr>
          <p:cNvGrpSpPr/>
          <p:nvPr/>
        </p:nvGrpSpPr>
        <p:grpSpPr>
          <a:xfrm rot="5400000">
            <a:off x="8834424" y="1271191"/>
            <a:ext cx="842843" cy="11901166"/>
            <a:chOff x="0" y="0"/>
            <a:chExt cx="221983" cy="3077272"/>
          </a:xfrm>
        </p:grpSpPr>
        <p:sp>
          <p:nvSpPr>
            <p:cNvPr id="40" name="Freeform 14">
              <a:extLst>
                <a:ext uri="{FF2B5EF4-FFF2-40B4-BE49-F238E27FC236}">
                  <a16:creationId xmlns:a16="http://schemas.microsoft.com/office/drawing/2014/main" id="{C3279E0F-0197-6FAD-76FB-800F06842020}"/>
                </a:ext>
              </a:extLst>
            </p:cNvPr>
            <p:cNvSpPr/>
            <p:nvPr/>
          </p:nvSpPr>
          <p:spPr>
            <a:xfrm>
              <a:off x="0" y="0"/>
              <a:ext cx="221983" cy="3077272"/>
            </a:xfrm>
            <a:custGeom>
              <a:avLst/>
              <a:gdLst/>
              <a:ahLst/>
              <a:cxnLst/>
              <a:rect l="l" t="t" r="r" b="b"/>
              <a:pathLst>
                <a:path w="221983" h="3077272">
                  <a:moveTo>
                    <a:pt x="0" y="0"/>
                  </a:moveTo>
                  <a:lnTo>
                    <a:pt x="221983" y="0"/>
                  </a:lnTo>
                  <a:lnTo>
                    <a:pt x="221983" y="3077272"/>
                  </a:lnTo>
                  <a:lnTo>
                    <a:pt x="0" y="3077272"/>
                  </a:lnTo>
                  <a:close/>
                </a:path>
              </a:pathLst>
            </a:custGeom>
            <a:solidFill>
              <a:srgbClr val="F5DFDC">
                <a:alpha val="35686"/>
              </a:srgbClr>
            </a:solidFill>
            <a:ln cap="sq">
              <a:noFill/>
              <a:prstDash val="solid"/>
              <a:miter/>
            </a:ln>
          </p:spPr>
          <p:txBody>
            <a:bodyPr/>
            <a:lstStyle/>
            <a:p>
              <a:pPr marL="571500" indent="-571500">
                <a:buFont typeface="Arial" panose="020B0604020202020204" pitchFamily="34" charset="0"/>
                <a:buChar char="•"/>
              </a:pPr>
              <a:endParaRPr lang="en-IN" sz="3600">
                <a:latin typeface="+mj-lt"/>
              </a:endParaRPr>
            </a:p>
          </p:txBody>
        </p:sp>
        <p:sp>
          <p:nvSpPr>
            <p:cNvPr id="41" name="TextBox 15">
              <a:extLst>
                <a:ext uri="{FF2B5EF4-FFF2-40B4-BE49-F238E27FC236}">
                  <a16:creationId xmlns:a16="http://schemas.microsoft.com/office/drawing/2014/main" id="{4DFDB15D-3217-38E8-CBF6-3B8AF8E204D4}"/>
                </a:ext>
              </a:extLst>
            </p:cNvPr>
            <p:cNvSpPr txBox="1"/>
            <p:nvPr/>
          </p:nvSpPr>
          <p:spPr>
            <a:xfrm>
              <a:off x="0" y="38100"/>
              <a:ext cx="221983" cy="3039172"/>
            </a:xfrm>
            <a:prstGeom prst="rect">
              <a:avLst/>
            </a:prstGeom>
          </p:spPr>
          <p:txBody>
            <a:bodyPr lIns="50800" tIns="50800" rIns="50800" bIns="50800" rtlCol="0" anchor="ctr"/>
            <a:lstStyle/>
            <a:p>
              <a:pPr marL="571500" indent="-571500" algn="ctr">
                <a:lnSpc>
                  <a:spcPts val="2100"/>
                </a:lnSpc>
                <a:buFont typeface="Arial" panose="020B0604020202020204" pitchFamily="34" charset="0"/>
                <a:buChar char="•"/>
              </a:pPr>
              <a:endParaRPr sz="3600">
                <a:latin typeface="+mj-lt"/>
              </a:endParaRPr>
            </a:p>
          </p:txBody>
        </p:sp>
      </p:grpSp>
      <p:grpSp>
        <p:nvGrpSpPr>
          <p:cNvPr id="42" name="Group 13">
            <a:extLst>
              <a:ext uri="{FF2B5EF4-FFF2-40B4-BE49-F238E27FC236}">
                <a16:creationId xmlns:a16="http://schemas.microsoft.com/office/drawing/2014/main" id="{708F81EB-B246-6438-74B5-F109DD52CBDF}"/>
              </a:ext>
            </a:extLst>
          </p:cNvPr>
          <p:cNvGrpSpPr/>
          <p:nvPr/>
        </p:nvGrpSpPr>
        <p:grpSpPr>
          <a:xfrm rot="5400000">
            <a:off x="8878210" y="2246778"/>
            <a:ext cx="842843" cy="11919493"/>
            <a:chOff x="0" y="0"/>
            <a:chExt cx="221983" cy="3077272"/>
          </a:xfrm>
        </p:grpSpPr>
        <p:sp>
          <p:nvSpPr>
            <p:cNvPr id="43" name="Freeform 14">
              <a:extLst>
                <a:ext uri="{FF2B5EF4-FFF2-40B4-BE49-F238E27FC236}">
                  <a16:creationId xmlns:a16="http://schemas.microsoft.com/office/drawing/2014/main" id="{6845F25F-08B0-E72A-6B24-3FE45E051C2B}"/>
                </a:ext>
              </a:extLst>
            </p:cNvPr>
            <p:cNvSpPr/>
            <p:nvPr/>
          </p:nvSpPr>
          <p:spPr>
            <a:xfrm>
              <a:off x="0" y="0"/>
              <a:ext cx="221983" cy="3077272"/>
            </a:xfrm>
            <a:custGeom>
              <a:avLst/>
              <a:gdLst/>
              <a:ahLst/>
              <a:cxnLst/>
              <a:rect l="l" t="t" r="r" b="b"/>
              <a:pathLst>
                <a:path w="221983" h="3077272">
                  <a:moveTo>
                    <a:pt x="0" y="0"/>
                  </a:moveTo>
                  <a:lnTo>
                    <a:pt x="221983" y="0"/>
                  </a:lnTo>
                  <a:lnTo>
                    <a:pt x="221983" y="3077272"/>
                  </a:lnTo>
                  <a:lnTo>
                    <a:pt x="0" y="3077272"/>
                  </a:lnTo>
                  <a:close/>
                </a:path>
              </a:pathLst>
            </a:custGeom>
            <a:solidFill>
              <a:srgbClr val="F5DFDC">
                <a:alpha val="35686"/>
              </a:srgbClr>
            </a:solidFill>
            <a:ln cap="sq">
              <a:noFill/>
              <a:prstDash val="solid"/>
              <a:miter/>
            </a:ln>
          </p:spPr>
          <p:txBody>
            <a:bodyPr/>
            <a:lstStyle/>
            <a:p>
              <a:pPr marL="571500" indent="-571500">
                <a:buFont typeface="Arial" panose="020B0604020202020204" pitchFamily="34" charset="0"/>
                <a:buChar char="•"/>
              </a:pPr>
              <a:endParaRPr lang="en-IN" sz="3600">
                <a:latin typeface="+mj-lt"/>
              </a:endParaRPr>
            </a:p>
          </p:txBody>
        </p:sp>
        <p:sp>
          <p:nvSpPr>
            <p:cNvPr id="44" name="TextBox 15">
              <a:extLst>
                <a:ext uri="{FF2B5EF4-FFF2-40B4-BE49-F238E27FC236}">
                  <a16:creationId xmlns:a16="http://schemas.microsoft.com/office/drawing/2014/main" id="{928BE236-B835-0DBF-90CE-5EF96268F142}"/>
                </a:ext>
              </a:extLst>
            </p:cNvPr>
            <p:cNvSpPr txBox="1"/>
            <p:nvPr/>
          </p:nvSpPr>
          <p:spPr>
            <a:xfrm>
              <a:off x="0" y="38100"/>
              <a:ext cx="221983" cy="3039172"/>
            </a:xfrm>
            <a:prstGeom prst="rect">
              <a:avLst/>
            </a:prstGeom>
          </p:spPr>
          <p:txBody>
            <a:bodyPr lIns="50800" tIns="50800" rIns="50800" bIns="50800" rtlCol="0" anchor="ctr"/>
            <a:lstStyle/>
            <a:p>
              <a:pPr marL="571500" indent="-571500" algn="ctr">
                <a:lnSpc>
                  <a:spcPts val="2100"/>
                </a:lnSpc>
                <a:buFont typeface="Arial" panose="020B0604020202020204" pitchFamily="34" charset="0"/>
                <a:buChar char="•"/>
              </a:pPr>
              <a:endParaRPr sz="3600">
                <a:latin typeface="+mj-lt"/>
              </a:endParaRPr>
            </a:p>
          </p:txBody>
        </p:sp>
      </p:grpSp>
      <p:sp>
        <p:nvSpPr>
          <p:cNvPr id="45" name="TextBox 33">
            <a:extLst>
              <a:ext uri="{FF2B5EF4-FFF2-40B4-BE49-F238E27FC236}">
                <a16:creationId xmlns:a16="http://schemas.microsoft.com/office/drawing/2014/main" id="{51DB69D4-A1C0-63F3-AADA-FC31AD862F35}"/>
              </a:ext>
            </a:extLst>
          </p:cNvPr>
          <p:cNvSpPr txBox="1"/>
          <p:nvPr/>
        </p:nvSpPr>
        <p:spPr>
          <a:xfrm>
            <a:off x="8418264" y="2692881"/>
            <a:ext cx="6188220" cy="872098"/>
          </a:xfrm>
          <a:prstGeom prst="rect">
            <a:avLst/>
          </a:prstGeom>
        </p:spPr>
        <p:txBody>
          <a:bodyPr wrap="square" lIns="0" tIns="0" rIns="0" bIns="0" rtlCol="0" anchor="t">
            <a:spAutoFit/>
          </a:bodyPr>
          <a:lstStyle/>
          <a:p>
            <a:pPr marL="1800000" lvl="1" indent="-540000" algn="l">
              <a:lnSpc>
                <a:spcPts val="7800"/>
              </a:lnSpc>
              <a:buFont typeface="Arial" panose="020B0604020202020204" pitchFamily="34" charset="0"/>
              <a:buChar char="•"/>
            </a:pPr>
            <a:r>
              <a:rPr lang="en-US" sz="3600" dirty="0">
                <a:solidFill>
                  <a:srgbClr val="000000"/>
                </a:solidFill>
                <a:latin typeface="+mj-lt"/>
                <a:ea typeface="Assistant"/>
                <a:cs typeface="Assistant"/>
                <a:sym typeface="Assistant"/>
              </a:rPr>
              <a:t>System Architecture</a:t>
            </a:r>
          </a:p>
        </p:txBody>
      </p:sp>
      <p:sp>
        <p:nvSpPr>
          <p:cNvPr id="46" name="TextBox 33">
            <a:extLst>
              <a:ext uri="{FF2B5EF4-FFF2-40B4-BE49-F238E27FC236}">
                <a16:creationId xmlns:a16="http://schemas.microsoft.com/office/drawing/2014/main" id="{853E62C8-2581-0D17-F672-8E847D6A7D6E}"/>
              </a:ext>
            </a:extLst>
          </p:cNvPr>
          <p:cNvSpPr txBox="1"/>
          <p:nvPr/>
        </p:nvSpPr>
        <p:spPr>
          <a:xfrm>
            <a:off x="3599614" y="3606945"/>
            <a:ext cx="5490568" cy="872098"/>
          </a:xfrm>
          <a:prstGeom prst="rect">
            <a:avLst/>
          </a:prstGeom>
        </p:spPr>
        <p:txBody>
          <a:bodyPr wrap="square" lIns="0" tIns="0" rIns="0" bIns="0" rtlCol="0" anchor="t">
            <a:spAutoFit/>
          </a:bodyPr>
          <a:lstStyle/>
          <a:p>
            <a:pPr marL="1163956" lvl="1" indent="-742950" algn="l">
              <a:lnSpc>
                <a:spcPts val="7800"/>
              </a:lnSpc>
              <a:buFont typeface="Arial" panose="020B0604020202020204" pitchFamily="34" charset="0"/>
              <a:buChar char="•"/>
            </a:pPr>
            <a:r>
              <a:rPr lang="en-US" sz="3600" dirty="0">
                <a:solidFill>
                  <a:srgbClr val="000000"/>
                </a:solidFill>
                <a:latin typeface="+mj-lt"/>
                <a:ea typeface="Assistant"/>
                <a:cs typeface="Assistant"/>
                <a:sym typeface="Assistant"/>
              </a:rPr>
              <a:t>Problem Statement</a:t>
            </a:r>
          </a:p>
        </p:txBody>
      </p:sp>
      <p:sp>
        <p:nvSpPr>
          <p:cNvPr id="47" name="TextBox 33">
            <a:extLst>
              <a:ext uri="{FF2B5EF4-FFF2-40B4-BE49-F238E27FC236}">
                <a16:creationId xmlns:a16="http://schemas.microsoft.com/office/drawing/2014/main" id="{35C506C8-6893-BD2F-86E3-84F10E3F7A56}"/>
              </a:ext>
            </a:extLst>
          </p:cNvPr>
          <p:cNvSpPr txBox="1"/>
          <p:nvPr/>
        </p:nvSpPr>
        <p:spPr>
          <a:xfrm>
            <a:off x="3657190" y="5567427"/>
            <a:ext cx="4216585" cy="872098"/>
          </a:xfrm>
          <a:prstGeom prst="rect">
            <a:avLst/>
          </a:prstGeom>
        </p:spPr>
        <p:txBody>
          <a:bodyPr lIns="0" tIns="0" rIns="0" bIns="0" rtlCol="0" anchor="t">
            <a:spAutoFit/>
          </a:bodyPr>
          <a:lstStyle/>
          <a:p>
            <a:pPr marL="1163956" lvl="1" indent="-742950" algn="l">
              <a:lnSpc>
                <a:spcPts val="7800"/>
              </a:lnSpc>
              <a:buFont typeface="Arial" panose="020B0604020202020204" pitchFamily="34" charset="0"/>
              <a:buChar char="•"/>
            </a:pPr>
            <a:r>
              <a:rPr lang="en-US" sz="3600" dirty="0">
                <a:solidFill>
                  <a:srgbClr val="000000"/>
                </a:solidFill>
                <a:latin typeface="+mj-lt"/>
                <a:ea typeface="Assistant"/>
                <a:cs typeface="Assistant"/>
                <a:sym typeface="Assistant"/>
              </a:rPr>
              <a:t>Objectives</a:t>
            </a:r>
          </a:p>
        </p:txBody>
      </p:sp>
      <p:sp>
        <p:nvSpPr>
          <p:cNvPr id="48" name="TextBox 33">
            <a:extLst>
              <a:ext uri="{FF2B5EF4-FFF2-40B4-BE49-F238E27FC236}">
                <a16:creationId xmlns:a16="http://schemas.microsoft.com/office/drawing/2014/main" id="{33438DFC-8E76-7958-FB1C-3046DC4FF9E3}"/>
              </a:ext>
            </a:extLst>
          </p:cNvPr>
          <p:cNvSpPr txBox="1"/>
          <p:nvPr/>
        </p:nvSpPr>
        <p:spPr>
          <a:xfrm>
            <a:off x="3644232" y="4596167"/>
            <a:ext cx="4216585" cy="872098"/>
          </a:xfrm>
          <a:prstGeom prst="rect">
            <a:avLst/>
          </a:prstGeom>
        </p:spPr>
        <p:txBody>
          <a:bodyPr lIns="0" tIns="0" rIns="0" bIns="0" rtlCol="0" anchor="t">
            <a:spAutoFit/>
          </a:bodyPr>
          <a:lstStyle/>
          <a:p>
            <a:pPr marL="1163956" lvl="1" indent="-742950" algn="l">
              <a:lnSpc>
                <a:spcPts val="7800"/>
              </a:lnSpc>
              <a:buFont typeface="Arial" panose="020B0604020202020204" pitchFamily="34" charset="0"/>
              <a:buChar char="•"/>
            </a:pPr>
            <a:r>
              <a:rPr lang="en-US" sz="3600" dirty="0">
                <a:solidFill>
                  <a:srgbClr val="000000"/>
                </a:solidFill>
                <a:latin typeface="+mj-lt"/>
                <a:ea typeface="Assistant"/>
                <a:cs typeface="Assistant"/>
                <a:sym typeface="Assistant"/>
              </a:rPr>
              <a:t>Motivation</a:t>
            </a:r>
          </a:p>
        </p:txBody>
      </p:sp>
      <p:sp>
        <p:nvSpPr>
          <p:cNvPr id="49" name="TextBox 33">
            <a:extLst>
              <a:ext uri="{FF2B5EF4-FFF2-40B4-BE49-F238E27FC236}">
                <a16:creationId xmlns:a16="http://schemas.microsoft.com/office/drawing/2014/main" id="{C3B261C3-6D81-6BD7-F17D-79955E941910}"/>
              </a:ext>
            </a:extLst>
          </p:cNvPr>
          <p:cNvSpPr txBox="1"/>
          <p:nvPr/>
        </p:nvSpPr>
        <p:spPr>
          <a:xfrm>
            <a:off x="3641950" y="6578236"/>
            <a:ext cx="5490568" cy="872098"/>
          </a:xfrm>
          <a:prstGeom prst="rect">
            <a:avLst/>
          </a:prstGeom>
        </p:spPr>
        <p:txBody>
          <a:bodyPr wrap="square" lIns="0" tIns="0" rIns="0" bIns="0" rtlCol="0" anchor="t">
            <a:spAutoFit/>
          </a:bodyPr>
          <a:lstStyle/>
          <a:p>
            <a:pPr marL="1163956" lvl="1" indent="-742950" algn="l">
              <a:lnSpc>
                <a:spcPts val="7800"/>
              </a:lnSpc>
              <a:buFont typeface="Arial" panose="020B0604020202020204" pitchFamily="34" charset="0"/>
              <a:buChar char="•"/>
            </a:pPr>
            <a:r>
              <a:rPr lang="en-US" sz="3600" dirty="0">
                <a:solidFill>
                  <a:srgbClr val="000000"/>
                </a:solidFill>
                <a:latin typeface="+mj-lt"/>
                <a:ea typeface="Assistant"/>
                <a:cs typeface="Assistant"/>
                <a:sym typeface="Assistant"/>
              </a:rPr>
              <a:t>Literature Review</a:t>
            </a:r>
          </a:p>
        </p:txBody>
      </p:sp>
      <p:sp>
        <p:nvSpPr>
          <p:cNvPr id="50" name="TextBox 33">
            <a:extLst>
              <a:ext uri="{FF2B5EF4-FFF2-40B4-BE49-F238E27FC236}">
                <a16:creationId xmlns:a16="http://schemas.microsoft.com/office/drawing/2014/main" id="{FE2EDABA-7CD7-EF81-D745-D04AF4BFDBC6}"/>
              </a:ext>
            </a:extLst>
          </p:cNvPr>
          <p:cNvSpPr txBox="1"/>
          <p:nvPr/>
        </p:nvSpPr>
        <p:spPr>
          <a:xfrm>
            <a:off x="3641950" y="7611477"/>
            <a:ext cx="5266934" cy="872098"/>
          </a:xfrm>
          <a:prstGeom prst="rect">
            <a:avLst/>
          </a:prstGeom>
        </p:spPr>
        <p:txBody>
          <a:bodyPr wrap="square" lIns="0" tIns="0" rIns="0" bIns="0" rtlCol="0" anchor="t">
            <a:spAutoFit/>
          </a:bodyPr>
          <a:lstStyle/>
          <a:p>
            <a:pPr marL="1163956" lvl="1" indent="-742950" algn="l">
              <a:lnSpc>
                <a:spcPts val="7800"/>
              </a:lnSpc>
              <a:buFont typeface="Arial" panose="020B0604020202020204" pitchFamily="34" charset="0"/>
              <a:buChar char="•"/>
            </a:pPr>
            <a:r>
              <a:rPr lang="en-US" sz="3600" dirty="0">
                <a:solidFill>
                  <a:srgbClr val="000000"/>
                </a:solidFill>
                <a:latin typeface="+mj-lt"/>
                <a:ea typeface="Assistant"/>
                <a:cs typeface="Assistant"/>
                <a:sym typeface="Assistant"/>
              </a:rPr>
              <a:t>Proposed System</a:t>
            </a:r>
          </a:p>
        </p:txBody>
      </p:sp>
      <p:sp>
        <p:nvSpPr>
          <p:cNvPr id="51" name="TextBox 33">
            <a:extLst>
              <a:ext uri="{FF2B5EF4-FFF2-40B4-BE49-F238E27FC236}">
                <a16:creationId xmlns:a16="http://schemas.microsoft.com/office/drawing/2014/main" id="{A27E9F76-E8D6-5FE4-8223-2DD60019AD40}"/>
              </a:ext>
            </a:extLst>
          </p:cNvPr>
          <p:cNvSpPr txBox="1"/>
          <p:nvPr/>
        </p:nvSpPr>
        <p:spPr>
          <a:xfrm>
            <a:off x="8395423" y="3618869"/>
            <a:ext cx="5215919" cy="872098"/>
          </a:xfrm>
          <a:prstGeom prst="rect">
            <a:avLst/>
          </a:prstGeom>
        </p:spPr>
        <p:txBody>
          <a:bodyPr wrap="square" lIns="0" tIns="0" rIns="0" bIns="0" rtlCol="0" anchor="t">
            <a:spAutoFit/>
          </a:bodyPr>
          <a:lstStyle/>
          <a:p>
            <a:pPr marL="1800000" lvl="1" indent="-540000" algn="l">
              <a:lnSpc>
                <a:spcPts val="7800"/>
              </a:lnSpc>
              <a:buFont typeface="Arial" panose="020B0604020202020204" pitchFamily="34" charset="0"/>
              <a:buChar char="•"/>
            </a:pPr>
            <a:r>
              <a:rPr lang="en-US" sz="3600" dirty="0">
                <a:solidFill>
                  <a:srgbClr val="000000"/>
                </a:solidFill>
                <a:latin typeface="+mj-lt"/>
                <a:ea typeface="Assistant"/>
                <a:cs typeface="Assistant"/>
                <a:sym typeface="Assistant"/>
              </a:rPr>
              <a:t>Implementation</a:t>
            </a:r>
          </a:p>
        </p:txBody>
      </p:sp>
      <p:sp>
        <p:nvSpPr>
          <p:cNvPr id="52" name="TextBox 33">
            <a:extLst>
              <a:ext uri="{FF2B5EF4-FFF2-40B4-BE49-F238E27FC236}">
                <a16:creationId xmlns:a16="http://schemas.microsoft.com/office/drawing/2014/main" id="{4E78121A-144B-ECAE-B363-86429DDF65E7}"/>
              </a:ext>
            </a:extLst>
          </p:cNvPr>
          <p:cNvSpPr txBox="1"/>
          <p:nvPr/>
        </p:nvSpPr>
        <p:spPr>
          <a:xfrm>
            <a:off x="8406643" y="4624356"/>
            <a:ext cx="4216585" cy="899093"/>
          </a:xfrm>
          <a:prstGeom prst="rect">
            <a:avLst/>
          </a:prstGeom>
        </p:spPr>
        <p:txBody>
          <a:bodyPr lIns="0" tIns="0" rIns="0" bIns="0" rtlCol="0" anchor="t">
            <a:spAutoFit/>
          </a:bodyPr>
          <a:lstStyle/>
          <a:p>
            <a:pPr marL="1800000" lvl="1" indent="-540000" algn="l">
              <a:lnSpc>
                <a:spcPts val="7800"/>
              </a:lnSpc>
              <a:buFont typeface="Arial" panose="020B0604020202020204" pitchFamily="34" charset="0"/>
              <a:buChar char="•"/>
            </a:pPr>
            <a:r>
              <a:rPr lang="en-US" sz="3600" dirty="0">
                <a:solidFill>
                  <a:srgbClr val="000000"/>
                </a:solidFill>
                <a:latin typeface="+mj-lt"/>
                <a:ea typeface="Assistant"/>
                <a:cs typeface="Assistant"/>
                <a:sym typeface="Assistant"/>
              </a:rPr>
              <a:t>Results</a:t>
            </a:r>
          </a:p>
        </p:txBody>
      </p:sp>
      <p:sp>
        <p:nvSpPr>
          <p:cNvPr id="53" name="TextBox 33">
            <a:extLst>
              <a:ext uri="{FF2B5EF4-FFF2-40B4-BE49-F238E27FC236}">
                <a16:creationId xmlns:a16="http://schemas.microsoft.com/office/drawing/2014/main" id="{ACEFCFFA-EEFD-52EA-B6CD-B3AD76509295}"/>
              </a:ext>
            </a:extLst>
          </p:cNvPr>
          <p:cNvSpPr txBox="1"/>
          <p:nvPr/>
        </p:nvSpPr>
        <p:spPr>
          <a:xfrm>
            <a:off x="8376162" y="5599687"/>
            <a:ext cx="7799511" cy="861903"/>
          </a:xfrm>
          <a:prstGeom prst="rect">
            <a:avLst/>
          </a:prstGeom>
        </p:spPr>
        <p:txBody>
          <a:bodyPr wrap="square" lIns="0" tIns="0" rIns="0" bIns="0" rtlCol="0" anchor="t">
            <a:spAutoFit/>
          </a:bodyPr>
          <a:lstStyle/>
          <a:p>
            <a:pPr marL="1800000" lvl="1" indent="-540000" algn="l">
              <a:lnSpc>
                <a:spcPts val="7800"/>
              </a:lnSpc>
              <a:buFont typeface="Arial" panose="020B0604020202020204" pitchFamily="34" charset="0"/>
              <a:buChar char="•"/>
            </a:pPr>
            <a:r>
              <a:rPr lang="en-US" sz="3300" dirty="0">
                <a:solidFill>
                  <a:srgbClr val="000000"/>
                </a:solidFill>
                <a:latin typeface="+mj-lt"/>
                <a:ea typeface="Assistant"/>
                <a:cs typeface="Assistant"/>
                <a:sym typeface="Assistant"/>
              </a:rPr>
              <a:t>Applications &amp; Advantages</a:t>
            </a:r>
          </a:p>
        </p:txBody>
      </p:sp>
      <p:sp>
        <p:nvSpPr>
          <p:cNvPr id="54" name="TextBox 33">
            <a:extLst>
              <a:ext uri="{FF2B5EF4-FFF2-40B4-BE49-F238E27FC236}">
                <a16:creationId xmlns:a16="http://schemas.microsoft.com/office/drawing/2014/main" id="{AC997DD0-69C2-336D-A2FF-E7B2F59050F5}"/>
              </a:ext>
            </a:extLst>
          </p:cNvPr>
          <p:cNvSpPr txBox="1"/>
          <p:nvPr/>
        </p:nvSpPr>
        <p:spPr>
          <a:xfrm>
            <a:off x="8387784" y="6605766"/>
            <a:ext cx="7799511" cy="861903"/>
          </a:xfrm>
          <a:prstGeom prst="rect">
            <a:avLst/>
          </a:prstGeom>
        </p:spPr>
        <p:txBody>
          <a:bodyPr wrap="square" lIns="0" tIns="0" rIns="0" bIns="0" rtlCol="0" anchor="t">
            <a:spAutoFit/>
          </a:bodyPr>
          <a:lstStyle/>
          <a:p>
            <a:pPr marL="1800000" lvl="1" indent="-540000" algn="l">
              <a:lnSpc>
                <a:spcPts val="7800"/>
              </a:lnSpc>
              <a:buFont typeface="Arial" panose="020B0604020202020204" pitchFamily="34" charset="0"/>
              <a:buChar char="•"/>
            </a:pPr>
            <a:r>
              <a:rPr lang="en-US" sz="3300" dirty="0">
                <a:solidFill>
                  <a:srgbClr val="000000"/>
                </a:solidFill>
                <a:latin typeface="+mj-lt"/>
                <a:ea typeface="Assistant"/>
                <a:cs typeface="Assistant"/>
                <a:sym typeface="Assistant"/>
              </a:rPr>
              <a:t>Limitations &amp; Future Scope</a:t>
            </a:r>
          </a:p>
        </p:txBody>
      </p:sp>
      <p:sp>
        <p:nvSpPr>
          <p:cNvPr id="55" name="TextBox 33">
            <a:extLst>
              <a:ext uri="{FF2B5EF4-FFF2-40B4-BE49-F238E27FC236}">
                <a16:creationId xmlns:a16="http://schemas.microsoft.com/office/drawing/2014/main" id="{83A83D9D-78C0-AC55-A3DA-D95C9ABC62B9}"/>
              </a:ext>
            </a:extLst>
          </p:cNvPr>
          <p:cNvSpPr txBox="1"/>
          <p:nvPr/>
        </p:nvSpPr>
        <p:spPr>
          <a:xfrm>
            <a:off x="8376163" y="7496752"/>
            <a:ext cx="7799511" cy="861903"/>
          </a:xfrm>
          <a:prstGeom prst="rect">
            <a:avLst/>
          </a:prstGeom>
        </p:spPr>
        <p:txBody>
          <a:bodyPr wrap="square" lIns="0" tIns="0" rIns="0" bIns="0" rtlCol="0" anchor="t">
            <a:spAutoFit/>
          </a:bodyPr>
          <a:lstStyle/>
          <a:p>
            <a:pPr marL="1800000" lvl="1" indent="-540000" algn="l">
              <a:lnSpc>
                <a:spcPts val="7800"/>
              </a:lnSpc>
              <a:buFont typeface="Arial" panose="020B0604020202020204" pitchFamily="34" charset="0"/>
              <a:buChar char="•"/>
            </a:pPr>
            <a:r>
              <a:rPr lang="en-US" sz="3300" dirty="0">
                <a:solidFill>
                  <a:srgbClr val="000000"/>
                </a:solidFill>
                <a:latin typeface="+mj-lt"/>
                <a:ea typeface="Assistant"/>
                <a:cs typeface="Assistant"/>
                <a:sym typeface="Assistant"/>
              </a:rPr>
              <a:t>Conclusion &amp; References</a:t>
            </a:r>
          </a:p>
        </p:txBody>
      </p:sp>
    </p:spTree>
    <p:extLst>
      <p:ext uri="{BB962C8B-B14F-4D97-AF65-F5344CB8AC3E}">
        <p14:creationId xmlns:p14="http://schemas.microsoft.com/office/powerpoint/2010/main" val="12241829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212AA9-C1B6-0A04-5C7A-ADF9DC5F8CD9}"/>
            </a:ext>
          </a:extLst>
        </p:cNvPr>
        <p:cNvGrpSpPr/>
        <p:nvPr/>
      </p:nvGrpSpPr>
      <p:grpSpPr>
        <a:xfrm>
          <a:off x="0" y="0"/>
          <a:ext cx="0" cy="0"/>
          <a:chOff x="0" y="0"/>
          <a:chExt cx="0" cy="0"/>
        </a:xfrm>
      </p:grpSpPr>
      <p:grpSp>
        <p:nvGrpSpPr>
          <p:cNvPr id="19" name="Group 5">
            <a:extLst>
              <a:ext uri="{FF2B5EF4-FFF2-40B4-BE49-F238E27FC236}">
                <a16:creationId xmlns:a16="http://schemas.microsoft.com/office/drawing/2014/main" id="{A7C5510B-66EC-C2B2-41B8-90D6B540625A}"/>
              </a:ext>
            </a:extLst>
          </p:cNvPr>
          <p:cNvGrpSpPr/>
          <p:nvPr/>
        </p:nvGrpSpPr>
        <p:grpSpPr>
          <a:xfrm>
            <a:off x="18088875" y="-137537"/>
            <a:ext cx="1273129" cy="10562074"/>
            <a:chOff x="0" y="0"/>
            <a:chExt cx="335310" cy="2781781"/>
          </a:xfrm>
        </p:grpSpPr>
        <p:sp>
          <p:nvSpPr>
            <p:cNvPr id="20" name="Freeform 6">
              <a:extLst>
                <a:ext uri="{FF2B5EF4-FFF2-40B4-BE49-F238E27FC236}">
                  <a16:creationId xmlns:a16="http://schemas.microsoft.com/office/drawing/2014/main" id="{819C6283-2A3C-3BFB-C810-72BAB7725B9F}"/>
                </a:ext>
              </a:extLst>
            </p:cNvPr>
            <p:cNvSpPr/>
            <p:nvPr/>
          </p:nvSpPr>
          <p:spPr>
            <a:xfrm>
              <a:off x="0" y="0"/>
              <a:ext cx="335310" cy="2781781"/>
            </a:xfrm>
            <a:custGeom>
              <a:avLst/>
              <a:gdLst/>
              <a:ahLst/>
              <a:cxnLst/>
              <a:rect l="l" t="t" r="r" b="b"/>
              <a:pathLst>
                <a:path w="335310" h="2781781">
                  <a:moveTo>
                    <a:pt x="0" y="0"/>
                  </a:moveTo>
                  <a:lnTo>
                    <a:pt x="335310" y="0"/>
                  </a:lnTo>
                  <a:lnTo>
                    <a:pt x="335310" y="2781781"/>
                  </a:lnTo>
                  <a:lnTo>
                    <a:pt x="0" y="2781781"/>
                  </a:lnTo>
                  <a:close/>
                </a:path>
              </a:pathLst>
            </a:custGeom>
            <a:solidFill>
              <a:srgbClr val="F5DFDC"/>
            </a:solidFill>
            <a:ln cap="sq">
              <a:noFill/>
              <a:prstDash val="solid"/>
              <a:miter/>
            </a:ln>
          </p:spPr>
          <p:txBody>
            <a:bodyPr/>
            <a:lstStyle/>
            <a:p>
              <a:endParaRPr lang="en-IN"/>
            </a:p>
          </p:txBody>
        </p:sp>
        <p:sp>
          <p:nvSpPr>
            <p:cNvPr id="21" name="TextBox 7">
              <a:extLst>
                <a:ext uri="{FF2B5EF4-FFF2-40B4-BE49-F238E27FC236}">
                  <a16:creationId xmlns:a16="http://schemas.microsoft.com/office/drawing/2014/main" id="{729273A9-5376-C6E7-1579-18E2E74D08DC}"/>
                </a:ext>
              </a:extLst>
            </p:cNvPr>
            <p:cNvSpPr txBox="1"/>
            <p:nvPr/>
          </p:nvSpPr>
          <p:spPr>
            <a:xfrm>
              <a:off x="0" y="38100"/>
              <a:ext cx="335310" cy="2743681"/>
            </a:xfrm>
            <a:prstGeom prst="rect">
              <a:avLst/>
            </a:prstGeom>
          </p:spPr>
          <p:txBody>
            <a:bodyPr lIns="50800" tIns="50800" rIns="50800" bIns="50800" rtlCol="0" anchor="ctr"/>
            <a:lstStyle/>
            <a:p>
              <a:pPr algn="ctr">
                <a:lnSpc>
                  <a:spcPts val="2100"/>
                </a:lnSpc>
              </a:pPr>
              <a:endParaRPr/>
            </a:p>
          </p:txBody>
        </p:sp>
      </p:grpSp>
      <p:grpSp>
        <p:nvGrpSpPr>
          <p:cNvPr id="16" name="Group 2">
            <a:extLst>
              <a:ext uri="{FF2B5EF4-FFF2-40B4-BE49-F238E27FC236}">
                <a16:creationId xmlns:a16="http://schemas.microsoft.com/office/drawing/2014/main" id="{A7397762-22D9-D14A-40BC-DF9D5FF9BC47}"/>
              </a:ext>
            </a:extLst>
          </p:cNvPr>
          <p:cNvGrpSpPr/>
          <p:nvPr/>
        </p:nvGrpSpPr>
        <p:grpSpPr>
          <a:xfrm>
            <a:off x="-998214" y="24260"/>
            <a:ext cx="1273129" cy="10562074"/>
            <a:chOff x="0" y="0"/>
            <a:chExt cx="335310" cy="2781781"/>
          </a:xfrm>
        </p:grpSpPr>
        <p:sp>
          <p:nvSpPr>
            <p:cNvPr id="17" name="Freeform 3">
              <a:extLst>
                <a:ext uri="{FF2B5EF4-FFF2-40B4-BE49-F238E27FC236}">
                  <a16:creationId xmlns:a16="http://schemas.microsoft.com/office/drawing/2014/main" id="{2DF121EF-0FE5-E26E-EB8E-58FB6FE9AB21}"/>
                </a:ext>
              </a:extLst>
            </p:cNvPr>
            <p:cNvSpPr/>
            <p:nvPr/>
          </p:nvSpPr>
          <p:spPr>
            <a:xfrm>
              <a:off x="0" y="0"/>
              <a:ext cx="335310" cy="2781781"/>
            </a:xfrm>
            <a:custGeom>
              <a:avLst/>
              <a:gdLst/>
              <a:ahLst/>
              <a:cxnLst/>
              <a:rect l="l" t="t" r="r" b="b"/>
              <a:pathLst>
                <a:path w="335310" h="2781781">
                  <a:moveTo>
                    <a:pt x="0" y="0"/>
                  </a:moveTo>
                  <a:lnTo>
                    <a:pt x="335310" y="0"/>
                  </a:lnTo>
                  <a:lnTo>
                    <a:pt x="335310" y="2781781"/>
                  </a:lnTo>
                  <a:lnTo>
                    <a:pt x="0" y="2781781"/>
                  </a:lnTo>
                  <a:close/>
                </a:path>
              </a:pathLst>
            </a:custGeom>
            <a:solidFill>
              <a:srgbClr val="F5DFDC"/>
            </a:solidFill>
            <a:ln cap="sq">
              <a:noFill/>
              <a:prstDash val="solid"/>
              <a:miter/>
            </a:ln>
          </p:spPr>
          <p:txBody>
            <a:bodyPr/>
            <a:lstStyle/>
            <a:p>
              <a:endParaRPr lang="en-IN"/>
            </a:p>
          </p:txBody>
        </p:sp>
        <p:sp>
          <p:nvSpPr>
            <p:cNvPr id="18" name="TextBox 4">
              <a:extLst>
                <a:ext uri="{FF2B5EF4-FFF2-40B4-BE49-F238E27FC236}">
                  <a16:creationId xmlns:a16="http://schemas.microsoft.com/office/drawing/2014/main" id="{F085D04D-EE3E-F3C9-118E-237C1E0892DF}"/>
                </a:ext>
              </a:extLst>
            </p:cNvPr>
            <p:cNvSpPr txBox="1"/>
            <p:nvPr/>
          </p:nvSpPr>
          <p:spPr>
            <a:xfrm>
              <a:off x="0" y="38100"/>
              <a:ext cx="335310" cy="2743681"/>
            </a:xfrm>
            <a:prstGeom prst="rect">
              <a:avLst/>
            </a:prstGeom>
          </p:spPr>
          <p:txBody>
            <a:bodyPr lIns="50800" tIns="50800" rIns="50800" bIns="50800" rtlCol="0" anchor="ctr"/>
            <a:lstStyle/>
            <a:p>
              <a:pPr algn="ctr">
                <a:lnSpc>
                  <a:spcPts val="2100"/>
                </a:lnSpc>
              </a:pPr>
              <a:endParaRPr/>
            </a:p>
          </p:txBody>
        </p:sp>
      </p:grpSp>
      <p:sp>
        <p:nvSpPr>
          <p:cNvPr id="8" name="Freeform 8">
            <a:extLst>
              <a:ext uri="{FF2B5EF4-FFF2-40B4-BE49-F238E27FC236}">
                <a16:creationId xmlns:a16="http://schemas.microsoft.com/office/drawing/2014/main" id="{3BFCF522-F780-37D7-D935-9FAFA343F3B3}"/>
              </a:ext>
            </a:extLst>
          </p:cNvPr>
          <p:cNvSpPr/>
          <p:nvPr/>
        </p:nvSpPr>
        <p:spPr>
          <a:xfrm>
            <a:off x="14706600" y="-202510"/>
            <a:ext cx="4521184" cy="1528982"/>
          </a:xfrm>
          <a:custGeom>
            <a:avLst/>
            <a:gdLst/>
            <a:ahLst/>
            <a:cxnLst/>
            <a:rect l="l" t="t" r="r" b="b"/>
            <a:pathLst>
              <a:path w="4521184" h="1528982">
                <a:moveTo>
                  <a:pt x="0" y="0"/>
                </a:moveTo>
                <a:lnTo>
                  <a:pt x="4521184" y="0"/>
                </a:lnTo>
                <a:lnTo>
                  <a:pt x="4521184" y="1528982"/>
                </a:lnTo>
                <a:lnTo>
                  <a:pt x="0" y="152898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9" name="Freeform 9">
            <a:extLst>
              <a:ext uri="{FF2B5EF4-FFF2-40B4-BE49-F238E27FC236}">
                <a16:creationId xmlns:a16="http://schemas.microsoft.com/office/drawing/2014/main" id="{36A6AC2E-9CAC-737E-FF5C-95B67EB8E69C}"/>
              </a:ext>
            </a:extLst>
          </p:cNvPr>
          <p:cNvSpPr/>
          <p:nvPr/>
        </p:nvSpPr>
        <p:spPr>
          <a:xfrm flipH="1" flipV="1">
            <a:off x="-1128348" y="8895555"/>
            <a:ext cx="4521184" cy="1528982"/>
          </a:xfrm>
          <a:custGeom>
            <a:avLst/>
            <a:gdLst/>
            <a:ahLst/>
            <a:cxnLst/>
            <a:rect l="l" t="t" r="r" b="b"/>
            <a:pathLst>
              <a:path w="4521184" h="1528982">
                <a:moveTo>
                  <a:pt x="4521184" y="1528982"/>
                </a:moveTo>
                <a:lnTo>
                  <a:pt x="0" y="1528982"/>
                </a:lnTo>
                <a:lnTo>
                  <a:pt x="0" y="0"/>
                </a:lnTo>
                <a:lnTo>
                  <a:pt x="4521184" y="0"/>
                </a:lnTo>
                <a:lnTo>
                  <a:pt x="4521184" y="1528982"/>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10" name="Freeform 10">
            <a:extLst>
              <a:ext uri="{FF2B5EF4-FFF2-40B4-BE49-F238E27FC236}">
                <a16:creationId xmlns:a16="http://schemas.microsoft.com/office/drawing/2014/main" id="{2C7737B2-8EF0-513B-AA05-A5929BD5B203}"/>
              </a:ext>
            </a:extLst>
          </p:cNvPr>
          <p:cNvSpPr/>
          <p:nvPr/>
        </p:nvSpPr>
        <p:spPr>
          <a:xfrm>
            <a:off x="16459200" y="9182100"/>
            <a:ext cx="2636110" cy="1524151"/>
          </a:xfrm>
          <a:custGeom>
            <a:avLst/>
            <a:gdLst/>
            <a:ahLst/>
            <a:cxnLst/>
            <a:rect l="l" t="t" r="r" b="b"/>
            <a:pathLst>
              <a:path w="2636110" h="1524151">
                <a:moveTo>
                  <a:pt x="0" y="0"/>
                </a:moveTo>
                <a:lnTo>
                  <a:pt x="2636110" y="0"/>
                </a:lnTo>
                <a:lnTo>
                  <a:pt x="2636110" y="1524151"/>
                </a:lnTo>
                <a:lnTo>
                  <a:pt x="0" y="152415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dirty="0"/>
          </a:p>
        </p:txBody>
      </p:sp>
      <p:sp>
        <p:nvSpPr>
          <p:cNvPr id="11" name="Freeform 11">
            <a:extLst>
              <a:ext uri="{FF2B5EF4-FFF2-40B4-BE49-F238E27FC236}">
                <a16:creationId xmlns:a16="http://schemas.microsoft.com/office/drawing/2014/main" id="{E7366D60-426B-46AE-7298-FA1FE7F30B4D}"/>
              </a:ext>
            </a:extLst>
          </p:cNvPr>
          <p:cNvSpPr/>
          <p:nvPr/>
        </p:nvSpPr>
        <p:spPr>
          <a:xfrm flipH="1" flipV="1">
            <a:off x="-762000" y="-428776"/>
            <a:ext cx="2636110" cy="1524151"/>
          </a:xfrm>
          <a:custGeom>
            <a:avLst/>
            <a:gdLst/>
            <a:ahLst/>
            <a:cxnLst/>
            <a:rect l="l" t="t" r="r" b="b"/>
            <a:pathLst>
              <a:path w="2636110" h="1524151">
                <a:moveTo>
                  <a:pt x="2636110" y="1524151"/>
                </a:moveTo>
                <a:lnTo>
                  <a:pt x="0" y="1524151"/>
                </a:lnTo>
                <a:lnTo>
                  <a:pt x="0" y="0"/>
                </a:lnTo>
                <a:lnTo>
                  <a:pt x="2636110" y="0"/>
                </a:lnTo>
                <a:lnTo>
                  <a:pt x="2636110" y="1524151"/>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dirty="0"/>
          </a:p>
        </p:txBody>
      </p:sp>
      <p:sp>
        <p:nvSpPr>
          <p:cNvPr id="24" name="TextBox 23">
            <a:extLst>
              <a:ext uri="{FF2B5EF4-FFF2-40B4-BE49-F238E27FC236}">
                <a16:creationId xmlns:a16="http://schemas.microsoft.com/office/drawing/2014/main" id="{02F1AAD6-E415-FB89-0CFC-7FE6FDCA9786}"/>
              </a:ext>
            </a:extLst>
          </p:cNvPr>
          <p:cNvSpPr txBox="1"/>
          <p:nvPr/>
        </p:nvSpPr>
        <p:spPr>
          <a:xfrm>
            <a:off x="1676400" y="2334474"/>
            <a:ext cx="14325600" cy="6561796"/>
          </a:xfrm>
          <a:prstGeom prst="rect">
            <a:avLst/>
          </a:prstGeom>
          <a:noFill/>
        </p:spPr>
        <p:txBody>
          <a:bodyPr wrap="square" rtlCol="0">
            <a:spAutoFit/>
          </a:bodyPr>
          <a:lstStyle/>
          <a:p>
            <a:pPr marL="1485900" lvl="2" indent="-571500" algn="just">
              <a:spcAft>
                <a:spcPts val="800"/>
              </a:spcAft>
              <a:buFont typeface="Arial" panose="020B0604020202020204" pitchFamily="34" charset="0"/>
              <a:buChar char="•"/>
            </a:pPr>
            <a:r>
              <a:rPr lang="en-US" sz="3170" dirty="0"/>
              <a:t>Brain tumors are abnormal growths of cells in the brain, and early detection is important for effective treatment.</a:t>
            </a:r>
          </a:p>
          <a:p>
            <a:pPr marL="1485900" lvl="2" indent="-571500" algn="just">
              <a:spcAft>
                <a:spcPts val="800"/>
              </a:spcAft>
              <a:buFont typeface="Arial" panose="020B0604020202020204" pitchFamily="34" charset="0"/>
              <a:buChar char="•"/>
            </a:pPr>
            <a:r>
              <a:rPr lang="en-US" sz="3170" dirty="0"/>
              <a:t>MRI provides high-resolution and detailed images for medical diagnosis.</a:t>
            </a:r>
          </a:p>
          <a:p>
            <a:pPr marL="1485900" lvl="2" indent="-571500" algn="just">
              <a:spcAft>
                <a:spcPts val="800"/>
              </a:spcAft>
              <a:buFont typeface="Arial" panose="020B0604020202020204" pitchFamily="34" charset="0"/>
              <a:buChar char="•"/>
            </a:pPr>
            <a:r>
              <a:rPr lang="en-US" sz="3170" dirty="0"/>
              <a:t>Convolutional Neural Networks are widely used for automatic analysis of MRI images to detect tumor regions.</a:t>
            </a:r>
          </a:p>
          <a:p>
            <a:pPr marL="1485900" lvl="2" indent="-571500" algn="just">
              <a:spcAft>
                <a:spcPts val="800"/>
              </a:spcAft>
              <a:buFont typeface="Arial" panose="020B0604020202020204" pitchFamily="34" charset="0"/>
              <a:buChar char="•"/>
            </a:pPr>
            <a:r>
              <a:rPr lang="en-US" sz="3170" dirty="0"/>
              <a:t>CNN models extract features such as edges, textures, and tumor patterns through multiple layers.</a:t>
            </a:r>
          </a:p>
          <a:p>
            <a:pPr marL="1485900" lvl="2" indent="-571500" algn="just">
              <a:spcAft>
                <a:spcPts val="800"/>
              </a:spcAft>
              <a:buFont typeface="Arial" panose="020B0604020202020204" pitchFamily="34" charset="0"/>
              <a:buChar char="•"/>
            </a:pPr>
            <a:r>
              <a:rPr lang="en-US" sz="3170" dirty="0"/>
              <a:t>Convolution operations slide filters over the image to generate feature maps.</a:t>
            </a:r>
          </a:p>
          <a:p>
            <a:pPr marL="1485900" lvl="2" indent="-571500" algn="just">
              <a:spcAft>
                <a:spcPts val="800"/>
              </a:spcAft>
              <a:buFont typeface="Arial" panose="020B0604020202020204" pitchFamily="34" charset="0"/>
              <a:buChar char="•"/>
            </a:pPr>
            <a:r>
              <a:rPr lang="en-US" sz="3170" dirty="0"/>
              <a:t>These operations are often converted into matrix multiplication, leading to large-scale computations.</a:t>
            </a:r>
          </a:p>
          <a:p>
            <a:pPr marL="1485900" lvl="2" indent="-571500" algn="just">
              <a:spcAft>
                <a:spcPts val="800"/>
              </a:spcAft>
              <a:buFont typeface="Arial" panose="020B0604020202020204" pitchFamily="34" charset="0"/>
              <a:buChar char="•"/>
            </a:pPr>
            <a:r>
              <a:rPr lang="en-US" sz="3170" dirty="0"/>
              <a:t>Optimizing these computations is essential to improve performance and efficiency.</a:t>
            </a:r>
          </a:p>
        </p:txBody>
      </p:sp>
      <p:sp>
        <p:nvSpPr>
          <p:cNvPr id="25" name="TextBox 24">
            <a:extLst>
              <a:ext uri="{FF2B5EF4-FFF2-40B4-BE49-F238E27FC236}">
                <a16:creationId xmlns:a16="http://schemas.microsoft.com/office/drawing/2014/main" id="{53534EA2-CC47-A4F5-6CB7-FB841941DE5A}"/>
              </a:ext>
            </a:extLst>
          </p:cNvPr>
          <p:cNvSpPr txBox="1"/>
          <p:nvPr/>
        </p:nvSpPr>
        <p:spPr>
          <a:xfrm>
            <a:off x="2148840" y="1287869"/>
            <a:ext cx="4521184" cy="907941"/>
          </a:xfrm>
          <a:prstGeom prst="rect">
            <a:avLst/>
          </a:prstGeom>
          <a:noFill/>
        </p:spPr>
        <p:txBody>
          <a:bodyPr wrap="square" rtlCol="0">
            <a:spAutoFit/>
          </a:bodyPr>
          <a:lstStyle/>
          <a:p>
            <a:r>
              <a:rPr lang="en-IN" sz="5300" dirty="0">
                <a:effectLst>
                  <a:outerShdw blurRad="38100" dist="38100" dir="2700000" algn="tl">
                    <a:srgbClr val="000000">
                      <a:alpha val="43137"/>
                    </a:srgbClr>
                  </a:outerShdw>
                </a:effectLst>
                <a:latin typeface="+mj-lt"/>
              </a:rPr>
              <a:t>Introduction</a:t>
            </a:r>
          </a:p>
        </p:txBody>
      </p:sp>
      <p:sp>
        <p:nvSpPr>
          <p:cNvPr id="7" name="TextBox 6">
            <a:extLst>
              <a:ext uri="{FF2B5EF4-FFF2-40B4-BE49-F238E27FC236}">
                <a16:creationId xmlns:a16="http://schemas.microsoft.com/office/drawing/2014/main" id="{2F756A1B-8E56-6F5E-EE94-933A7304E868}"/>
              </a:ext>
            </a:extLst>
          </p:cNvPr>
          <p:cNvSpPr txBox="1"/>
          <p:nvPr/>
        </p:nvSpPr>
        <p:spPr>
          <a:xfrm>
            <a:off x="9011816" y="9177494"/>
            <a:ext cx="340158" cy="461665"/>
          </a:xfrm>
          <a:prstGeom prst="rect">
            <a:avLst/>
          </a:prstGeom>
          <a:noFill/>
        </p:spPr>
        <p:txBody>
          <a:bodyPr wrap="none" rtlCol="0">
            <a:spAutoFit/>
          </a:bodyPr>
          <a:lstStyle/>
          <a:p>
            <a:r>
              <a:rPr lang="en-IN" sz="2400" dirty="0">
                <a:solidFill>
                  <a:schemeClr val="tx1">
                    <a:lumMod val="65000"/>
                    <a:lumOff val="35000"/>
                  </a:schemeClr>
                </a:solidFill>
              </a:rPr>
              <a:t>3</a:t>
            </a:r>
          </a:p>
        </p:txBody>
      </p:sp>
    </p:spTree>
    <p:extLst>
      <p:ext uri="{BB962C8B-B14F-4D97-AF65-F5344CB8AC3E}">
        <p14:creationId xmlns:p14="http://schemas.microsoft.com/office/powerpoint/2010/main" val="29430431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6B0654-932A-7179-4701-E35E514A2B5E}"/>
            </a:ext>
          </a:extLst>
        </p:cNvPr>
        <p:cNvGrpSpPr/>
        <p:nvPr/>
      </p:nvGrpSpPr>
      <p:grpSpPr>
        <a:xfrm>
          <a:off x="0" y="0"/>
          <a:ext cx="0" cy="0"/>
          <a:chOff x="0" y="0"/>
          <a:chExt cx="0" cy="0"/>
        </a:xfrm>
      </p:grpSpPr>
      <p:grpSp>
        <p:nvGrpSpPr>
          <p:cNvPr id="19" name="Group 5">
            <a:extLst>
              <a:ext uri="{FF2B5EF4-FFF2-40B4-BE49-F238E27FC236}">
                <a16:creationId xmlns:a16="http://schemas.microsoft.com/office/drawing/2014/main" id="{5E19790E-5837-50A0-7C34-BFBE3B6D76A4}"/>
              </a:ext>
            </a:extLst>
          </p:cNvPr>
          <p:cNvGrpSpPr/>
          <p:nvPr/>
        </p:nvGrpSpPr>
        <p:grpSpPr>
          <a:xfrm>
            <a:off x="18088875" y="-137537"/>
            <a:ext cx="1273129" cy="10562074"/>
            <a:chOff x="0" y="0"/>
            <a:chExt cx="335310" cy="2781781"/>
          </a:xfrm>
        </p:grpSpPr>
        <p:sp>
          <p:nvSpPr>
            <p:cNvPr id="20" name="Freeform 6">
              <a:extLst>
                <a:ext uri="{FF2B5EF4-FFF2-40B4-BE49-F238E27FC236}">
                  <a16:creationId xmlns:a16="http://schemas.microsoft.com/office/drawing/2014/main" id="{C3F2311D-CBAA-859D-CB8F-EACDDFCDEFEA}"/>
                </a:ext>
              </a:extLst>
            </p:cNvPr>
            <p:cNvSpPr/>
            <p:nvPr/>
          </p:nvSpPr>
          <p:spPr>
            <a:xfrm>
              <a:off x="0" y="0"/>
              <a:ext cx="335310" cy="2781781"/>
            </a:xfrm>
            <a:custGeom>
              <a:avLst/>
              <a:gdLst/>
              <a:ahLst/>
              <a:cxnLst/>
              <a:rect l="l" t="t" r="r" b="b"/>
              <a:pathLst>
                <a:path w="335310" h="2781781">
                  <a:moveTo>
                    <a:pt x="0" y="0"/>
                  </a:moveTo>
                  <a:lnTo>
                    <a:pt x="335310" y="0"/>
                  </a:lnTo>
                  <a:lnTo>
                    <a:pt x="335310" y="2781781"/>
                  </a:lnTo>
                  <a:lnTo>
                    <a:pt x="0" y="2781781"/>
                  </a:lnTo>
                  <a:close/>
                </a:path>
              </a:pathLst>
            </a:custGeom>
            <a:solidFill>
              <a:srgbClr val="F5DFDC"/>
            </a:solidFill>
            <a:ln cap="sq">
              <a:noFill/>
              <a:prstDash val="solid"/>
              <a:miter/>
            </a:ln>
          </p:spPr>
          <p:txBody>
            <a:bodyPr/>
            <a:lstStyle/>
            <a:p>
              <a:endParaRPr lang="en-IN"/>
            </a:p>
          </p:txBody>
        </p:sp>
        <p:sp>
          <p:nvSpPr>
            <p:cNvPr id="21" name="TextBox 7">
              <a:extLst>
                <a:ext uri="{FF2B5EF4-FFF2-40B4-BE49-F238E27FC236}">
                  <a16:creationId xmlns:a16="http://schemas.microsoft.com/office/drawing/2014/main" id="{4D7620BE-0025-4BF1-C025-6169A4D8251E}"/>
                </a:ext>
              </a:extLst>
            </p:cNvPr>
            <p:cNvSpPr txBox="1"/>
            <p:nvPr/>
          </p:nvSpPr>
          <p:spPr>
            <a:xfrm>
              <a:off x="0" y="38100"/>
              <a:ext cx="335310" cy="2743681"/>
            </a:xfrm>
            <a:prstGeom prst="rect">
              <a:avLst/>
            </a:prstGeom>
          </p:spPr>
          <p:txBody>
            <a:bodyPr lIns="50800" tIns="50800" rIns="50800" bIns="50800" rtlCol="0" anchor="ctr"/>
            <a:lstStyle/>
            <a:p>
              <a:pPr algn="ctr">
                <a:lnSpc>
                  <a:spcPts val="2100"/>
                </a:lnSpc>
              </a:pPr>
              <a:endParaRPr/>
            </a:p>
          </p:txBody>
        </p:sp>
      </p:grpSp>
      <p:grpSp>
        <p:nvGrpSpPr>
          <p:cNvPr id="16" name="Group 2">
            <a:extLst>
              <a:ext uri="{FF2B5EF4-FFF2-40B4-BE49-F238E27FC236}">
                <a16:creationId xmlns:a16="http://schemas.microsoft.com/office/drawing/2014/main" id="{D9F693E0-467B-EDD0-766D-0EACB5C9630E}"/>
              </a:ext>
            </a:extLst>
          </p:cNvPr>
          <p:cNvGrpSpPr/>
          <p:nvPr/>
        </p:nvGrpSpPr>
        <p:grpSpPr>
          <a:xfrm>
            <a:off x="-998214" y="24260"/>
            <a:ext cx="1273129" cy="10562074"/>
            <a:chOff x="0" y="0"/>
            <a:chExt cx="335310" cy="2781781"/>
          </a:xfrm>
        </p:grpSpPr>
        <p:sp>
          <p:nvSpPr>
            <p:cNvPr id="17" name="Freeform 3">
              <a:extLst>
                <a:ext uri="{FF2B5EF4-FFF2-40B4-BE49-F238E27FC236}">
                  <a16:creationId xmlns:a16="http://schemas.microsoft.com/office/drawing/2014/main" id="{8EDAD59F-8FCC-72C0-8FBC-CD94E4176D51}"/>
                </a:ext>
              </a:extLst>
            </p:cNvPr>
            <p:cNvSpPr/>
            <p:nvPr/>
          </p:nvSpPr>
          <p:spPr>
            <a:xfrm>
              <a:off x="0" y="0"/>
              <a:ext cx="335310" cy="2781781"/>
            </a:xfrm>
            <a:custGeom>
              <a:avLst/>
              <a:gdLst/>
              <a:ahLst/>
              <a:cxnLst/>
              <a:rect l="l" t="t" r="r" b="b"/>
              <a:pathLst>
                <a:path w="335310" h="2781781">
                  <a:moveTo>
                    <a:pt x="0" y="0"/>
                  </a:moveTo>
                  <a:lnTo>
                    <a:pt x="335310" y="0"/>
                  </a:lnTo>
                  <a:lnTo>
                    <a:pt x="335310" y="2781781"/>
                  </a:lnTo>
                  <a:lnTo>
                    <a:pt x="0" y="2781781"/>
                  </a:lnTo>
                  <a:close/>
                </a:path>
              </a:pathLst>
            </a:custGeom>
            <a:solidFill>
              <a:srgbClr val="F5DFDC"/>
            </a:solidFill>
            <a:ln cap="sq">
              <a:noFill/>
              <a:prstDash val="solid"/>
              <a:miter/>
            </a:ln>
          </p:spPr>
          <p:txBody>
            <a:bodyPr/>
            <a:lstStyle/>
            <a:p>
              <a:endParaRPr lang="en-IN"/>
            </a:p>
          </p:txBody>
        </p:sp>
        <p:sp>
          <p:nvSpPr>
            <p:cNvPr id="18" name="TextBox 4">
              <a:extLst>
                <a:ext uri="{FF2B5EF4-FFF2-40B4-BE49-F238E27FC236}">
                  <a16:creationId xmlns:a16="http://schemas.microsoft.com/office/drawing/2014/main" id="{EEDBA16B-6B14-B138-2746-BCA41F32666D}"/>
                </a:ext>
              </a:extLst>
            </p:cNvPr>
            <p:cNvSpPr txBox="1"/>
            <p:nvPr/>
          </p:nvSpPr>
          <p:spPr>
            <a:xfrm>
              <a:off x="0" y="38100"/>
              <a:ext cx="335310" cy="2743681"/>
            </a:xfrm>
            <a:prstGeom prst="rect">
              <a:avLst/>
            </a:prstGeom>
          </p:spPr>
          <p:txBody>
            <a:bodyPr lIns="50800" tIns="50800" rIns="50800" bIns="50800" rtlCol="0" anchor="ctr"/>
            <a:lstStyle/>
            <a:p>
              <a:pPr algn="ctr">
                <a:lnSpc>
                  <a:spcPts val="2100"/>
                </a:lnSpc>
              </a:pPr>
              <a:endParaRPr/>
            </a:p>
          </p:txBody>
        </p:sp>
      </p:grpSp>
      <p:sp>
        <p:nvSpPr>
          <p:cNvPr id="8" name="Freeform 8">
            <a:extLst>
              <a:ext uri="{FF2B5EF4-FFF2-40B4-BE49-F238E27FC236}">
                <a16:creationId xmlns:a16="http://schemas.microsoft.com/office/drawing/2014/main" id="{1035E3C2-083C-4193-05CB-86C7B638DF7F}"/>
              </a:ext>
            </a:extLst>
          </p:cNvPr>
          <p:cNvSpPr/>
          <p:nvPr/>
        </p:nvSpPr>
        <p:spPr>
          <a:xfrm>
            <a:off x="14706600" y="-202510"/>
            <a:ext cx="4521184" cy="1528982"/>
          </a:xfrm>
          <a:custGeom>
            <a:avLst/>
            <a:gdLst/>
            <a:ahLst/>
            <a:cxnLst/>
            <a:rect l="l" t="t" r="r" b="b"/>
            <a:pathLst>
              <a:path w="4521184" h="1528982">
                <a:moveTo>
                  <a:pt x="0" y="0"/>
                </a:moveTo>
                <a:lnTo>
                  <a:pt x="4521184" y="0"/>
                </a:lnTo>
                <a:lnTo>
                  <a:pt x="4521184" y="1528982"/>
                </a:lnTo>
                <a:lnTo>
                  <a:pt x="0" y="152898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9" name="Freeform 9">
            <a:extLst>
              <a:ext uri="{FF2B5EF4-FFF2-40B4-BE49-F238E27FC236}">
                <a16:creationId xmlns:a16="http://schemas.microsoft.com/office/drawing/2014/main" id="{36FEDCF7-8B14-29A4-A7AC-7C8DDB7611CE}"/>
              </a:ext>
            </a:extLst>
          </p:cNvPr>
          <p:cNvSpPr/>
          <p:nvPr/>
        </p:nvSpPr>
        <p:spPr>
          <a:xfrm flipH="1" flipV="1">
            <a:off x="-1128348" y="8895555"/>
            <a:ext cx="4521184" cy="1528982"/>
          </a:xfrm>
          <a:custGeom>
            <a:avLst/>
            <a:gdLst/>
            <a:ahLst/>
            <a:cxnLst/>
            <a:rect l="l" t="t" r="r" b="b"/>
            <a:pathLst>
              <a:path w="4521184" h="1528982">
                <a:moveTo>
                  <a:pt x="4521184" y="1528982"/>
                </a:moveTo>
                <a:lnTo>
                  <a:pt x="0" y="1528982"/>
                </a:lnTo>
                <a:lnTo>
                  <a:pt x="0" y="0"/>
                </a:lnTo>
                <a:lnTo>
                  <a:pt x="4521184" y="0"/>
                </a:lnTo>
                <a:lnTo>
                  <a:pt x="4521184" y="1528982"/>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10" name="Freeform 10">
            <a:extLst>
              <a:ext uri="{FF2B5EF4-FFF2-40B4-BE49-F238E27FC236}">
                <a16:creationId xmlns:a16="http://schemas.microsoft.com/office/drawing/2014/main" id="{2AB58C55-4BA6-6506-31AD-4751803D19D1}"/>
              </a:ext>
            </a:extLst>
          </p:cNvPr>
          <p:cNvSpPr/>
          <p:nvPr/>
        </p:nvSpPr>
        <p:spPr>
          <a:xfrm>
            <a:off x="16459200" y="9182100"/>
            <a:ext cx="2636110" cy="1524151"/>
          </a:xfrm>
          <a:custGeom>
            <a:avLst/>
            <a:gdLst/>
            <a:ahLst/>
            <a:cxnLst/>
            <a:rect l="l" t="t" r="r" b="b"/>
            <a:pathLst>
              <a:path w="2636110" h="1524151">
                <a:moveTo>
                  <a:pt x="0" y="0"/>
                </a:moveTo>
                <a:lnTo>
                  <a:pt x="2636110" y="0"/>
                </a:lnTo>
                <a:lnTo>
                  <a:pt x="2636110" y="1524151"/>
                </a:lnTo>
                <a:lnTo>
                  <a:pt x="0" y="152415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dirty="0"/>
          </a:p>
        </p:txBody>
      </p:sp>
      <p:sp>
        <p:nvSpPr>
          <p:cNvPr id="11" name="Freeform 11">
            <a:extLst>
              <a:ext uri="{FF2B5EF4-FFF2-40B4-BE49-F238E27FC236}">
                <a16:creationId xmlns:a16="http://schemas.microsoft.com/office/drawing/2014/main" id="{36C1E129-55A0-18AE-7FE6-3F65C5AE6F78}"/>
              </a:ext>
            </a:extLst>
          </p:cNvPr>
          <p:cNvSpPr/>
          <p:nvPr/>
        </p:nvSpPr>
        <p:spPr>
          <a:xfrm flipH="1" flipV="1">
            <a:off x="-762000" y="-428776"/>
            <a:ext cx="2636110" cy="1524151"/>
          </a:xfrm>
          <a:custGeom>
            <a:avLst/>
            <a:gdLst/>
            <a:ahLst/>
            <a:cxnLst/>
            <a:rect l="l" t="t" r="r" b="b"/>
            <a:pathLst>
              <a:path w="2636110" h="1524151">
                <a:moveTo>
                  <a:pt x="2636110" y="1524151"/>
                </a:moveTo>
                <a:lnTo>
                  <a:pt x="0" y="1524151"/>
                </a:lnTo>
                <a:lnTo>
                  <a:pt x="0" y="0"/>
                </a:lnTo>
                <a:lnTo>
                  <a:pt x="2636110" y="0"/>
                </a:lnTo>
                <a:lnTo>
                  <a:pt x="2636110" y="1524151"/>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dirty="0"/>
          </a:p>
        </p:txBody>
      </p:sp>
      <p:sp>
        <p:nvSpPr>
          <p:cNvPr id="24" name="TextBox 23">
            <a:extLst>
              <a:ext uri="{FF2B5EF4-FFF2-40B4-BE49-F238E27FC236}">
                <a16:creationId xmlns:a16="http://schemas.microsoft.com/office/drawing/2014/main" id="{DC60A2DF-51DB-75DA-4CCA-81B2A2D56218}"/>
              </a:ext>
            </a:extLst>
          </p:cNvPr>
          <p:cNvSpPr txBox="1"/>
          <p:nvPr/>
        </p:nvSpPr>
        <p:spPr>
          <a:xfrm>
            <a:off x="1849016" y="3510420"/>
            <a:ext cx="14325600" cy="2043636"/>
          </a:xfrm>
          <a:prstGeom prst="rect">
            <a:avLst/>
          </a:prstGeom>
          <a:noFill/>
        </p:spPr>
        <p:txBody>
          <a:bodyPr wrap="square" rtlCol="0">
            <a:spAutoFit/>
          </a:bodyPr>
          <a:lstStyle/>
          <a:p>
            <a:pPr marL="1371600" lvl="2" indent="-457200" algn="just">
              <a:spcAft>
                <a:spcPts val="800"/>
              </a:spcAft>
              <a:buFont typeface="Arial" panose="020B0604020202020204" pitchFamily="34" charset="0"/>
              <a:buChar char="•"/>
            </a:pPr>
            <a:r>
              <a:rPr lang="en-US" sz="3170" dirty="0"/>
              <a:t>To propose an efficient HPC-based parallel implementation for large-scale matrix multiplication operations in CNN-based brain tumor detection to reduce execution time and improve computational efficiency using OpenMP-based parallelization</a:t>
            </a:r>
          </a:p>
        </p:txBody>
      </p:sp>
      <p:sp>
        <p:nvSpPr>
          <p:cNvPr id="25" name="TextBox 24">
            <a:extLst>
              <a:ext uri="{FF2B5EF4-FFF2-40B4-BE49-F238E27FC236}">
                <a16:creationId xmlns:a16="http://schemas.microsoft.com/office/drawing/2014/main" id="{A355693E-41F7-26CF-0039-08E579BD7321}"/>
              </a:ext>
            </a:extLst>
          </p:cNvPr>
          <p:cNvSpPr txBox="1"/>
          <p:nvPr/>
        </p:nvSpPr>
        <p:spPr>
          <a:xfrm>
            <a:off x="2189174" y="1638300"/>
            <a:ext cx="5547360" cy="907941"/>
          </a:xfrm>
          <a:prstGeom prst="rect">
            <a:avLst/>
          </a:prstGeom>
          <a:noFill/>
        </p:spPr>
        <p:txBody>
          <a:bodyPr wrap="square" rtlCol="0">
            <a:spAutoFit/>
          </a:bodyPr>
          <a:lstStyle/>
          <a:p>
            <a:r>
              <a:rPr lang="en-IN" sz="5300" dirty="0">
                <a:effectLst>
                  <a:outerShdw blurRad="38100" dist="38100" dir="2700000" algn="tl">
                    <a:srgbClr val="000000">
                      <a:alpha val="43137"/>
                    </a:srgbClr>
                  </a:outerShdw>
                </a:effectLst>
                <a:latin typeface="+mj-lt"/>
              </a:rPr>
              <a:t>Problem Statement</a:t>
            </a:r>
          </a:p>
        </p:txBody>
      </p:sp>
      <p:sp>
        <p:nvSpPr>
          <p:cNvPr id="7" name="TextBox 6">
            <a:extLst>
              <a:ext uri="{FF2B5EF4-FFF2-40B4-BE49-F238E27FC236}">
                <a16:creationId xmlns:a16="http://schemas.microsoft.com/office/drawing/2014/main" id="{775CD4F0-39FA-C68A-5DF2-6BBE5FD1E57B}"/>
              </a:ext>
            </a:extLst>
          </p:cNvPr>
          <p:cNvSpPr txBox="1"/>
          <p:nvPr/>
        </p:nvSpPr>
        <p:spPr>
          <a:xfrm>
            <a:off x="9011816" y="9177494"/>
            <a:ext cx="340158" cy="461665"/>
          </a:xfrm>
          <a:prstGeom prst="rect">
            <a:avLst/>
          </a:prstGeom>
          <a:noFill/>
        </p:spPr>
        <p:txBody>
          <a:bodyPr wrap="none" rtlCol="0">
            <a:spAutoFit/>
          </a:bodyPr>
          <a:lstStyle/>
          <a:p>
            <a:r>
              <a:rPr lang="en-IN" sz="2400" dirty="0">
                <a:solidFill>
                  <a:schemeClr val="tx1">
                    <a:lumMod val="65000"/>
                    <a:lumOff val="35000"/>
                  </a:schemeClr>
                </a:solidFill>
              </a:rPr>
              <a:t>4</a:t>
            </a:r>
          </a:p>
        </p:txBody>
      </p:sp>
    </p:spTree>
    <p:extLst>
      <p:ext uri="{BB962C8B-B14F-4D97-AF65-F5344CB8AC3E}">
        <p14:creationId xmlns:p14="http://schemas.microsoft.com/office/powerpoint/2010/main" val="27230991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725A77-30A8-58D9-B4B1-C235ECC82B82}"/>
            </a:ext>
          </a:extLst>
        </p:cNvPr>
        <p:cNvGrpSpPr/>
        <p:nvPr/>
      </p:nvGrpSpPr>
      <p:grpSpPr>
        <a:xfrm>
          <a:off x="0" y="0"/>
          <a:ext cx="0" cy="0"/>
          <a:chOff x="0" y="0"/>
          <a:chExt cx="0" cy="0"/>
        </a:xfrm>
      </p:grpSpPr>
      <p:grpSp>
        <p:nvGrpSpPr>
          <p:cNvPr id="19" name="Group 5">
            <a:extLst>
              <a:ext uri="{FF2B5EF4-FFF2-40B4-BE49-F238E27FC236}">
                <a16:creationId xmlns:a16="http://schemas.microsoft.com/office/drawing/2014/main" id="{9D31FE4A-D9A7-34EE-88AA-D6DF0191AA52}"/>
              </a:ext>
            </a:extLst>
          </p:cNvPr>
          <p:cNvGrpSpPr/>
          <p:nvPr/>
        </p:nvGrpSpPr>
        <p:grpSpPr>
          <a:xfrm>
            <a:off x="18088875" y="-137537"/>
            <a:ext cx="1273129" cy="10562074"/>
            <a:chOff x="0" y="0"/>
            <a:chExt cx="335310" cy="2781781"/>
          </a:xfrm>
        </p:grpSpPr>
        <p:sp>
          <p:nvSpPr>
            <p:cNvPr id="20" name="Freeform 6">
              <a:extLst>
                <a:ext uri="{FF2B5EF4-FFF2-40B4-BE49-F238E27FC236}">
                  <a16:creationId xmlns:a16="http://schemas.microsoft.com/office/drawing/2014/main" id="{DF3598F2-ABC4-686D-FD9B-7E1F3525EE94}"/>
                </a:ext>
              </a:extLst>
            </p:cNvPr>
            <p:cNvSpPr/>
            <p:nvPr/>
          </p:nvSpPr>
          <p:spPr>
            <a:xfrm>
              <a:off x="0" y="0"/>
              <a:ext cx="335310" cy="2781781"/>
            </a:xfrm>
            <a:custGeom>
              <a:avLst/>
              <a:gdLst/>
              <a:ahLst/>
              <a:cxnLst/>
              <a:rect l="l" t="t" r="r" b="b"/>
              <a:pathLst>
                <a:path w="335310" h="2781781">
                  <a:moveTo>
                    <a:pt x="0" y="0"/>
                  </a:moveTo>
                  <a:lnTo>
                    <a:pt x="335310" y="0"/>
                  </a:lnTo>
                  <a:lnTo>
                    <a:pt x="335310" y="2781781"/>
                  </a:lnTo>
                  <a:lnTo>
                    <a:pt x="0" y="2781781"/>
                  </a:lnTo>
                  <a:close/>
                </a:path>
              </a:pathLst>
            </a:custGeom>
            <a:solidFill>
              <a:srgbClr val="F5DFDC"/>
            </a:solidFill>
            <a:ln cap="sq">
              <a:noFill/>
              <a:prstDash val="solid"/>
              <a:miter/>
            </a:ln>
          </p:spPr>
          <p:txBody>
            <a:bodyPr/>
            <a:lstStyle/>
            <a:p>
              <a:endParaRPr lang="en-IN"/>
            </a:p>
          </p:txBody>
        </p:sp>
        <p:sp>
          <p:nvSpPr>
            <p:cNvPr id="21" name="TextBox 7">
              <a:extLst>
                <a:ext uri="{FF2B5EF4-FFF2-40B4-BE49-F238E27FC236}">
                  <a16:creationId xmlns:a16="http://schemas.microsoft.com/office/drawing/2014/main" id="{E9C98E17-8A48-552B-AAC4-D744E50E2FD0}"/>
                </a:ext>
              </a:extLst>
            </p:cNvPr>
            <p:cNvSpPr txBox="1"/>
            <p:nvPr/>
          </p:nvSpPr>
          <p:spPr>
            <a:xfrm>
              <a:off x="0" y="38100"/>
              <a:ext cx="335310" cy="2743681"/>
            </a:xfrm>
            <a:prstGeom prst="rect">
              <a:avLst/>
            </a:prstGeom>
          </p:spPr>
          <p:txBody>
            <a:bodyPr lIns="50800" tIns="50800" rIns="50800" bIns="50800" rtlCol="0" anchor="ctr"/>
            <a:lstStyle/>
            <a:p>
              <a:pPr algn="ctr">
                <a:lnSpc>
                  <a:spcPts val="2100"/>
                </a:lnSpc>
              </a:pPr>
              <a:endParaRPr/>
            </a:p>
          </p:txBody>
        </p:sp>
      </p:grpSp>
      <p:grpSp>
        <p:nvGrpSpPr>
          <p:cNvPr id="16" name="Group 2">
            <a:extLst>
              <a:ext uri="{FF2B5EF4-FFF2-40B4-BE49-F238E27FC236}">
                <a16:creationId xmlns:a16="http://schemas.microsoft.com/office/drawing/2014/main" id="{A6C1FDCC-220D-8F8C-F66C-3FFBBCC9C766}"/>
              </a:ext>
            </a:extLst>
          </p:cNvPr>
          <p:cNvGrpSpPr/>
          <p:nvPr/>
        </p:nvGrpSpPr>
        <p:grpSpPr>
          <a:xfrm>
            <a:off x="-998214" y="24260"/>
            <a:ext cx="1273129" cy="10562074"/>
            <a:chOff x="0" y="0"/>
            <a:chExt cx="335310" cy="2781781"/>
          </a:xfrm>
        </p:grpSpPr>
        <p:sp>
          <p:nvSpPr>
            <p:cNvPr id="17" name="Freeform 3">
              <a:extLst>
                <a:ext uri="{FF2B5EF4-FFF2-40B4-BE49-F238E27FC236}">
                  <a16:creationId xmlns:a16="http://schemas.microsoft.com/office/drawing/2014/main" id="{F8B58232-B875-1125-4103-69AB93F4974B}"/>
                </a:ext>
              </a:extLst>
            </p:cNvPr>
            <p:cNvSpPr/>
            <p:nvPr/>
          </p:nvSpPr>
          <p:spPr>
            <a:xfrm>
              <a:off x="0" y="0"/>
              <a:ext cx="335310" cy="2781781"/>
            </a:xfrm>
            <a:custGeom>
              <a:avLst/>
              <a:gdLst/>
              <a:ahLst/>
              <a:cxnLst/>
              <a:rect l="l" t="t" r="r" b="b"/>
              <a:pathLst>
                <a:path w="335310" h="2781781">
                  <a:moveTo>
                    <a:pt x="0" y="0"/>
                  </a:moveTo>
                  <a:lnTo>
                    <a:pt x="335310" y="0"/>
                  </a:lnTo>
                  <a:lnTo>
                    <a:pt x="335310" y="2781781"/>
                  </a:lnTo>
                  <a:lnTo>
                    <a:pt x="0" y="2781781"/>
                  </a:lnTo>
                  <a:close/>
                </a:path>
              </a:pathLst>
            </a:custGeom>
            <a:solidFill>
              <a:srgbClr val="F5DFDC"/>
            </a:solidFill>
            <a:ln cap="sq">
              <a:noFill/>
              <a:prstDash val="solid"/>
              <a:miter/>
            </a:ln>
          </p:spPr>
          <p:txBody>
            <a:bodyPr/>
            <a:lstStyle/>
            <a:p>
              <a:endParaRPr lang="en-IN"/>
            </a:p>
          </p:txBody>
        </p:sp>
        <p:sp>
          <p:nvSpPr>
            <p:cNvPr id="18" name="TextBox 4">
              <a:extLst>
                <a:ext uri="{FF2B5EF4-FFF2-40B4-BE49-F238E27FC236}">
                  <a16:creationId xmlns:a16="http://schemas.microsoft.com/office/drawing/2014/main" id="{B17A1975-BAFE-898E-8912-2C6D0B005455}"/>
                </a:ext>
              </a:extLst>
            </p:cNvPr>
            <p:cNvSpPr txBox="1"/>
            <p:nvPr/>
          </p:nvSpPr>
          <p:spPr>
            <a:xfrm>
              <a:off x="0" y="38100"/>
              <a:ext cx="335310" cy="2743681"/>
            </a:xfrm>
            <a:prstGeom prst="rect">
              <a:avLst/>
            </a:prstGeom>
          </p:spPr>
          <p:txBody>
            <a:bodyPr lIns="50800" tIns="50800" rIns="50800" bIns="50800" rtlCol="0" anchor="ctr"/>
            <a:lstStyle/>
            <a:p>
              <a:pPr algn="ctr">
                <a:lnSpc>
                  <a:spcPts val="2100"/>
                </a:lnSpc>
              </a:pPr>
              <a:endParaRPr/>
            </a:p>
          </p:txBody>
        </p:sp>
      </p:grpSp>
      <p:sp>
        <p:nvSpPr>
          <p:cNvPr id="8" name="Freeform 8">
            <a:extLst>
              <a:ext uri="{FF2B5EF4-FFF2-40B4-BE49-F238E27FC236}">
                <a16:creationId xmlns:a16="http://schemas.microsoft.com/office/drawing/2014/main" id="{7A9BCA9B-8385-4EA2-1BF2-7F7B929A38F9}"/>
              </a:ext>
            </a:extLst>
          </p:cNvPr>
          <p:cNvSpPr/>
          <p:nvPr/>
        </p:nvSpPr>
        <p:spPr>
          <a:xfrm>
            <a:off x="14706600" y="-202510"/>
            <a:ext cx="4521184" cy="1528982"/>
          </a:xfrm>
          <a:custGeom>
            <a:avLst/>
            <a:gdLst/>
            <a:ahLst/>
            <a:cxnLst/>
            <a:rect l="l" t="t" r="r" b="b"/>
            <a:pathLst>
              <a:path w="4521184" h="1528982">
                <a:moveTo>
                  <a:pt x="0" y="0"/>
                </a:moveTo>
                <a:lnTo>
                  <a:pt x="4521184" y="0"/>
                </a:lnTo>
                <a:lnTo>
                  <a:pt x="4521184" y="1528982"/>
                </a:lnTo>
                <a:lnTo>
                  <a:pt x="0" y="152898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9" name="Freeform 9">
            <a:extLst>
              <a:ext uri="{FF2B5EF4-FFF2-40B4-BE49-F238E27FC236}">
                <a16:creationId xmlns:a16="http://schemas.microsoft.com/office/drawing/2014/main" id="{EEA153F7-CB48-05CD-8B00-74D2D0CF8552}"/>
              </a:ext>
            </a:extLst>
          </p:cNvPr>
          <p:cNvSpPr/>
          <p:nvPr/>
        </p:nvSpPr>
        <p:spPr>
          <a:xfrm flipH="1" flipV="1">
            <a:off x="-1128348" y="8895555"/>
            <a:ext cx="4521184" cy="1528982"/>
          </a:xfrm>
          <a:custGeom>
            <a:avLst/>
            <a:gdLst/>
            <a:ahLst/>
            <a:cxnLst/>
            <a:rect l="l" t="t" r="r" b="b"/>
            <a:pathLst>
              <a:path w="4521184" h="1528982">
                <a:moveTo>
                  <a:pt x="4521184" y="1528982"/>
                </a:moveTo>
                <a:lnTo>
                  <a:pt x="0" y="1528982"/>
                </a:lnTo>
                <a:lnTo>
                  <a:pt x="0" y="0"/>
                </a:lnTo>
                <a:lnTo>
                  <a:pt x="4521184" y="0"/>
                </a:lnTo>
                <a:lnTo>
                  <a:pt x="4521184" y="1528982"/>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10" name="Freeform 10">
            <a:extLst>
              <a:ext uri="{FF2B5EF4-FFF2-40B4-BE49-F238E27FC236}">
                <a16:creationId xmlns:a16="http://schemas.microsoft.com/office/drawing/2014/main" id="{FCCE3AAA-B6D6-80BA-9ECB-B26D3D6F7EAC}"/>
              </a:ext>
            </a:extLst>
          </p:cNvPr>
          <p:cNvSpPr/>
          <p:nvPr/>
        </p:nvSpPr>
        <p:spPr>
          <a:xfrm>
            <a:off x="16459200" y="9182100"/>
            <a:ext cx="2636110" cy="1524151"/>
          </a:xfrm>
          <a:custGeom>
            <a:avLst/>
            <a:gdLst/>
            <a:ahLst/>
            <a:cxnLst/>
            <a:rect l="l" t="t" r="r" b="b"/>
            <a:pathLst>
              <a:path w="2636110" h="1524151">
                <a:moveTo>
                  <a:pt x="0" y="0"/>
                </a:moveTo>
                <a:lnTo>
                  <a:pt x="2636110" y="0"/>
                </a:lnTo>
                <a:lnTo>
                  <a:pt x="2636110" y="1524151"/>
                </a:lnTo>
                <a:lnTo>
                  <a:pt x="0" y="152415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dirty="0"/>
          </a:p>
        </p:txBody>
      </p:sp>
      <p:sp>
        <p:nvSpPr>
          <p:cNvPr id="11" name="Freeform 11">
            <a:extLst>
              <a:ext uri="{FF2B5EF4-FFF2-40B4-BE49-F238E27FC236}">
                <a16:creationId xmlns:a16="http://schemas.microsoft.com/office/drawing/2014/main" id="{D99E08C8-C1CC-4AF5-C66A-B590A012AD41}"/>
              </a:ext>
            </a:extLst>
          </p:cNvPr>
          <p:cNvSpPr/>
          <p:nvPr/>
        </p:nvSpPr>
        <p:spPr>
          <a:xfrm flipH="1" flipV="1">
            <a:off x="-762000" y="-428776"/>
            <a:ext cx="2636110" cy="1524151"/>
          </a:xfrm>
          <a:custGeom>
            <a:avLst/>
            <a:gdLst/>
            <a:ahLst/>
            <a:cxnLst/>
            <a:rect l="l" t="t" r="r" b="b"/>
            <a:pathLst>
              <a:path w="2636110" h="1524151">
                <a:moveTo>
                  <a:pt x="2636110" y="1524151"/>
                </a:moveTo>
                <a:lnTo>
                  <a:pt x="0" y="1524151"/>
                </a:lnTo>
                <a:lnTo>
                  <a:pt x="0" y="0"/>
                </a:lnTo>
                <a:lnTo>
                  <a:pt x="2636110" y="0"/>
                </a:lnTo>
                <a:lnTo>
                  <a:pt x="2636110" y="1524151"/>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dirty="0"/>
          </a:p>
        </p:txBody>
      </p:sp>
      <p:sp>
        <p:nvSpPr>
          <p:cNvPr id="24" name="TextBox 23">
            <a:extLst>
              <a:ext uri="{FF2B5EF4-FFF2-40B4-BE49-F238E27FC236}">
                <a16:creationId xmlns:a16="http://schemas.microsoft.com/office/drawing/2014/main" id="{48C090DB-497C-9F51-62D7-DB84A86B4436}"/>
              </a:ext>
            </a:extLst>
          </p:cNvPr>
          <p:cNvSpPr txBox="1"/>
          <p:nvPr/>
        </p:nvSpPr>
        <p:spPr>
          <a:xfrm>
            <a:off x="1843630" y="3009900"/>
            <a:ext cx="14325600" cy="3404009"/>
          </a:xfrm>
          <a:prstGeom prst="rect">
            <a:avLst/>
          </a:prstGeom>
          <a:noFill/>
        </p:spPr>
        <p:txBody>
          <a:bodyPr wrap="square" rtlCol="0">
            <a:spAutoFit/>
          </a:bodyPr>
          <a:lstStyle/>
          <a:p>
            <a:pPr marL="1371600" lvl="2" indent="-457200" algn="just">
              <a:spcAft>
                <a:spcPts val="600"/>
              </a:spcAft>
              <a:buFont typeface="Arial" panose="020B0604020202020204" pitchFamily="34" charset="0"/>
              <a:buChar char="•"/>
            </a:pPr>
            <a:r>
              <a:rPr lang="en-US" sz="3200" dirty="0"/>
              <a:t>Brain tumor detection requires accurate and timely analysis.</a:t>
            </a:r>
          </a:p>
          <a:p>
            <a:pPr marL="1371600" lvl="2" indent="-457200" algn="just">
              <a:spcAft>
                <a:spcPts val="600"/>
              </a:spcAft>
              <a:buFont typeface="Arial" panose="020B0604020202020204" pitchFamily="34" charset="0"/>
              <a:buChar char="•"/>
            </a:pPr>
            <a:r>
              <a:rPr lang="en-US" sz="3200" dirty="0"/>
              <a:t>MRI images generate large amounts of data, making manual analysis difficult.</a:t>
            </a:r>
          </a:p>
          <a:p>
            <a:pPr marL="1371600" lvl="2" indent="-457200" algn="just">
              <a:spcAft>
                <a:spcPts val="600"/>
              </a:spcAft>
              <a:buFont typeface="Arial" panose="020B0604020202020204" pitchFamily="34" charset="0"/>
              <a:buChar char="•"/>
            </a:pPr>
            <a:r>
              <a:rPr lang="en-US" sz="3200" dirty="0"/>
              <a:t>CNNs improve detection accuracy but involve heavy computations.</a:t>
            </a:r>
          </a:p>
          <a:p>
            <a:pPr marL="1371600" lvl="2" indent="-457200" algn="just">
              <a:spcAft>
                <a:spcPts val="600"/>
              </a:spcAft>
              <a:buFont typeface="Arial" panose="020B0604020202020204" pitchFamily="34" charset="0"/>
              <a:buChar char="•"/>
            </a:pPr>
            <a:r>
              <a:rPr lang="en-US" sz="3200" dirty="0"/>
              <a:t>Convolution operations are computationally intensive in CNNs.</a:t>
            </a:r>
          </a:p>
          <a:p>
            <a:pPr marL="1371600" lvl="2" indent="-457200" algn="just">
              <a:spcAft>
                <a:spcPts val="600"/>
              </a:spcAft>
              <a:buFont typeface="Arial" panose="020B0604020202020204" pitchFamily="34" charset="0"/>
              <a:buChar char="•"/>
            </a:pPr>
            <a:r>
              <a:rPr lang="en-US" sz="3200" dirty="0"/>
              <a:t>Increasing image size and filters further increases processing time.</a:t>
            </a:r>
          </a:p>
          <a:p>
            <a:pPr marL="1371600" lvl="2" indent="-457200" algn="just">
              <a:spcAft>
                <a:spcPts val="600"/>
              </a:spcAft>
              <a:buFont typeface="Arial" panose="020B0604020202020204" pitchFamily="34" charset="0"/>
              <a:buChar char="•"/>
            </a:pPr>
            <a:r>
              <a:rPr lang="en-US" sz="3200" dirty="0"/>
              <a:t>There is a need to optimize these computations for better performance.</a:t>
            </a:r>
          </a:p>
        </p:txBody>
      </p:sp>
      <p:sp>
        <p:nvSpPr>
          <p:cNvPr id="25" name="TextBox 24">
            <a:extLst>
              <a:ext uri="{FF2B5EF4-FFF2-40B4-BE49-F238E27FC236}">
                <a16:creationId xmlns:a16="http://schemas.microsoft.com/office/drawing/2014/main" id="{906B29B5-D879-4651-3410-9C582DE23EDC}"/>
              </a:ext>
            </a:extLst>
          </p:cNvPr>
          <p:cNvSpPr txBox="1"/>
          <p:nvPr/>
        </p:nvSpPr>
        <p:spPr>
          <a:xfrm>
            <a:off x="2189174" y="1638300"/>
            <a:ext cx="5547360" cy="907941"/>
          </a:xfrm>
          <a:prstGeom prst="rect">
            <a:avLst/>
          </a:prstGeom>
          <a:noFill/>
        </p:spPr>
        <p:txBody>
          <a:bodyPr wrap="square" rtlCol="0">
            <a:spAutoFit/>
          </a:bodyPr>
          <a:lstStyle/>
          <a:p>
            <a:r>
              <a:rPr lang="en-IN" sz="5300" dirty="0">
                <a:effectLst>
                  <a:outerShdw blurRad="38100" dist="38100" dir="2700000" algn="tl">
                    <a:srgbClr val="000000">
                      <a:alpha val="43137"/>
                    </a:srgbClr>
                  </a:outerShdw>
                </a:effectLst>
                <a:latin typeface="+mj-lt"/>
              </a:rPr>
              <a:t>Motivation</a:t>
            </a:r>
          </a:p>
        </p:txBody>
      </p:sp>
      <p:sp>
        <p:nvSpPr>
          <p:cNvPr id="7" name="TextBox 6">
            <a:extLst>
              <a:ext uri="{FF2B5EF4-FFF2-40B4-BE49-F238E27FC236}">
                <a16:creationId xmlns:a16="http://schemas.microsoft.com/office/drawing/2014/main" id="{2E3C3B67-B857-49BA-78B3-B6BFDEC4FD57}"/>
              </a:ext>
            </a:extLst>
          </p:cNvPr>
          <p:cNvSpPr txBox="1"/>
          <p:nvPr/>
        </p:nvSpPr>
        <p:spPr>
          <a:xfrm>
            <a:off x="9011816" y="9177494"/>
            <a:ext cx="340158" cy="461665"/>
          </a:xfrm>
          <a:prstGeom prst="rect">
            <a:avLst/>
          </a:prstGeom>
          <a:noFill/>
        </p:spPr>
        <p:txBody>
          <a:bodyPr wrap="none" rtlCol="0">
            <a:spAutoFit/>
          </a:bodyPr>
          <a:lstStyle/>
          <a:p>
            <a:r>
              <a:rPr lang="en-IN" sz="2400" dirty="0">
                <a:solidFill>
                  <a:schemeClr val="tx1">
                    <a:lumMod val="65000"/>
                    <a:lumOff val="35000"/>
                  </a:schemeClr>
                </a:solidFill>
              </a:rPr>
              <a:t>5</a:t>
            </a:r>
          </a:p>
        </p:txBody>
      </p:sp>
    </p:spTree>
    <p:extLst>
      <p:ext uri="{BB962C8B-B14F-4D97-AF65-F5344CB8AC3E}">
        <p14:creationId xmlns:p14="http://schemas.microsoft.com/office/powerpoint/2010/main" val="37042047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091F7E-1F04-1FA8-30EF-B21B9D60E00C}"/>
            </a:ext>
          </a:extLst>
        </p:cNvPr>
        <p:cNvGrpSpPr/>
        <p:nvPr/>
      </p:nvGrpSpPr>
      <p:grpSpPr>
        <a:xfrm>
          <a:off x="0" y="0"/>
          <a:ext cx="0" cy="0"/>
          <a:chOff x="0" y="0"/>
          <a:chExt cx="0" cy="0"/>
        </a:xfrm>
      </p:grpSpPr>
      <p:grpSp>
        <p:nvGrpSpPr>
          <p:cNvPr id="19" name="Group 5">
            <a:extLst>
              <a:ext uri="{FF2B5EF4-FFF2-40B4-BE49-F238E27FC236}">
                <a16:creationId xmlns:a16="http://schemas.microsoft.com/office/drawing/2014/main" id="{F378E9D5-56AF-9AF9-6AA7-FC7E32AC075E}"/>
              </a:ext>
            </a:extLst>
          </p:cNvPr>
          <p:cNvGrpSpPr/>
          <p:nvPr/>
        </p:nvGrpSpPr>
        <p:grpSpPr>
          <a:xfrm>
            <a:off x="18088875" y="-137537"/>
            <a:ext cx="1273129" cy="10562074"/>
            <a:chOff x="0" y="0"/>
            <a:chExt cx="335310" cy="2781781"/>
          </a:xfrm>
        </p:grpSpPr>
        <p:sp>
          <p:nvSpPr>
            <p:cNvPr id="20" name="Freeform 6">
              <a:extLst>
                <a:ext uri="{FF2B5EF4-FFF2-40B4-BE49-F238E27FC236}">
                  <a16:creationId xmlns:a16="http://schemas.microsoft.com/office/drawing/2014/main" id="{290501CC-1F31-149B-E48D-A92291153074}"/>
                </a:ext>
              </a:extLst>
            </p:cNvPr>
            <p:cNvSpPr/>
            <p:nvPr/>
          </p:nvSpPr>
          <p:spPr>
            <a:xfrm>
              <a:off x="0" y="0"/>
              <a:ext cx="335310" cy="2781781"/>
            </a:xfrm>
            <a:custGeom>
              <a:avLst/>
              <a:gdLst/>
              <a:ahLst/>
              <a:cxnLst/>
              <a:rect l="l" t="t" r="r" b="b"/>
              <a:pathLst>
                <a:path w="335310" h="2781781">
                  <a:moveTo>
                    <a:pt x="0" y="0"/>
                  </a:moveTo>
                  <a:lnTo>
                    <a:pt x="335310" y="0"/>
                  </a:lnTo>
                  <a:lnTo>
                    <a:pt x="335310" y="2781781"/>
                  </a:lnTo>
                  <a:lnTo>
                    <a:pt x="0" y="2781781"/>
                  </a:lnTo>
                  <a:close/>
                </a:path>
              </a:pathLst>
            </a:custGeom>
            <a:solidFill>
              <a:srgbClr val="F5DFDC"/>
            </a:solidFill>
            <a:ln cap="sq">
              <a:noFill/>
              <a:prstDash val="solid"/>
              <a:miter/>
            </a:ln>
          </p:spPr>
          <p:txBody>
            <a:bodyPr/>
            <a:lstStyle/>
            <a:p>
              <a:endParaRPr lang="en-IN"/>
            </a:p>
          </p:txBody>
        </p:sp>
        <p:sp>
          <p:nvSpPr>
            <p:cNvPr id="21" name="TextBox 7">
              <a:extLst>
                <a:ext uri="{FF2B5EF4-FFF2-40B4-BE49-F238E27FC236}">
                  <a16:creationId xmlns:a16="http://schemas.microsoft.com/office/drawing/2014/main" id="{AD3C64C6-F7FB-133A-D1A0-CAD136604A5B}"/>
                </a:ext>
              </a:extLst>
            </p:cNvPr>
            <p:cNvSpPr txBox="1"/>
            <p:nvPr/>
          </p:nvSpPr>
          <p:spPr>
            <a:xfrm>
              <a:off x="0" y="38100"/>
              <a:ext cx="335310" cy="2743681"/>
            </a:xfrm>
            <a:prstGeom prst="rect">
              <a:avLst/>
            </a:prstGeom>
          </p:spPr>
          <p:txBody>
            <a:bodyPr lIns="50800" tIns="50800" rIns="50800" bIns="50800" rtlCol="0" anchor="ctr"/>
            <a:lstStyle/>
            <a:p>
              <a:pPr algn="ctr">
                <a:lnSpc>
                  <a:spcPts val="2100"/>
                </a:lnSpc>
              </a:pPr>
              <a:endParaRPr/>
            </a:p>
          </p:txBody>
        </p:sp>
      </p:grpSp>
      <p:grpSp>
        <p:nvGrpSpPr>
          <p:cNvPr id="16" name="Group 2">
            <a:extLst>
              <a:ext uri="{FF2B5EF4-FFF2-40B4-BE49-F238E27FC236}">
                <a16:creationId xmlns:a16="http://schemas.microsoft.com/office/drawing/2014/main" id="{D0D40A78-B236-429A-09BD-FC39209FABE9}"/>
              </a:ext>
            </a:extLst>
          </p:cNvPr>
          <p:cNvGrpSpPr/>
          <p:nvPr/>
        </p:nvGrpSpPr>
        <p:grpSpPr>
          <a:xfrm>
            <a:off x="-998214" y="67826"/>
            <a:ext cx="1273129" cy="10562074"/>
            <a:chOff x="0" y="0"/>
            <a:chExt cx="335310" cy="2781781"/>
          </a:xfrm>
        </p:grpSpPr>
        <p:sp>
          <p:nvSpPr>
            <p:cNvPr id="17" name="Freeform 3">
              <a:extLst>
                <a:ext uri="{FF2B5EF4-FFF2-40B4-BE49-F238E27FC236}">
                  <a16:creationId xmlns:a16="http://schemas.microsoft.com/office/drawing/2014/main" id="{6E4F5678-07C1-CDE6-FD59-483354CB4B05}"/>
                </a:ext>
              </a:extLst>
            </p:cNvPr>
            <p:cNvSpPr/>
            <p:nvPr/>
          </p:nvSpPr>
          <p:spPr>
            <a:xfrm>
              <a:off x="0" y="0"/>
              <a:ext cx="335310" cy="2781781"/>
            </a:xfrm>
            <a:custGeom>
              <a:avLst/>
              <a:gdLst/>
              <a:ahLst/>
              <a:cxnLst/>
              <a:rect l="l" t="t" r="r" b="b"/>
              <a:pathLst>
                <a:path w="335310" h="2781781">
                  <a:moveTo>
                    <a:pt x="0" y="0"/>
                  </a:moveTo>
                  <a:lnTo>
                    <a:pt x="335310" y="0"/>
                  </a:lnTo>
                  <a:lnTo>
                    <a:pt x="335310" y="2781781"/>
                  </a:lnTo>
                  <a:lnTo>
                    <a:pt x="0" y="2781781"/>
                  </a:lnTo>
                  <a:close/>
                </a:path>
              </a:pathLst>
            </a:custGeom>
            <a:solidFill>
              <a:srgbClr val="F5DFDC"/>
            </a:solidFill>
            <a:ln cap="sq">
              <a:noFill/>
              <a:prstDash val="solid"/>
              <a:miter/>
            </a:ln>
          </p:spPr>
          <p:txBody>
            <a:bodyPr/>
            <a:lstStyle/>
            <a:p>
              <a:endParaRPr lang="en-IN"/>
            </a:p>
          </p:txBody>
        </p:sp>
        <p:sp>
          <p:nvSpPr>
            <p:cNvPr id="18" name="TextBox 4">
              <a:extLst>
                <a:ext uri="{FF2B5EF4-FFF2-40B4-BE49-F238E27FC236}">
                  <a16:creationId xmlns:a16="http://schemas.microsoft.com/office/drawing/2014/main" id="{AD1BEBAE-2A61-1CDB-5AA9-C535A550545E}"/>
                </a:ext>
              </a:extLst>
            </p:cNvPr>
            <p:cNvSpPr txBox="1"/>
            <p:nvPr/>
          </p:nvSpPr>
          <p:spPr>
            <a:xfrm>
              <a:off x="0" y="38100"/>
              <a:ext cx="335310" cy="2743681"/>
            </a:xfrm>
            <a:prstGeom prst="rect">
              <a:avLst/>
            </a:prstGeom>
          </p:spPr>
          <p:txBody>
            <a:bodyPr lIns="50800" tIns="50800" rIns="50800" bIns="50800" rtlCol="0" anchor="ctr"/>
            <a:lstStyle/>
            <a:p>
              <a:pPr algn="ctr">
                <a:lnSpc>
                  <a:spcPts val="2100"/>
                </a:lnSpc>
              </a:pPr>
              <a:endParaRPr/>
            </a:p>
          </p:txBody>
        </p:sp>
      </p:grpSp>
      <p:sp>
        <p:nvSpPr>
          <p:cNvPr id="8" name="Freeform 8">
            <a:extLst>
              <a:ext uri="{FF2B5EF4-FFF2-40B4-BE49-F238E27FC236}">
                <a16:creationId xmlns:a16="http://schemas.microsoft.com/office/drawing/2014/main" id="{79B8ED74-5CBC-0D7D-370B-AD36B16E7D25}"/>
              </a:ext>
            </a:extLst>
          </p:cNvPr>
          <p:cNvSpPr/>
          <p:nvPr/>
        </p:nvSpPr>
        <p:spPr>
          <a:xfrm>
            <a:off x="14706600" y="-202510"/>
            <a:ext cx="4521184" cy="1528982"/>
          </a:xfrm>
          <a:custGeom>
            <a:avLst/>
            <a:gdLst/>
            <a:ahLst/>
            <a:cxnLst/>
            <a:rect l="l" t="t" r="r" b="b"/>
            <a:pathLst>
              <a:path w="4521184" h="1528982">
                <a:moveTo>
                  <a:pt x="0" y="0"/>
                </a:moveTo>
                <a:lnTo>
                  <a:pt x="4521184" y="0"/>
                </a:lnTo>
                <a:lnTo>
                  <a:pt x="4521184" y="1528982"/>
                </a:lnTo>
                <a:lnTo>
                  <a:pt x="0" y="152898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9" name="Freeform 9">
            <a:extLst>
              <a:ext uri="{FF2B5EF4-FFF2-40B4-BE49-F238E27FC236}">
                <a16:creationId xmlns:a16="http://schemas.microsoft.com/office/drawing/2014/main" id="{1B5794CE-D992-84D7-D0E0-9D6F3669B078}"/>
              </a:ext>
            </a:extLst>
          </p:cNvPr>
          <p:cNvSpPr/>
          <p:nvPr/>
        </p:nvSpPr>
        <p:spPr>
          <a:xfrm flipH="1" flipV="1">
            <a:off x="-1128348" y="8895555"/>
            <a:ext cx="4521184" cy="1528982"/>
          </a:xfrm>
          <a:custGeom>
            <a:avLst/>
            <a:gdLst/>
            <a:ahLst/>
            <a:cxnLst/>
            <a:rect l="l" t="t" r="r" b="b"/>
            <a:pathLst>
              <a:path w="4521184" h="1528982">
                <a:moveTo>
                  <a:pt x="4521184" y="1528982"/>
                </a:moveTo>
                <a:lnTo>
                  <a:pt x="0" y="1528982"/>
                </a:lnTo>
                <a:lnTo>
                  <a:pt x="0" y="0"/>
                </a:lnTo>
                <a:lnTo>
                  <a:pt x="4521184" y="0"/>
                </a:lnTo>
                <a:lnTo>
                  <a:pt x="4521184" y="1528982"/>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10" name="Freeform 10">
            <a:extLst>
              <a:ext uri="{FF2B5EF4-FFF2-40B4-BE49-F238E27FC236}">
                <a16:creationId xmlns:a16="http://schemas.microsoft.com/office/drawing/2014/main" id="{ADA27B99-E6DE-FB9A-9FAC-202A0F59A799}"/>
              </a:ext>
            </a:extLst>
          </p:cNvPr>
          <p:cNvSpPr/>
          <p:nvPr/>
        </p:nvSpPr>
        <p:spPr>
          <a:xfrm>
            <a:off x="16459200" y="9182100"/>
            <a:ext cx="2636110" cy="1524151"/>
          </a:xfrm>
          <a:custGeom>
            <a:avLst/>
            <a:gdLst/>
            <a:ahLst/>
            <a:cxnLst/>
            <a:rect l="l" t="t" r="r" b="b"/>
            <a:pathLst>
              <a:path w="2636110" h="1524151">
                <a:moveTo>
                  <a:pt x="0" y="0"/>
                </a:moveTo>
                <a:lnTo>
                  <a:pt x="2636110" y="0"/>
                </a:lnTo>
                <a:lnTo>
                  <a:pt x="2636110" y="1524151"/>
                </a:lnTo>
                <a:lnTo>
                  <a:pt x="0" y="152415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dirty="0"/>
          </a:p>
        </p:txBody>
      </p:sp>
      <p:sp>
        <p:nvSpPr>
          <p:cNvPr id="11" name="Freeform 11">
            <a:extLst>
              <a:ext uri="{FF2B5EF4-FFF2-40B4-BE49-F238E27FC236}">
                <a16:creationId xmlns:a16="http://schemas.microsoft.com/office/drawing/2014/main" id="{2D1462BC-8155-9291-8A05-5A5DA0BA0A06}"/>
              </a:ext>
            </a:extLst>
          </p:cNvPr>
          <p:cNvSpPr/>
          <p:nvPr/>
        </p:nvSpPr>
        <p:spPr>
          <a:xfrm flipH="1" flipV="1">
            <a:off x="-762000" y="-428776"/>
            <a:ext cx="2636110" cy="1524151"/>
          </a:xfrm>
          <a:custGeom>
            <a:avLst/>
            <a:gdLst/>
            <a:ahLst/>
            <a:cxnLst/>
            <a:rect l="l" t="t" r="r" b="b"/>
            <a:pathLst>
              <a:path w="2636110" h="1524151">
                <a:moveTo>
                  <a:pt x="2636110" y="1524151"/>
                </a:moveTo>
                <a:lnTo>
                  <a:pt x="0" y="1524151"/>
                </a:lnTo>
                <a:lnTo>
                  <a:pt x="0" y="0"/>
                </a:lnTo>
                <a:lnTo>
                  <a:pt x="2636110" y="0"/>
                </a:lnTo>
                <a:lnTo>
                  <a:pt x="2636110" y="1524151"/>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dirty="0"/>
          </a:p>
        </p:txBody>
      </p:sp>
      <p:sp>
        <p:nvSpPr>
          <p:cNvPr id="24" name="TextBox 23">
            <a:extLst>
              <a:ext uri="{FF2B5EF4-FFF2-40B4-BE49-F238E27FC236}">
                <a16:creationId xmlns:a16="http://schemas.microsoft.com/office/drawing/2014/main" id="{A7937A61-ABC2-E0AC-3448-10C7680E0F5E}"/>
              </a:ext>
            </a:extLst>
          </p:cNvPr>
          <p:cNvSpPr txBox="1"/>
          <p:nvPr/>
        </p:nvSpPr>
        <p:spPr>
          <a:xfrm>
            <a:off x="1843630" y="3009900"/>
            <a:ext cx="14325600" cy="5709255"/>
          </a:xfrm>
          <a:prstGeom prst="rect">
            <a:avLst/>
          </a:prstGeom>
          <a:noFill/>
        </p:spPr>
        <p:txBody>
          <a:bodyPr wrap="square" rtlCol="0">
            <a:spAutoFit/>
          </a:bodyPr>
          <a:lstStyle/>
          <a:p>
            <a:pPr marL="1371600" lvl="2" indent="-457200" algn="just">
              <a:spcAft>
                <a:spcPts val="600"/>
              </a:spcAft>
              <a:buFont typeface="Arial" panose="020B0604020202020204" pitchFamily="34" charset="0"/>
              <a:buChar char="•"/>
            </a:pPr>
            <a:r>
              <a:rPr lang="en-US" sz="3200" dirty="0"/>
              <a:t>To develop a CNN model for brain tumor detection using MRI images.</a:t>
            </a:r>
          </a:p>
          <a:p>
            <a:pPr marL="1371600" lvl="2" indent="-457200" algn="just">
              <a:spcAft>
                <a:spcPts val="600"/>
              </a:spcAft>
              <a:buFont typeface="Arial" panose="020B0604020202020204" pitchFamily="34" charset="0"/>
              <a:buChar char="•"/>
            </a:pPr>
            <a:r>
              <a:rPr lang="en-US" sz="3200" dirty="0"/>
              <a:t>To analyze the computational complexity of convolution operations.</a:t>
            </a:r>
          </a:p>
          <a:p>
            <a:pPr marL="1371600" lvl="2" indent="-457200" algn="just">
              <a:spcAft>
                <a:spcPts val="600"/>
              </a:spcAft>
              <a:buFont typeface="Arial" panose="020B0604020202020204" pitchFamily="34" charset="0"/>
              <a:buChar char="•"/>
            </a:pPr>
            <a:r>
              <a:rPr lang="en-US" sz="3200" dirty="0"/>
              <a:t>To implement and compare four methods:</a:t>
            </a:r>
          </a:p>
          <a:p>
            <a:pPr marL="2286000" lvl="4" indent="-457200" algn="just">
              <a:spcAft>
                <a:spcPts val="600"/>
              </a:spcAft>
              <a:buSzPct val="70000"/>
              <a:buFont typeface="Arial" panose="020B0604020202020204" pitchFamily="34" charset="0"/>
              <a:buChar char="•"/>
            </a:pPr>
            <a:r>
              <a:rPr lang="en-US" sz="3200" dirty="0"/>
              <a:t>  Naive Convolution</a:t>
            </a:r>
          </a:p>
          <a:p>
            <a:pPr marL="2286000" lvl="4" indent="-457200" algn="just">
              <a:spcAft>
                <a:spcPts val="600"/>
              </a:spcAft>
              <a:buSzPct val="70000"/>
              <a:buFont typeface="Arial" panose="020B0604020202020204" pitchFamily="34" charset="0"/>
              <a:buChar char="•"/>
            </a:pPr>
            <a:r>
              <a:rPr lang="en-US" sz="3200" dirty="0"/>
              <a:t>  OpenMP Parallel Convolution</a:t>
            </a:r>
          </a:p>
          <a:p>
            <a:pPr marL="2286000" lvl="4" indent="-457200" algn="just">
              <a:spcAft>
                <a:spcPts val="600"/>
              </a:spcAft>
              <a:buSzPct val="70000"/>
              <a:buFont typeface="Arial" panose="020B0604020202020204" pitchFamily="34" charset="0"/>
              <a:buChar char="•"/>
            </a:pPr>
            <a:r>
              <a:rPr lang="en-US" sz="3200" dirty="0"/>
              <a:t>  img2col (Matrix-based Convolution)</a:t>
            </a:r>
          </a:p>
          <a:p>
            <a:pPr marL="2286000" lvl="4" indent="-457200" algn="just">
              <a:spcAft>
                <a:spcPts val="600"/>
              </a:spcAft>
              <a:buSzPct val="70000"/>
              <a:buFont typeface="Arial" panose="020B0604020202020204" pitchFamily="34" charset="0"/>
              <a:buChar char="•"/>
            </a:pPr>
            <a:r>
              <a:rPr lang="en-US" sz="3200" dirty="0"/>
              <a:t>  img2col with OpenMP</a:t>
            </a:r>
          </a:p>
          <a:p>
            <a:pPr marL="1371600" lvl="2" indent="-457200" algn="just">
              <a:spcAft>
                <a:spcPts val="600"/>
              </a:spcAft>
              <a:buFont typeface="Arial" panose="020B0604020202020204" pitchFamily="34" charset="0"/>
              <a:buChar char="•"/>
            </a:pPr>
            <a:r>
              <a:rPr lang="en-US" sz="3200" dirty="0"/>
              <a:t>To evaluate performance under varying image sizes, filters, and threads.</a:t>
            </a:r>
          </a:p>
          <a:p>
            <a:pPr marL="1371600" lvl="2" indent="-457200" algn="just">
              <a:spcAft>
                <a:spcPts val="600"/>
              </a:spcAft>
              <a:buFont typeface="Arial" panose="020B0604020202020204" pitchFamily="34" charset="0"/>
              <a:buChar char="•"/>
            </a:pPr>
            <a:r>
              <a:rPr lang="en-US" sz="3200" dirty="0"/>
              <a:t>To measure execution time and compute speedup.</a:t>
            </a:r>
          </a:p>
          <a:p>
            <a:pPr marL="1371600" lvl="2" indent="-457200" algn="just">
              <a:spcAft>
                <a:spcPts val="600"/>
              </a:spcAft>
              <a:buFont typeface="Arial" panose="020B0604020202020204" pitchFamily="34" charset="0"/>
              <a:buChar char="•"/>
            </a:pPr>
            <a:r>
              <a:rPr lang="en-US" sz="3200" dirty="0"/>
              <a:t>To identify the most efficient method for convolution optimization.</a:t>
            </a:r>
          </a:p>
        </p:txBody>
      </p:sp>
      <p:sp>
        <p:nvSpPr>
          <p:cNvPr id="25" name="TextBox 24">
            <a:extLst>
              <a:ext uri="{FF2B5EF4-FFF2-40B4-BE49-F238E27FC236}">
                <a16:creationId xmlns:a16="http://schemas.microsoft.com/office/drawing/2014/main" id="{83CEAD77-EF39-E9B2-F2BA-93582FE2C1A3}"/>
              </a:ext>
            </a:extLst>
          </p:cNvPr>
          <p:cNvSpPr txBox="1"/>
          <p:nvPr/>
        </p:nvSpPr>
        <p:spPr>
          <a:xfrm>
            <a:off x="2189174" y="1638300"/>
            <a:ext cx="5547360" cy="907941"/>
          </a:xfrm>
          <a:prstGeom prst="rect">
            <a:avLst/>
          </a:prstGeom>
          <a:noFill/>
        </p:spPr>
        <p:txBody>
          <a:bodyPr wrap="square" rtlCol="0">
            <a:spAutoFit/>
          </a:bodyPr>
          <a:lstStyle/>
          <a:p>
            <a:r>
              <a:rPr lang="en-IN" sz="5300" dirty="0">
                <a:effectLst>
                  <a:outerShdw blurRad="38100" dist="38100" dir="2700000" algn="tl">
                    <a:srgbClr val="000000">
                      <a:alpha val="43137"/>
                    </a:srgbClr>
                  </a:outerShdw>
                </a:effectLst>
                <a:latin typeface="+mj-lt"/>
              </a:rPr>
              <a:t>Objectives</a:t>
            </a:r>
          </a:p>
        </p:txBody>
      </p:sp>
      <p:sp>
        <p:nvSpPr>
          <p:cNvPr id="7" name="TextBox 6">
            <a:extLst>
              <a:ext uri="{FF2B5EF4-FFF2-40B4-BE49-F238E27FC236}">
                <a16:creationId xmlns:a16="http://schemas.microsoft.com/office/drawing/2014/main" id="{5D841A38-F806-B126-D7E9-41FAAFB49678}"/>
              </a:ext>
            </a:extLst>
          </p:cNvPr>
          <p:cNvSpPr txBox="1"/>
          <p:nvPr/>
        </p:nvSpPr>
        <p:spPr>
          <a:xfrm>
            <a:off x="9011816" y="9177494"/>
            <a:ext cx="340158" cy="461665"/>
          </a:xfrm>
          <a:prstGeom prst="rect">
            <a:avLst/>
          </a:prstGeom>
          <a:noFill/>
        </p:spPr>
        <p:txBody>
          <a:bodyPr wrap="none" rtlCol="0">
            <a:spAutoFit/>
          </a:bodyPr>
          <a:lstStyle/>
          <a:p>
            <a:r>
              <a:rPr lang="en-IN" sz="2400" dirty="0">
                <a:solidFill>
                  <a:schemeClr val="tx1">
                    <a:lumMod val="65000"/>
                    <a:lumOff val="35000"/>
                  </a:schemeClr>
                </a:solidFill>
              </a:rPr>
              <a:t>6</a:t>
            </a:r>
          </a:p>
        </p:txBody>
      </p:sp>
    </p:spTree>
    <p:extLst>
      <p:ext uri="{BB962C8B-B14F-4D97-AF65-F5344CB8AC3E}">
        <p14:creationId xmlns:p14="http://schemas.microsoft.com/office/powerpoint/2010/main" val="15521350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A6E2A6-87D4-3FA5-158B-138FBCC43B14}"/>
            </a:ext>
          </a:extLst>
        </p:cNvPr>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AA7151AD-8231-BFDF-BCA6-072D49146C68}"/>
              </a:ext>
            </a:extLst>
          </p:cNvPr>
          <p:cNvGraphicFramePr>
            <a:graphicFrameLocks noGrp="1"/>
          </p:cNvGraphicFramePr>
          <p:nvPr>
            <p:extLst>
              <p:ext uri="{D42A27DB-BD31-4B8C-83A1-F6EECF244321}">
                <p14:modId xmlns:p14="http://schemas.microsoft.com/office/powerpoint/2010/main" val="2789974432"/>
              </p:ext>
            </p:extLst>
          </p:nvPr>
        </p:nvGraphicFramePr>
        <p:xfrm>
          <a:off x="990600" y="1866900"/>
          <a:ext cx="16459200" cy="7247681"/>
        </p:xfrm>
        <a:graphic>
          <a:graphicData uri="http://schemas.openxmlformats.org/drawingml/2006/table">
            <a:tbl>
              <a:tblPr firstRow="1" bandRow="1">
                <a:tableStyleId>{E8034E78-7F5D-4C2E-B375-FC64B27BC917}</a:tableStyleId>
              </a:tblPr>
              <a:tblGrid>
                <a:gridCol w="838200">
                  <a:extLst>
                    <a:ext uri="{9D8B030D-6E8A-4147-A177-3AD203B41FA5}">
                      <a16:colId xmlns:a16="http://schemas.microsoft.com/office/drawing/2014/main" val="1019025433"/>
                    </a:ext>
                  </a:extLst>
                </a:gridCol>
                <a:gridCol w="5046952">
                  <a:extLst>
                    <a:ext uri="{9D8B030D-6E8A-4147-A177-3AD203B41FA5}">
                      <a16:colId xmlns:a16="http://schemas.microsoft.com/office/drawing/2014/main" val="4222972953"/>
                    </a:ext>
                  </a:extLst>
                </a:gridCol>
                <a:gridCol w="5233620">
                  <a:extLst>
                    <a:ext uri="{9D8B030D-6E8A-4147-A177-3AD203B41FA5}">
                      <a16:colId xmlns:a16="http://schemas.microsoft.com/office/drawing/2014/main" val="1323304465"/>
                    </a:ext>
                  </a:extLst>
                </a:gridCol>
                <a:gridCol w="5340428">
                  <a:extLst>
                    <a:ext uri="{9D8B030D-6E8A-4147-A177-3AD203B41FA5}">
                      <a16:colId xmlns:a16="http://schemas.microsoft.com/office/drawing/2014/main" val="3778375893"/>
                    </a:ext>
                  </a:extLst>
                </a:gridCol>
              </a:tblGrid>
              <a:tr h="873574">
                <a:tc>
                  <a:txBody>
                    <a:bodyPr/>
                    <a:lstStyle/>
                    <a:p>
                      <a:pPr algn="ctr"/>
                      <a:r>
                        <a:rPr lang="en-IN" sz="2800" b="1" dirty="0">
                          <a:solidFill>
                            <a:schemeClr val="tx1"/>
                          </a:solidFill>
                        </a:rPr>
                        <a:t>SI </a:t>
                      </a:r>
                    </a:p>
                    <a:p>
                      <a:pPr algn="ctr"/>
                      <a:r>
                        <a:rPr lang="en-IN" sz="2800" b="1" dirty="0">
                          <a:solidFill>
                            <a:schemeClr val="tx1"/>
                          </a:solidFill>
                        </a:rPr>
                        <a:t>No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DFDC"/>
                    </a:solidFill>
                  </a:tcPr>
                </a:tc>
                <a:tc>
                  <a:txBody>
                    <a:bodyPr/>
                    <a:lstStyle/>
                    <a:p>
                      <a:pPr algn="ctr"/>
                      <a:r>
                        <a:rPr lang="en-IN" sz="2800" b="1" dirty="0">
                          <a:solidFill>
                            <a:schemeClr val="tx1"/>
                          </a:solidFill>
                        </a:rPr>
                        <a:t>Author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DFDC"/>
                    </a:solidFill>
                  </a:tcPr>
                </a:tc>
                <a:tc>
                  <a:txBody>
                    <a:bodyPr/>
                    <a:lstStyle/>
                    <a:p>
                      <a:pPr algn="ctr"/>
                      <a:r>
                        <a:rPr lang="en-IN" sz="2800" b="1" dirty="0">
                          <a:solidFill>
                            <a:schemeClr val="tx1"/>
                          </a:solidFill>
                        </a:rPr>
                        <a:t>Remarks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DFDC"/>
                    </a:solidFill>
                  </a:tcPr>
                </a:tc>
                <a:tc>
                  <a:txBody>
                    <a:bodyPr/>
                    <a:lstStyle/>
                    <a:p>
                      <a:pPr algn="ctr"/>
                      <a:r>
                        <a:rPr lang="en-IN" sz="2800" b="1" dirty="0">
                          <a:solidFill>
                            <a:schemeClr val="tx1"/>
                          </a:solidFill>
                        </a:rPr>
                        <a:t>Remarks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DFDC"/>
                    </a:solidFill>
                  </a:tcPr>
                </a:tc>
                <a:extLst>
                  <a:ext uri="{0D108BD9-81ED-4DB2-BD59-A6C34878D82A}">
                    <a16:rowId xmlns:a16="http://schemas.microsoft.com/office/drawing/2014/main" val="3889841128"/>
                  </a:ext>
                </a:extLst>
              </a:tr>
              <a:tr h="1845777">
                <a:tc>
                  <a:txBody>
                    <a:bodyPr/>
                    <a:lstStyle/>
                    <a:p>
                      <a:r>
                        <a:rPr lang="en-IN" sz="2500" dirty="0">
                          <a:solidFill>
                            <a:schemeClr val="tx1"/>
                          </a:solidFill>
                        </a:rPr>
                        <a:t>1</a:t>
                      </a:r>
                    </a:p>
                  </a:txBody>
                  <a:tcPr marL="108000" marR="108000" marT="108000" marB="108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DFDC">
                        <a:alpha val="50196"/>
                      </a:srgbClr>
                    </a:solidFill>
                  </a:tcPr>
                </a:tc>
                <a:tc>
                  <a:txBody>
                    <a:bodyPr/>
                    <a:lstStyle/>
                    <a:p>
                      <a:r>
                        <a:rPr lang="en-IN" sz="2500" dirty="0" err="1">
                          <a:solidFill>
                            <a:schemeClr val="tx1"/>
                          </a:solidFill>
                        </a:rPr>
                        <a:t>Raviraju</a:t>
                      </a:r>
                      <a:r>
                        <a:rPr lang="en-IN" sz="2500" dirty="0">
                          <a:solidFill>
                            <a:schemeClr val="tx1"/>
                          </a:solidFill>
                        </a:rPr>
                        <a:t> </a:t>
                      </a:r>
                      <a:r>
                        <a:rPr lang="en-IN" sz="2500" dirty="0" err="1">
                          <a:solidFill>
                            <a:schemeClr val="tx1"/>
                          </a:solidFill>
                        </a:rPr>
                        <a:t>Balappa</a:t>
                      </a:r>
                      <a:r>
                        <a:rPr lang="en-IN" sz="2500" dirty="0">
                          <a:solidFill>
                            <a:schemeClr val="tx1"/>
                          </a:solidFill>
                        </a:rPr>
                        <a:t> D, Dr. Gautam Kumar Rajput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DFDC">
                        <a:alpha val="50196"/>
                      </a:srgbClr>
                    </a:solidFill>
                  </a:tcPr>
                </a:tc>
                <a:tc>
                  <a:txBody>
                    <a:bodyPr/>
                    <a:lstStyle/>
                    <a:p>
                      <a:r>
                        <a:rPr lang="en-US" sz="2500" dirty="0">
                          <a:solidFill>
                            <a:schemeClr val="tx1"/>
                          </a:solidFill>
                        </a:rPr>
                        <a:t>The Role and Application of Matrices in Artificial Intelligence: Foundations, Methods, and Advancements. (IJISRT, Nov 2024</a:t>
                      </a:r>
                      <a:endParaRPr lang="en-IN" sz="25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DFDC">
                        <a:alpha val="50196"/>
                      </a:srgbClr>
                    </a:solidFill>
                  </a:tcPr>
                </a:tc>
                <a:tc>
                  <a:txBody>
                    <a:bodyPr/>
                    <a:lstStyle/>
                    <a:p>
                      <a:r>
                        <a:rPr lang="en-US" sz="2500" dirty="0">
                          <a:solidFill>
                            <a:schemeClr val="tx1"/>
                          </a:solidFill>
                        </a:rPr>
                        <a:t>Highlights importance of matrix operations in AI, but suffers from high computational complexity and scalability issues for large datasets.</a:t>
                      </a:r>
                      <a:endParaRPr lang="en-IN" sz="25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DFDC">
                        <a:alpha val="50196"/>
                      </a:srgbClr>
                    </a:solidFill>
                  </a:tcPr>
                </a:tc>
                <a:extLst>
                  <a:ext uri="{0D108BD9-81ED-4DB2-BD59-A6C34878D82A}">
                    <a16:rowId xmlns:a16="http://schemas.microsoft.com/office/drawing/2014/main" val="2821324919"/>
                  </a:ext>
                </a:extLst>
              </a:tr>
              <a:tr h="1845777">
                <a:tc>
                  <a:txBody>
                    <a:bodyPr/>
                    <a:lstStyle/>
                    <a:p>
                      <a:pPr algn="l"/>
                      <a:r>
                        <a:rPr lang="en-IN" sz="2500" dirty="0">
                          <a:solidFill>
                            <a:schemeClr val="tx1"/>
                          </a:solidFill>
                        </a:rPr>
                        <a:t>2</a:t>
                      </a:r>
                    </a:p>
                  </a:txBody>
                  <a:tcPr marL="108000" marR="108000" marT="10800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DFDC">
                        <a:alpha val="50196"/>
                      </a:srgbClr>
                    </a:solidFill>
                  </a:tcPr>
                </a:tc>
                <a:tc>
                  <a:txBody>
                    <a:bodyPr/>
                    <a:lstStyle/>
                    <a:p>
                      <a:r>
                        <a:rPr lang="en-IN" sz="2500" dirty="0">
                          <a:solidFill>
                            <a:schemeClr val="tx1"/>
                          </a:solidFill>
                        </a:rPr>
                        <a:t>Jiawei Guo, </a:t>
                      </a:r>
                      <a:r>
                        <a:rPr lang="en-IN" sz="2500" dirty="0" err="1">
                          <a:solidFill>
                            <a:schemeClr val="tx1"/>
                          </a:solidFill>
                        </a:rPr>
                        <a:t>Jieming</a:t>
                      </a:r>
                      <a:r>
                        <a:rPr lang="en-IN" sz="2500" dirty="0">
                          <a:solidFill>
                            <a:schemeClr val="tx1"/>
                          </a:solidFill>
                        </a:rPr>
                        <a:t> Mab, Ángel F. García Fernández, </a:t>
                      </a:r>
                      <a:r>
                        <a:rPr lang="en-IN" sz="2500" dirty="0" err="1">
                          <a:solidFill>
                            <a:schemeClr val="tx1"/>
                          </a:solidFill>
                        </a:rPr>
                        <a:t>Yungang</a:t>
                      </a:r>
                      <a:r>
                        <a:rPr lang="en-IN" sz="2500" dirty="0">
                          <a:solidFill>
                            <a:schemeClr val="tx1"/>
                          </a:solidFill>
                        </a:rPr>
                        <a:t> Zhang, Haining Liang</a:t>
                      </a:r>
                    </a:p>
                  </a:txBody>
                  <a:tcPr marL="108000" marR="108000" marT="108000" marB="108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DFDC">
                        <a:alpha val="50196"/>
                      </a:srgbClr>
                    </a:solidFill>
                  </a:tcPr>
                </a:tc>
                <a:tc>
                  <a:txBody>
                    <a:bodyPr/>
                    <a:lstStyle/>
                    <a:p>
                      <a:pPr lvl="0" algn="l">
                        <a:spcBef>
                          <a:spcPts val="0"/>
                        </a:spcBef>
                      </a:pPr>
                      <a:r>
                        <a:rPr lang="en-US" sz="2500" dirty="0">
                          <a:solidFill>
                            <a:schemeClr val="tx1"/>
                          </a:solidFill>
                        </a:rPr>
                        <a:t>A Survey on Image Enhancement for Low light Images. (</a:t>
                      </a:r>
                      <a:r>
                        <a:rPr lang="en-US" sz="2500" dirty="0" err="1">
                          <a:solidFill>
                            <a:schemeClr val="tx1"/>
                          </a:solidFill>
                        </a:rPr>
                        <a:t>Heliyon</a:t>
                      </a:r>
                      <a:r>
                        <a:rPr lang="en-US" sz="2500" dirty="0">
                          <a:solidFill>
                            <a:schemeClr val="tx1"/>
                          </a:solidFill>
                        </a:rPr>
                        <a:t>, Mar 2023</a:t>
                      </a:r>
                      <a:endParaRPr lang="en-IN" sz="2500" dirty="0">
                        <a:solidFill>
                          <a:schemeClr val="tx1"/>
                        </a:solidFill>
                      </a:endParaRPr>
                    </a:p>
                  </a:txBody>
                  <a:tcPr marL="108000" marR="108000" marT="108000" marB="108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DFDC">
                        <a:alpha val="50196"/>
                      </a:srgbClr>
                    </a:solidFill>
                  </a:tcPr>
                </a:tc>
                <a:tc>
                  <a:txBody>
                    <a:bodyPr/>
                    <a:lstStyle/>
                    <a:p>
                      <a:pPr>
                        <a:spcBef>
                          <a:spcPts val="0"/>
                        </a:spcBef>
                      </a:pPr>
                      <a:r>
                        <a:rPr lang="en-US" sz="2500" dirty="0">
                          <a:solidFill>
                            <a:schemeClr val="tx1"/>
                          </a:solidFill>
                        </a:rPr>
                        <a:t>Traditional image enhancement methods are efficient but may introduce noise; deep learning methods improve quality at the cost of higher computation.</a:t>
                      </a:r>
                      <a:endParaRPr lang="en-IN" sz="2500" dirty="0">
                        <a:solidFill>
                          <a:schemeClr val="tx1"/>
                        </a:solidFill>
                      </a:endParaRPr>
                    </a:p>
                  </a:txBody>
                  <a:tcPr marL="108000" marR="108000" marT="108000" marB="108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DFDC">
                        <a:alpha val="50196"/>
                      </a:srgbClr>
                    </a:solidFill>
                  </a:tcPr>
                </a:tc>
                <a:extLst>
                  <a:ext uri="{0D108BD9-81ED-4DB2-BD59-A6C34878D82A}">
                    <a16:rowId xmlns:a16="http://schemas.microsoft.com/office/drawing/2014/main" val="1198017465"/>
                  </a:ext>
                </a:extLst>
              </a:tr>
              <a:tr h="2336024">
                <a:tc>
                  <a:txBody>
                    <a:bodyPr/>
                    <a:lstStyle/>
                    <a:p>
                      <a:pPr algn="l"/>
                      <a:r>
                        <a:rPr lang="en-IN" sz="2500" dirty="0">
                          <a:solidFill>
                            <a:schemeClr val="tx1"/>
                          </a:solidFill>
                        </a:rPr>
                        <a:t>3</a:t>
                      </a:r>
                    </a:p>
                  </a:txBody>
                  <a:tcPr marL="108000" marR="108000" marT="10800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DFDC">
                        <a:alpha val="50196"/>
                      </a:srgbClr>
                    </a:solidFill>
                  </a:tcPr>
                </a:tc>
                <a:tc>
                  <a:txBody>
                    <a:bodyPr/>
                    <a:lstStyle/>
                    <a:p>
                      <a:r>
                        <a:rPr lang="en-IN" sz="2500" dirty="0">
                          <a:solidFill>
                            <a:schemeClr val="tx1"/>
                          </a:solidFill>
                        </a:rPr>
                        <a:t>P Gokila Brindha, M Kavinraj, P </a:t>
                      </a:r>
                      <a:r>
                        <a:rPr lang="en-IN" sz="2500" dirty="0" err="1">
                          <a:solidFill>
                            <a:schemeClr val="tx1"/>
                          </a:solidFill>
                        </a:rPr>
                        <a:t>Manivasakam</a:t>
                      </a:r>
                      <a:r>
                        <a:rPr lang="en-IN" sz="2500" dirty="0">
                          <a:solidFill>
                            <a:schemeClr val="tx1"/>
                          </a:solidFill>
                        </a:rPr>
                        <a:t> and P Prasanth. </a:t>
                      </a:r>
                    </a:p>
                  </a:txBody>
                  <a:tcPr marL="108000" marR="108000" marT="108000" marB="108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DFDC">
                        <a:alpha val="50196"/>
                      </a:srgbClr>
                    </a:solidFill>
                  </a:tcPr>
                </a:tc>
                <a:tc>
                  <a:txBody>
                    <a:bodyPr/>
                    <a:lstStyle/>
                    <a:p>
                      <a:r>
                        <a:rPr lang="en-US" sz="2500" dirty="0">
                          <a:solidFill>
                            <a:schemeClr val="tx1"/>
                          </a:solidFill>
                        </a:rPr>
                        <a:t>Brain tumor detection from MRI images using deep learning </a:t>
                      </a:r>
                    </a:p>
                    <a:p>
                      <a:r>
                        <a:rPr lang="en-US" sz="2500" dirty="0">
                          <a:solidFill>
                            <a:schemeClr val="tx1"/>
                          </a:solidFill>
                        </a:rPr>
                        <a:t>techniques</a:t>
                      </a:r>
                      <a:endParaRPr lang="en-IN" sz="2500" dirty="0">
                        <a:solidFill>
                          <a:schemeClr val="tx1"/>
                        </a:solidFill>
                      </a:endParaRPr>
                    </a:p>
                  </a:txBody>
                  <a:tcPr marL="108000" marR="108000" marT="108000" marB="108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DFDC">
                        <a:alpha val="50196"/>
                      </a:srgbClr>
                    </a:solidFill>
                  </a:tcPr>
                </a:tc>
                <a:tc>
                  <a:txBody>
                    <a:bodyPr/>
                    <a:lstStyle/>
                    <a:p>
                      <a:r>
                        <a:rPr lang="en-US" sz="2500" dirty="0">
                          <a:solidFill>
                            <a:schemeClr val="tx1"/>
                          </a:solidFill>
                        </a:rPr>
                        <a:t>CNN outperforms ANN in accuracy and generalization, but requires more computational resources.</a:t>
                      </a:r>
                      <a:endParaRPr lang="en-IN" sz="2500" b="1" dirty="0">
                        <a:solidFill>
                          <a:schemeClr val="tx1"/>
                        </a:solidFill>
                      </a:endParaRPr>
                    </a:p>
                  </a:txBody>
                  <a:tcPr marL="108000" marR="108000" marT="108000" marB="108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DFDC">
                        <a:alpha val="50196"/>
                      </a:srgbClr>
                    </a:solidFill>
                  </a:tcPr>
                </a:tc>
                <a:extLst>
                  <a:ext uri="{0D108BD9-81ED-4DB2-BD59-A6C34878D82A}">
                    <a16:rowId xmlns:a16="http://schemas.microsoft.com/office/drawing/2014/main" val="2934866180"/>
                  </a:ext>
                </a:extLst>
              </a:tr>
            </a:tbl>
          </a:graphicData>
        </a:graphic>
      </p:graphicFrame>
      <p:sp>
        <p:nvSpPr>
          <p:cNvPr id="4" name="TextBox 3">
            <a:extLst>
              <a:ext uri="{FF2B5EF4-FFF2-40B4-BE49-F238E27FC236}">
                <a16:creationId xmlns:a16="http://schemas.microsoft.com/office/drawing/2014/main" id="{CE480534-2447-6204-627B-9304D86102A9}"/>
              </a:ext>
            </a:extLst>
          </p:cNvPr>
          <p:cNvSpPr txBox="1"/>
          <p:nvPr/>
        </p:nvSpPr>
        <p:spPr>
          <a:xfrm>
            <a:off x="990600" y="676785"/>
            <a:ext cx="5318760" cy="907941"/>
          </a:xfrm>
          <a:prstGeom prst="rect">
            <a:avLst/>
          </a:prstGeom>
          <a:noFill/>
        </p:spPr>
        <p:txBody>
          <a:bodyPr wrap="square">
            <a:spAutoFit/>
          </a:bodyPr>
          <a:lstStyle/>
          <a:p>
            <a:r>
              <a:rPr lang="en-IN" sz="5200" dirty="0">
                <a:effectLst>
                  <a:outerShdw blurRad="38100" dist="38100" dir="2700000" algn="tl">
                    <a:srgbClr val="000000">
                      <a:alpha val="43137"/>
                    </a:srgbClr>
                  </a:outerShdw>
                </a:effectLst>
                <a:latin typeface="+mj-lt"/>
              </a:rPr>
              <a:t>Literature Survey</a:t>
            </a:r>
          </a:p>
        </p:txBody>
      </p:sp>
      <p:sp>
        <p:nvSpPr>
          <p:cNvPr id="9" name="TextBox 8">
            <a:extLst>
              <a:ext uri="{FF2B5EF4-FFF2-40B4-BE49-F238E27FC236}">
                <a16:creationId xmlns:a16="http://schemas.microsoft.com/office/drawing/2014/main" id="{CA144993-5E30-9463-B53C-2060EDD9B6CE}"/>
              </a:ext>
            </a:extLst>
          </p:cNvPr>
          <p:cNvSpPr txBox="1"/>
          <p:nvPr/>
        </p:nvSpPr>
        <p:spPr>
          <a:xfrm>
            <a:off x="8963862" y="9396755"/>
            <a:ext cx="340158" cy="461665"/>
          </a:xfrm>
          <a:prstGeom prst="rect">
            <a:avLst/>
          </a:prstGeom>
          <a:noFill/>
        </p:spPr>
        <p:txBody>
          <a:bodyPr wrap="none" rtlCol="0">
            <a:spAutoFit/>
          </a:bodyPr>
          <a:lstStyle/>
          <a:p>
            <a:r>
              <a:rPr lang="en-IN" sz="2400" dirty="0">
                <a:solidFill>
                  <a:schemeClr val="tx1">
                    <a:lumMod val="65000"/>
                    <a:lumOff val="35000"/>
                  </a:schemeClr>
                </a:solidFill>
              </a:rPr>
              <a:t>7</a:t>
            </a:r>
          </a:p>
        </p:txBody>
      </p:sp>
    </p:spTree>
    <p:extLst>
      <p:ext uri="{BB962C8B-B14F-4D97-AF65-F5344CB8AC3E}">
        <p14:creationId xmlns:p14="http://schemas.microsoft.com/office/powerpoint/2010/main" val="12586347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F9DE6-9D25-4064-347D-6C19EC4BC2EB}"/>
            </a:ext>
          </a:extLst>
        </p:cNvPr>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8A739AAA-AB10-DBF2-BE44-BE19FAF9CE47}"/>
              </a:ext>
            </a:extLst>
          </p:cNvPr>
          <p:cNvGraphicFramePr>
            <a:graphicFrameLocks noGrp="1"/>
          </p:cNvGraphicFramePr>
          <p:nvPr>
            <p:extLst>
              <p:ext uri="{D42A27DB-BD31-4B8C-83A1-F6EECF244321}">
                <p14:modId xmlns:p14="http://schemas.microsoft.com/office/powerpoint/2010/main" val="3086856684"/>
              </p:ext>
            </p:extLst>
          </p:nvPr>
        </p:nvGraphicFramePr>
        <p:xfrm>
          <a:off x="1026794" y="1292804"/>
          <a:ext cx="16234411" cy="8034076"/>
        </p:xfrm>
        <a:graphic>
          <a:graphicData uri="http://schemas.openxmlformats.org/drawingml/2006/table">
            <a:tbl>
              <a:tblPr firstRow="1" bandRow="1">
                <a:tableStyleId>{E8034E78-7F5D-4C2E-B375-FC64B27BC917}</a:tableStyleId>
              </a:tblPr>
              <a:tblGrid>
                <a:gridCol w="1023959">
                  <a:extLst>
                    <a:ext uri="{9D8B030D-6E8A-4147-A177-3AD203B41FA5}">
                      <a16:colId xmlns:a16="http://schemas.microsoft.com/office/drawing/2014/main" val="1019025433"/>
                    </a:ext>
                  </a:extLst>
                </a:gridCol>
                <a:gridCol w="4480355">
                  <a:extLst>
                    <a:ext uri="{9D8B030D-6E8A-4147-A177-3AD203B41FA5}">
                      <a16:colId xmlns:a16="http://schemas.microsoft.com/office/drawing/2014/main" val="4222972953"/>
                    </a:ext>
                  </a:extLst>
                </a:gridCol>
                <a:gridCol w="5115886">
                  <a:extLst>
                    <a:ext uri="{9D8B030D-6E8A-4147-A177-3AD203B41FA5}">
                      <a16:colId xmlns:a16="http://schemas.microsoft.com/office/drawing/2014/main" val="1323304465"/>
                    </a:ext>
                  </a:extLst>
                </a:gridCol>
                <a:gridCol w="5614211">
                  <a:extLst>
                    <a:ext uri="{9D8B030D-6E8A-4147-A177-3AD203B41FA5}">
                      <a16:colId xmlns:a16="http://schemas.microsoft.com/office/drawing/2014/main" val="3778375893"/>
                    </a:ext>
                  </a:extLst>
                </a:gridCol>
              </a:tblGrid>
              <a:tr h="1012140">
                <a:tc>
                  <a:txBody>
                    <a:bodyPr/>
                    <a:lstStyle/>
                    <a:p>
                      <a:pPr algn="ctr"/>
                      <a:r>
                        <a:rPr lang="en-IN" sz="2800" b="1" dirty="0">
                          <a:solidFill>
                            <a:schemeClr val="tx1"/>
                          </a:solidFill>
                        </a:rPr>
                        <a:t>SI </a:t>
                      </a:r>
                    </a:p>
                    <a:p>
                      <a:pPr algn="ctr"/>
                      <a:r>
                        <a:rPr lang="en-IN" sz="2800" b="1" dirty="0">
                          <a:solidFill>
                            <a:schemeClr val="tx1"/>
                          </a:solidFill>
                        </a:rPr>
                        <a:t>No</a:t>
                      </a:r>
                      <a:endParaRPr lang="en-IN" sz="2800" b="1" dirty="0">
                        <a:solidFill>
                          <a:srgbClr val="F5DFDC"/>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DFDC"/>
                    </a:solidFill>
                  </a:tcPr>
                </a:tc>
                <a:tc>
                  <a:txBody>
                    <a:bodyPr/>
                    <a:lstStyle/>
                    <a:p>
                      <a:pPr algn="ctr"/>
                      <a:r>
                        <a:rPr lang="en-IN" sz="2800" b="1" dirty="0">
                          <a:solidFill>
                            <a:schemeClr val="tx1"/>
                          </a:solidFill>
                        </a:rPr>
                        <a:t>Author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DFDC"/>
                    </a:solidFill>
                  </a:tcPr>
                </a:tc>
                <a:tc>
                  <a:txBody>
                    <a:bodyPr/>
                    <a:lstStyle/>
                    <a:p>
                      <a:pPr algn="ctr"/>
                      <a:r>
                        <a:rPr lang="en-IN" sz="2800" b="1" dirty="0">
                          <a:solidFill>
                            <a:schemeClr val="tx1"/>
                          </a:solidFill>
                        </a:rPr>
                        <a:t>Title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DFDC"/>
                    </a:solidFill>
                  </a:tcPr>
                </a:tc>
                <a:tc>
                  <a:txBody>
                    <a:bodyPr/>
                    <a:lstStyle/>
                    <a:p>
                      <a:pPr algn="ctr"/>
                      <a:r>
                        <a:rPr lang="en-IN" sz="2800" b="1" dirty="0">
                          <a:solidFill>
                            <a:schemeClr val="tx1"/>
                          </a:solidFill>
                        </a:rPr>
                        <a:t>Remarks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DFDC"/>
                    </a:solidFill>
                  </a:tcPr>
                </a:tc>
                <a:extLst>
                  <a:ext uri="{0D108BD9-81ED-4DB2-BD59-A6C34878D82A}">
                    <a16:rowId xmlns:a16="http://schemas.microsoft.com/office/drawing/2014/main" val="3889841128"/>
                  </a:ext>
                </a:extLst>
              </a:tr>
              <a:tr h="1755484">
                <a:tc>
                  <a:txBody>
                    <a:bodyPr/>
                    <a:lstStyle/>
                    <a:p>
                      <a:pPr algn="l"/>
                      <a:r>
                        <a:rPr lang="en-IN" sz="2400" dirty="0">
                          <a:solidFill>
                            <a:schemeClr val="tx1"/>
                          </a:solidFill>
                        </a:rPr>
                        <a:t>4</a:t>
                      </a:r>
                    </a:p>
                  </a:txBody>
                  <a:tcPr marL="108000" marR="108000" marT="10800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DFDC">
                        <a:alpha val="50196"/>
                      </a:srgbClr>
                    </a:solidFill>
                  </a:tcPr>
                </a:tc>
                <a:tc>
                  <a:txBody>
                    <a:bodyPr/>
                    <a:lstStyle/>
                    <a:p>
                      <a:r>
                        <a:rPr lang="en-IN" sz="2400" dirty="0">
                          <a:solidFill>
                            <a:schemeClr val="tx1"/>
                          </a:solidFill>
                        </a:rPr>
                        <a:t>Tonmoy Hossain, Fairuz Shadmani Shishir , </a:t>
                      </a:r>
                      <a:r>
                        <a:rPr lang="en-IN" sz="2400" dirty="0" err="1">
                          <a:solidFill>
                            <a:schemeClr val="tx1"/>
                          </a:solidFill>
                        </a:rPr>
                        <a:t>Mohsena</a:t>
                      </a:r>
                      <a:r>
                        <a:rPr lang="en-IN" sz="2400" dirty="0">
                          <a:solidFill>
                            <a:schemeClr val="tx1"/>
                          </a:solidFill>
                        </a:rPr>
                        <a:t> </a:t>
                      </a:r>
                      <a:r>
                        <a:rPr lang="en-IN" sz="2400" dirty="0" err="1">
                          <a:solidFill>
                            <a:schemeClr val="tx1"/>
                          </a:solidFill>
                        </a:rPr>
                        <a:t>Ashraf,MD</a:t>
                      </a:r>
                      <a:r>
                        <a:rPr lang="en-IN" sz="2400" dirty="0">
                          <a:solidFill>
                            <a:schemeClr val="tx1"/>
                          </a:solidFill>
                        </a:rPr>
                        <a:t> Abdullah Al Nasim&amp;, Faisal Muhammad Shah.</a:t>
                      </a:r>
                    </a:p>
                  </a:txBody>
                  <a:tcPr marL="108000" marR="108000" marT="108000" marB="108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DFDC">
                        <a:alpha val="50196"/>
                      </a:srgbClr>
                    </a:solidFill>
                  </a:tcPr>
                </a:tc>
                <a:tc>
                  <a:txBody>
                    <a:bodyPr/>
                    <a:lstStyle/>
                    <a:p>
                      <a:r>
                        <a:rPr lang="en-US" sz="2400" dirty="0">
                          <a:solidFill>
                            <a:schemeClr val="tx1"/>
                          </a:solidFill>
                        </a:rPr>
                        <a:t>Brain Tumor Detection Using Convolutional Neural </a:t>
                      </a:r>
                    </a:p>
                    <a:p>
                      <a:r>
                        <a:rPr lang="en-US" sz="2400" dirty="0">
                          <a:solidFill>
                            <a:schemeClr val="tx1"/>
                          </a:solidFill>
                        </a:rPr>
                        <a:t>Network</a:t>
                      </a:r>
                      <a:endParaRPr lang="en-IN" sz="2400" dirty="0">
                        <a:solidFill>
                          <a:schemeClr val="tx1"/>
                        </a:solidFill>
                      </a:endParaRPr>
                    </a:p>
                  </a:txBody>
                  <a:tcPr marL="108000" marR="108000" marT="108000" marB="108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DFDC">
                        <a:alpha val="50196"/>
                      </a:srgbClr>
                    </a:solidFill>
                  </a:tcPr>
                </a:tc>
                <a:tc>
                  <a:txBody>
                    <a:bodyPr/>
                    <a:lstStyle/>
                    <a:p>
                      <a:pPr marL="0" indent="0">
                        <a:buFont typeface="Arial" panose="020B0604020202020204" pitchFamily="34" charset="0"/>
                        <a:buNone/>
                      </a:pPr>
                      <a:r>
                        <a:rPr lang="en-US" sz="2400" dirty="0">
                          <a:solidFill>
                            <a:schemeClr val="tx1"/>
                          </a:solidFill>
                        </a:rPr>
                        <a:t>FCM + CNN improves feature extraction accuracy, but increases preprocessing complexity and computation time.</a:t>
                      </a:r>
                      <a:endParaRPr lang="en-IN" sz="2400" dirty="0">
                        <a:solidFill>
                          <a:schemeClr val="tx1"/>
                        </a:solidFill>
                      </a:endParaRPr>
                    </a:p>
                  </a:txBody>
                  <a:tcPr marL="108000" marR="108000" marT="108000" marB="108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DFDC">
                        <a:alpha val="50196"/>
                      </a:srgbClr>
                    </a:solidFill>
                  </a:tcPr>
                </a:tc>
                <a:extLst>
                  <a:ext uri="{0D108BD9-81ED-4DB2-BD59-A6C34878D82A}">
                    <a16:rowId xmlns:a16="http://schemas.microsoft.com/office/drawing/2014/main" val="2861794875"/>
                  </a:ext>
                </a:extLst>
              </a:tr>
              <a:tr h="1755484">
                <a:tc>
                  <a:txBody>
                    <a:bodyPr/>
                    <a:lstStyle/>
                    <a:p>
                      <a:r>
                        <a:rPr lang="en-IN" sz="2400" dirty="0">
                          <a:solidFill>
                            <a:schemeClr val="tx1"/>
                          </a:solidFill>
                        </a:rPr>
                        <a:t>5</a:t>
                      </a:r>
                    </a:p>
                  </a:txBody>
                  <a:tcPr marL="108000" marR="108000" marT="108000" marB="108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DFDC">
                        <a:alpha val="50196"/>
                      </a:srgbClr>
                    </a:solidFill>
                  </a:tcPr>
                </a:tc>
                <a:tc>
                  <a:txBody>
                    <a:bodyPr/>
                    <a:lstStyle/>
                    <a:p>
                      <a:r>
                        <a:rPr lang="en-IN" sz="2400" dirty="0">
                          <a:solidFill>
                            <a:schemeClr val="tx1"/>
                          </a:solidFill>
                        </a:rPr>
                        <a:t>Awad Bin Naeem Taner </a:t>
                      </a:r>
                      <a:r>
                        <a:rPr lang="en-IN" sz="2400" dirty="0" err="1">
                          <a:solidFill>
                            <a:schemeClr val="tx1"/>
                          </a:solidFill>
                        </a:rPr>
                        <a:t>Cevik</a:t>
                      </a:r>
                      <a:r>
                        <a:rPr lang="en-IN" sz="2400" dirty="0">
                          <a:solidFill>
                            <a:schemeClr val="tx1"/>
                          </a:solidFill>
                        </a:rPr>
                        <a:t>, Onur Osman, </a:t>
                      </a:r>
                      <a:r>
                        <a:rPr lang="en-IN" sz="2400" dirty="0" err="1">
                          <a:solidFill>
                            <a:schemeClr val="tx1"/>
                          </a:solidFill>
                        </a:rPr>
                        <a:t>Shtwai</a:t>
                      </a:r>
                      <a:r>
                        <a:rPr lang="en-IN" sz="2400" dirty="0">
                          <a:solidFill>
                            <a:schemeClr val="tx1"/>
                          </a:solidFill>
                        </a:rPr>
                        <a:t> </a:t>
                      </a:r>
                      <a:r>
                        <a:rPr lang="en-IN" sz="2400" dirty="0" err="1">
                          <a:solidFill>
                            <a:schemeClr val="tx1"/>
                          </a:solidFill>
                        </a:rPr>
                        <a:t>Alsubai</a:t>
                      </a:r>
                      <a:r>
                        <a:rPr lang="en-IN" sz="2400" dirty="0">
                          <a:solidFill>
                            <a:schemeClr val="tx1"/>
                          </a:solidFill>
                        </a:rPr>
                        <a:t> , Abdelhamid Zaidi and Jawad Rasheed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DFDC">
                        <a:alpha val="50196"/>
                      </a:srgbClr>
                    </a:solidFill>
                  </a:tcPr>
                </a:tc>
                <a:tc>
                  <a:txBody>
                    <a:bodyPr/>
                    <a:lstStyle/>
                    <a:p>
                      <a:r>
                        <a:rPr lang="en-US" sz="2400" dirty="0">
                          <a:solidFill>
                            <a:schemeClr val="tx1"/>
                          </a:solidFill>
                        </a:rPr>
                        <a:t>Lightweight CNN for accurate </a:t>
                      </a:r>
                    </a:p>
                    <a:p>
                      <a:r>
                        <a:rPr lang="en-US" sz="2400" dirty="0">
                          <a:solidFill>
                            <a:schemeClr val="tx1"/>
                          </a:solidFill>
                        </a:rPr>
                        <a:t>brain tumor detection from MRI </a:t>
                      </a:r>
                    </a:p>
                    <a:p>
                      <a:r>
                        <a:rPr lang="en-US" sz="2400" dirty="0">
                          <a:solidFill>
                            <a:schemeClr val="tx1"/>
                          </a:solidFill>
                        </a:rPr>
                        <a:t>with limited training data</a:t>
                      </a:r>
                      <a:endParaRPr lang="en-IN"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DFDC">
                        <a:alpha val="50196"/>
                      </a:srgbClr>
                    </a:solidFill>
                  </a:tcPr>
                </a:tc>
                <a:tc>
                  <a:txBody>
                    <a:bodyPr/>
                    <a:lstStyle/>
                    <a:p>
                      <a:r>
                        <a:rPr lang="en-US" sz="2400" dirty="0">
                          <a:solidFill>
                            <a:schemeClr val="tx1"/>
                          </a:solidFill>
                        </a:rPr>
                        <a:t>Lightweight CNN achieves high accuracy with fewer parameters, but may not generalize well for large or diverse datasets.</a:t>
                      </a:r>
                      <a:endParaRPr lang="en-IN"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DFDC">
                        <a:alpha val="50196"/>
                      </a:srgbClr>
                    </a:solidFill>
                  </a:tcPr>
                </a:tc>
                <a:extLst>
                  <a:ext uri="{0D108BD9-81ED-4DB2-BD59-A6C34878D82A}">
                    <a16:rowId xmlns:a16="http://schemas.microsoft.com/office/drawing/2014/main" val="1198017465"/>
                  </a:ext>
                </a:extLst>
              </a:tr>
              <a:tr h="1755484">
                <a:tc>
                  <a:txBody>
                    <a:bodyPr/>
                    <a:lstStyle/>
                    <a:p>
                      <a:r>
                        <a:rPr lang="en-IN" sz="2400" dirty="0">
                          <a:solidFill>
                            <a:schemeClr val="tx1"/>
                          </a:solidFill>
                        </a:rPr>
                        <a:t>6</a:t>
                      </a:r>
                    </a:p>
                  </a:txBody>
                  <a:tcPr marL="108000" marR="108000" marT="108000" marB="108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DFDC">
                        <a:alpha val="50196"/>
                      </a:srgbClr>
                    </a:solidFill>
                  </a:tcPr>
                </a:tc>
                <a:tc>
                  <a:txBody>
                    <a:bodyPr/>
                    <a:lstStyle/>
                    <a:p>
                      <a:r>
                        <a:rPr lang="en-US" sz="2400" dirty="0">
                          <a:solidFill>
                            <a:schemeClr val="tx1"/>
                          </a:solidFill>
                        </a:rPr>
                        <a:t>Ranit Sen, Gopinath Balaji, and Harsh Kirty3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DFDC">
                        <a:alpha val="50196"/>
                      </a:srgbClr>
                    </a:solidFill>
                  </a:tcPr>
                </a:tc>
                <a:tc>
                  <a:txBody>
                    <a:bodyPr/>
                    <a:lstStyle/>
                    <a:p>
                      <a:r>
                        <a:rPr lang="en-US" sz="2400" dirty="0">
                          <a:solidFill>
                            <a:schemeClr val="tx1"/>
                          </a:solidFill>
                        </a:rPr>
                        <a:t>Detection and Classification of Brain tumors Using Deep Convolutional</a:t>
                      </a:r>
                    </a:p>
                    <a:p>
                      <a:r>
                        <a:rPr lang="en-US" sz="2400" dirty="0">
                          <a:solidFill>
                            <a:schemeClr val="tx1"/>
                          </a:solidFill>
                        </a:rPr>
                        <a:t>Neural Networks</a:t>
                      </a:r>
                      <a:endParaRPr lang="en-IN"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DFDC">
                        <a:alpha val="50196"/>
                      </a:srgbClr>
                    </a:solidFill>
                  </a:tcPr>
                </a:tc>
                <a:tc>
                  <a:txBody>
                    <a:bodyPr/>
                    <a:lstStyle/>
                    <a:p>
                      <a:r>
                        <a:rPr lang="en-US" sz="2400" dirty="0">
                          <a:solidFill>
                            <a:schemeClr val="tx1"/>
                          </a:solidFill>
                        </a:rPr>
                        <a:t>Transfer learning models provide high accuracy, but demand high computational power and careful preprocessing.</a:t>
                      </a:r>
                      <a:endParaRPr lang="en-IN"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DFDC">
                        <a:alpha val="50196"/>
                      </a:srgbClr>
                    </a:solidFill>
                  </a:tcPr>
                </a:tc>
                <a:extLst>
                  <a:ext uri="{0D108BD9-81ED-4DB2-BD59-A6C34878D82A}">
                    <a16:rowId xmlns:a16="http://schemas.microsoft.com/office/drawing/2014/main" val="3534366132"/>
                  </a:ext>
                </a:extLst>
              </a:tr>
              <a:tr h="1755484">
                <a:tc>
                  <a:txBody>
                    <a:bodyPr/>
                    <a:lstStyle/>
                    <a:p>
                      <a:r>
                        <a:rPr lang="en-IN" sz="2400" dirty="0">
                          <a:solidFill>
                            <a:schemeClr val="tx1"/>
                          </a:solidFill>
                        </a:rPr>
                        <a:t>7</a:t>
                      </a:r>
                    </a:p>
                  </a:txBody>
                  <a:tcPr marL="108000" marR="108000" marT="108000" marB="108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DFDC">
                        <a:alpha val="50196"/>
                      </a:srgbClr>
                    </a:solidFill>
                  </a:tcPr>
                </a:tc>
                <a:tc>
                  <a:txBody>
                    <a:bodyPr/>
                    <a:lstStyle/>
                    <a:p>
                      <a:r>
                        <a:rPr lang="en-IN" sz="2400" dirty="0">
                          <a:solidFill>
                            <a:schemeClr val="tx1"/>
                          </a:solidFill>
                        </a:rPr>
                        <a:t>Khalil </a:t>
                      </a:r>
                      <a:r>
                        <a:rPr lang="en-IN" sz="2400" dirty="0" err="1">
                          <a:solidFill>
                            <a:schemeClr val="tx1"/>
                          </a:solidFill>
                        </a:rPr>
                        <a:t>Mouhah</a:t>
                      </a:r>
                      <a:r>
                        <a:rPr lang="en-IN" sz="2400" dirty="0">
                          <a:solidFill>
                            <a:schemeClr val="tx1"/>
                          </a:solidFill>
                        </a:rPr>
                        <a:t>, Hind Faiz, Safae </a:t>
                      </a:r>
                      <a:r>
                        <a:rPr lang="en-IN" sz="2400" dirty="0" err="1">
                          <a:solidFill>
                            <a:schemeClr val="tx1"/>
                          </a:solidFill>
                        </a:rPr>
                        <a:t>Bourhnan</a:t>
                      </a:r>
                      <a:endParaRPr lang="en-IN"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DFDC">
                        <a:alpha val="50196"/>
                      </a:srgbClr>
                    </a:solidFill>
                  </a:tcPr>
                </a:tc>
                <a:tc>
                  <a:txBody>
                    <a:bodyPr/>
                    <a:lstStyle/>
                    <a:p>
                      <a:r>
                        <a:rPr lang="en-IN" sz="2400" dirty="0">
                          <a:solidFill>
                            <a:schemeClr val="tx1"/>
                          </a:solidFill>
                        </a:rPr>
                        <a:t>Large Matrix Multiplication Algorithms: Analysis and Comparison. (ICACS ,Oct 2023)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DFDC">
                        <a:alpha val="50196"/>
                      </a:srgbClr>
                    </a:solidFill>
                  </a:tcPr>
                </a:tc>
                <a:tc>
                  <a:txBody>
                    <a:bodyPr/>
                    <a:lstStyle/>
                    <a:p>
                      <a:r>
                        <a:rPr lang="en-US" sz="2400" dirty="0">
                          <a:solidFill>
                            <a:schemeClr val="tx1"/>
                          </a:solidFill>
                        </a:rPr>
                        <a:t> Strassen’s algorithm reduces time complexity, but introduces additional memory overhead and implementation complexity.</a:t>
                      </a:r>
                      <a:endParaRPr lang="en-IN"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DFDC">
                        <a:alpha val="50196"/>
                      </a:srgbClr>
                    </a:solidFill>
                  </a:tcPr>
                </a:tc>
                <a:extLst>
                  <a:ext uri="{0D108BD9-81ED-4DB2-BD59-A6C34878D82A}">
                    <a16:rowId xmlns:a16="http://schemas.microsoft.com/office/drawing/2014/main" val="3474861797"/>
                  </a:ext>
                </a:extLst>
              </a:tr>
            </a:tbl>
          </a:graphicData>
        </a:graphic>
      </p:graphicFrame>
      <p:sp>
        <p:nvSpPr>
          <p:cNvPr id="8" name="TextBox 7">
            <a:extLst>
              <a:ext uri="{FF2B5EF4-FFF2-40B4-BE49-F238E27FC236}">
                <a16:creationId xmlns:a16="http://schemas.microsoft.com/office/drawing/2014/main" id="{F8BA037A-0949-3DE8-D29A-D53C1854760F}"/>
              </a:ext>
            </a:extLst>
          </p:cNvPr>
          <p:cNvSpPr txBox="1"/>
          <p:nvPr/>
        </p:nvSpPr>
        <p:spPr>
          <a:xfrm>
            <a:off x="9144000" y="9334500"/>
            <a:ext cx="340158" cy="461665"/>
          </a:xfrm>
          <a:prstGeom prst="rect">
            <a:avLst/>
          </a:prstGeom>
          <a:noFill/>
        </p:spPr>
        <p:txBody>
          <a:bodyPr wrap="none" rtlCol="0">
            <a:spAutoFit/>
          </a:bodyPr>
          <a:lstStyle/>
          <a:p>
            <a:pPr algn="ctr"/>
            <a:r>
              <a:rPr lang="en-IN" sz="2400" dirty="0">
                <a:solidFill>
                  <a:schemeClr val="tx1">
                    <a:lumMod val="65000"/>
                    <a:lumOff val="35000"/>
                  </a:schemeClr>
                </a:solidFill>
              </a:rPr>
              <a:t>8</a:t>
            </a:r>
          </a:p>
        </p:txBody>
      </p:sp>
    </p:spTree>
    <p:extLst>
      <p:ext uri="{BB962C8B-B14F-4D97-AF65-F5344CB8AC3E}">
        <p14:creationId xmlns:p14="http://schemas.microsoft.com/office/powerpoint/2010/main" val="28573932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7FF380-144B-9FE6-1EF1-BB4CC65948CE}"/>
            </a:ext>
          </a:extLst>
        </p:cNvPr>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C0D71A13-436F-5158-FD88-32E5D5DC4FAB}"/>
              </a:ext>
            </a:extLst>
          </p:cNvPr>
          <p:cNvGraphicFramePr>
            <a:graphicFrameLocks noGrp="1"/>
          </p:cNvGraphicFramePr>
          <p:nvPr>
            <p:extLst>
              <p:ext uri="{D42A27DB-BD31-4B8C-83A1-F6EECF244321}">
                <p14:modId xmlns:p14="http://schemas.microsoft.com/office/powerpoint/2010/main" val="350339105"/>
              </p:ext>
            </p:extLst>
          </p:nvPr>
        </p:nvGraphicFramePr>
        <p:xfrm>
          <a:off x="959738" y="1485900"/>
          <a:ext cx="16348406" cy="7315200"/>
        </p:xfrm>
        <a:graphic>
          <a:graphicData uri="http://schemas.openxmlformats.org/drawingml/2006/table">
            <a:tbl>
              <a:tblPr firstRow="1" bandRow="1">
                <a:tableStyleId>{E8034E78-7F5D-4C2E-B375-FC64B27BC917}</a:tableStyleId>
              </a:tblPr>
              <a:tblGrid>
                <a:gridCol w="1019127">
                  <a:extLst>
                    <a:ext uri="{9D8B030D-6E8A-4147-A177-3AD203B41FA5}">
                      <a16:colId xmlns:a16="http://schemas.microsoft.com/office/drawing/2014/main" val="1019025433"/>
                    </a:ext>
                  </a:extLst>
                </a:gridCol>
                <a:gridCol w="4057080">
                  <a:extLst>
                    <a:ext uri="{9D8B030D-6E8A-4147-A177-3AD203B41FA5}">
                      <a16:colId xmlns:a16="http://schemas.microsoft.com/office/drawing/2014/main" val="4222972953"/>
                    </a:ext>
                  </a:extLst>
                </a:gridCol>
                <a:gridCol w="5535364">
                  <a:extLst>
                    <a:ext uri="{9D8B030D-6E8A-4147-A177-3AD203B41FA5}">
                      <a16:colId xmlns:a16="http://schemas.microsoft.com/office/drawing/2014/main" val="1323304465"/>
                    </a:ext>
                  </a:extLst>
                </a:gridCol>
                <a:gridCol w="5736835">
                  <a:extLst>
                    <a:ext uri="{9D8B030D-6E8A-4147-A177-3AD203B41FA5}">
                      <a16:colId xmlns:a16="http://schemas.microsoft.com/office/drawing/2014/main" val="3778375893"/>
                    </a:ext>
                  </a:extLst>
                </a:gridCol>
              </a:tblGrid>
              <a:tr h="991327">
                <a:tc>
                  <a:txBody>
                    <a:bodyPr/>
                    <a:lstStyle/>
                    <a:p>
                      <a:pPr algn="ctr"/>
                      <a:r>
                        <a:rPr lang="en-IN" sz="2800" b="1" dirty="0">
                          <a:solidFill>
                            <a:schemeClr val="tx1"/>
                          </a:solidFill>
                        </a:rPr>
                        <a:t>SI </a:t>
                      </a:r>
                    </a:p>
                    <a:p>
                      <a:pPr algn="ctr"/>
                      <a:r>
                        <a:rPr lang="en-IN" sz="2800" b="1" dirty="0">
                          <a:solidFill>
                            <a:schemeClr val="tx1"/>
                          </a:solidFill>
                        </a:rPr>
                        <a:t>No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DFDC"/>
                    </a:solidFill>
                  </a:tcPr>
                </a:tc>
                <a:tc>
                  <a:txBody>
                    <a:bodyPr/>
                    <a:lstStyle/>
                    <a:p>
                      <a:pPr algn="ctr"/>
                      <a:r>
                        <a:rPr lang="en-IN" sz="2800" b="1" dirty="0">
                          <a:solidFill>
                            <a:schemeClr val="tx1"/>
                          </a:solidFill>
                        </a:rPr>
                        <a:t>Author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DFDC"/>
                    </a:solidFill>
                  </a:tcPr>
                </a:tc>
                <a:tc>
                  <a:txBody>
                    <a:bodyPr/>
                    <a:lstStyle/>
                    <a:p>
                      <a:pPr algn="ctr"/>
                      <a:r>
                        <a:rPr lang="en-IN" sz="2800" b="1" dirty="0">
                          <a:solidFill>
                            <a:schemeClr val="tx1"/>
                          </a:solidFill>
                        </a:rPr>
                        <a:t>Remarks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DFDC"/>
                    </a:solidFill>
                  </a:tcPr>
                </a:tc>
                <a:tc>
                  <a:txBody>
                    <a:bodyPr/>
                    <a:lstStyle/>
                    <a:p>
                      <a:pPr algn="ctr"/>
                      <a:r>
                        <a:rPr lang="en-IN" sz="2800" b="1" dirty="0">
                          <a:solidFill>
                            <a:schemeClr val="tx1"/>
                          </a:solidFill>
                        </a:rPr>
                        <a:t>Remarks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DFDC"/>
                    </a:solidFill>
                  </a:tcPr>
                </a:tc>
                <a:extLst>
                  <a:ext uri="{0D108BD9-81ED-4DB2-BD59-A6C34878D82A}">
                    <a16:rowId xmlns:a16="http://schemas.microsoft.com/office/drawing/2014/main" val="3889841128"/>
                  </a:ext>
                </a:extLst>
              </a:tr>
              <a:tr h="1936509">
                <a:tc>
                  <a:txBody>
                    <a:bodyPr/>
                    <a:lstStyle/>
                    <a:p>
                      <a:r>
                        <a:rPr lang="en-IN" sz="2500" dirty="0">
                          <a:solidFill>
                            <a:schemeClr val="tx1"/>
                          </a:solidFill>
                        </a:rPr>
                        <a:t>8</a:t>
                      </a:r>
                    </a:p>
                  </a:txBody>
                  <a:tcPr marL="108000" marR="108000" marT="108000" marB="108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DFDC">
                        <a:alpha val="50196"/>
                      </a:srgbClr>
                    </a:solidFill>
                  </a:tcPr>
                </a:tc>
                <a:tc>
                  <a:txBody>
                    <a:bodyPr/>
                    <a:lstStyle/>
                    <a:p>
                      <a:r>
                        <a:rPr lang="en-IN" sz="2500" dirty="0" err="1">
                          <a:solidFill>
                            <a:schemeClr val="tx1"/>
                          </a:solidFill>
                        </a:rPr>
                        <a:t>Mufakir</a:t>
                      </a:r>
                      <a:r>
                        <a:rPr lang="en-IN" sz="2500" dirty="0">
                          <a:solidFill>
                            <a:schemeClr val="tx1"/>
                          </a:solidFill>
                        </a:rPr>
                        <a:t> Qamar Ansari And </a:t>
                      </a:r>
                      <a:r>
                        <a:rPr lang="en-IN" sz="2500" dirty="0" err="1">
                          <a:solidFill>
                            <a:schemeClr val="tx1"/>
                          </a:solidFill>
                        </a:rPr>
                        <a:t>Mudabir</a:t>
                      </a:r>
                      <a:r>
                        <a:rPr lang="en-IN" sz="2500" dirty="0">
                          <a:solidFill>
                            <a:schemeClr val="tx1"/>
                          </a:solidFill>
                        </a:rPr>
                        <a:t> Qamar Ansari</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DFDC">
                        <a:alpha val="50196"/>
                      </a:srgbClr>
                    </a:solidFill>
                  </a:tcPr>
                </a:tc>
                <a:tc>
                  <a:txBody>
                    <a:bodyPr/>
                    <a:lstStyle/>
                    <a:p>
                      <a:r>
                        <a:rPr lang="en-US" sz="2500" dirty="0">
                          <a:solidFill>
                            <a:schemeClr val="tx1"/>
                          </a:solidFill>
                        </a:rPr>
                        <a:t>Accelerating matrix multiplication: a performance</a:t>
                      </a:r>
                    </a:p>
                    <a:p>
                      <a:r>
                        <a:rPr lang="en-US" sz="2500" dirty="0">
                          <a:solidFill>
                            <a:schemeClr val="tx1"/>
                          </a:solidFill>
                        </a:rPr>
                        <a:t>Comparison between multi-core </a:t>
                      </a:r>
                      <a:r>
                        <a:rPr lang="en-US" sz="2500" dirty="0" err="1">
                          <a:solidFill>
                            <a:schemeClr val="tx1"/>
                          </a:solidFill>
                        </a:rPr>
                        <a:t>cpu</a:t>
                      </a:r>
                      <a:r>
                        <a:rPr lang="en-US" sz="2500" dirty="0">
                          <a:solidFill>
                            <a:schemeClr val="tx1"/>
                          </a:solidFill>
                        </a:rPr>
                        <a:t> and </a:t>
                      </a:r>
                      <a:r>
                        <a:rPr lang="en-US" sz="2500" dirty="0" err="1">
                          <a:solidFill>
                            <a:schemeClr val="tx1"/>
                          </a:solidFill>
                        </a:rPr>
                        <a:t>gpu</a:t>
                      </a:r>
                      <a:endParaRPr lang="en-IN" sz="25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DFDC">
                        <a:alpha val="50196"/>
                      </a:srgbClr>
                    </a:solidFill>
                  </a:tcPr>
                </a:tc>
                <a:tc>
                  <a:txBody>
                    <a:bodyPr/>
                    <a:lstStyle/>
                    <a:p>
                      <a:r>
                        <a:rPr lang="en-US" sz="2500" dirty="0">
                          <a:solidFill>
                            <a:schemeClr val="tx1"/>
                          </a:solidFill>
                        </a:rPr>
                        <a:t>GPU-based methods achieve high performance, but require complex memory management and specialized hardware.</a:t>
                      </a:r>
                      <a:endParaRPr lang="en-IN" sz="25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DFDC">
                        <a:alpha val="50196"/>
                      </a:srgbClr>
                    </a:solidFill>
                  </a:tcPr>
                </a:tc>
                <a:extLst>
                  <a:ext uri="{0D108BD9-81ED-4DB2-BD59-A6C34878D82A}">
                    <a16:rowId xmlns:a16="http://schemas.microsoft.com/office/drawing/2014/main" val="2821324919"/>
                  </a:ext>
                </a:extLst>
              </a:tr>
              <a:tr h="1936509">
                <a:tc>
                  <a:txBody>
                    <a:bodyPr/>
                    <a:lstStyle/>
                    <a:p>
                      <a:pPr algn="l"/>
                      <a:r>
                        <a:rPr lang="en-IN" sz="2500" dirty="0">
                          <a:solidFill>
                            <a:schemeClr val="tx1"/>
                          </a:solidFill>
                        </a:rPr>
                        <a:t>9</a:t>
                      </a:r>
                    </a:p>
                  </a:txBody>
                  <a:tcPr marL="108000" marR="108000" marT="10800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DFDC">
                        <a:alpha val="50196"/>
                      </a:srgbClr>
                    </a:solidFill>
                  </a:tcPr>
                </a:tc>
                <a:tc>
                  <a:txBody>
                    <a:bodyPr/>
                    <a:lstStyle/>
                    <a:p>
                      <a:r>
                        <a:rPr lang="da-DK" sz="2500" dirty="0">
                          <a:solidFill>
                            <a:schemeClr val="tx1"/>
                          </a:solidFill>
                        </a:rPr>
                        <a:t>Nizar ALHafez, Ahmad Kurdi</a:t>
                      </a:r>
                    </a:p>
                  </a:txBody>
                  <a:tcPr marL="108000" marR="108000" marT="108000" marB="108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DFDC">
                        <a:alpha val="50196"/>
                      </a:srgbClr>
                    </a:solidFill>
                  </a:tcPr>
                </a:tc>
                <a:tc>
                  <a:txBody>
                    <a:bodyPr/>
                    <a:lstStyle/>
                    <a:p>
                      <a:pPr lvl="0" algn="l">
                        <a:spcBef>
                          <a:spcPts val="0"/>
                        </a:spcBef>
                      </a:pPr>
                      <a:r>
                        <a:rPr lang="en-US" sz="2500" dirty="0">
                          <a:solidFill>
                            <a:schemeClr val="tx1"/>
                          </a:solidFill>
                        </a:rPr>
                        <a:t>Parallel Paradigms in Modern HPC: A Comparative </a:t>
                      </a:r>
                    </a:p>
                    <a:p>
                      <a:pPr lvl="0" algn="l">
                        <a:spcBef>
                          <a:spcPts val="0"/>
                        </a:spcBef>
                      </a:pPr>
                      <a:r>
                        <a:rPr lang="en-US" sz="2500" dirty="0">
                          <a:solidFill>
                            <a:schemeClr val="tx1"/>
                          </a:solidFill>
                        </a:rPr>
                        <a:t>Analysis of MPI, OpenMP, and CUDA</a:t>
                      </a:r>
                      <a:endParaRPr lang="en-IN" sz="2500" dirty="0">
                        <a:solidFill>
                          <a:schemeClr val="tx1"/>
                        </a:solidFill>
                      </a:endParaRPr>
                    </a:p>
                  </a:txBody>
                  <a:tcPr marL="108000" marR="108000" marT="108000" marB="108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DFDC">
                        <a:alpha val="50196"/>
                      </a:srgbClr>
                    </a:solidFill>
                  </a:tcPr>
                </a:tc>
                <a:tc>
                  <a:txBody>
                    <a:bodyPr/>
                    <a:lstStyle/>
                    <a:p>
                      <a:pPr>
                        <a:spcBef>
                          <a:spcPts val="0"/>
                        </a:spcBef>
                      </a:pPr>
                      <a:r>
                        <a:rPr lang="en-US" sz="2500" dirty="0">
                          <a:solidFill>
                            <a:schemeClr val="tx1"/>
                          </a:solidFill>
                        </a:rPr>
                        <a:t>Parallel methods like OpenMP and CUDA improve performance, but overhead affects efficiency for smaller problem sizes.</a:t>
                      </a:r>
                      <a:endParaRPr lang="en-IN" sz="2500" dirty="0">
                        <a:solidFill>
                          <a:schemeClr val="tx1"/>
                        </a:solidFill>
                      </a:endParaRPr>
                    </a:p>
                  </a:txBody>
                  <a:tcPr marL="108000" marR="108000" marT="108000" marB="108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DFDC">
                        <a:alpha val="50196"/>
                      </a:srgbClr>
                    </a:solidFill>
                  </a:tcPr>
                </a:tc>
                <a:extLst>
                  <a:ext uri="{0D108BD9-81ED-4DB2-BD59-A6C34878D82A}">
                    <a16:rowId xmlns:a16="http://schemas.microsoft.com/office/drawing/2014/main" val="1198017465"/>
                  </a:ext>
                </a:extLst>
              </a:tr>
              <a:tr h="2450855">
                <a:tc>
                  <a:txBody>
                    <a:bodyPr/>
                    <a:lstStyle/>
                    <a:p>
                      <a:pPr algn="l"/>
                      <a:r>
                        <a:rPr lang="en-IN" sz="2500" dirty="0">
                          <a:solidFill>
                            <a:schemeClr val="tx1"/>
                          </a:solidFill>
                        </a:rPr>
                        <a:t>10</a:t>
                      </a:r>
                    </a:p>
                  </a:txBody>
                  <a:tcPr marL="108000" marR="108000" marT="10800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DFDC">
                        <a:alpha val="50196"/>
                      </a:srgbClr>
                    </a:solidFill>
                  </a:tcPr>
                </a:tc>
                <a:tc>
                  <a:txBody>
                    <a:bodyPr/>
                    <a:lstStyle/>
                    <a:p>
                      <a:r>
                        <a:rPr lang="en-IN" sz="2500" dirty="0" err="1">
                          <a:solidFill>
                            <a:schemeClr val="tx1"/>
                          </a:solidFill>
                        </a:rPr>
                        <a:t>Hitimana</a:t>
                      </a:r>
                      <a:r>
                        <a:rPr lang="en-IN" sz="2500" dirty="0">
                          <a:solidFill>
                            <a:schemeClr val="tx1"/>
                          </a:solidFill>
                        </a:rPr>
                        <a:t> et al.</a:t>
                      </a:r>
                    </a:p>
                  </a:txBody>
                  <a:tcPr marL="108000" marR="108000" marT="108000" marB="108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DFDC">
                        <a:alpha val="50196"/>
                      </a:srgbClr>
                    </a:solidFill>
                  </a:tcPr>
                </a:tc>
                <a:tc>
                  <a:txBody>
                    <a:bodyPr/>
                    <a:lstStyle/>
                    <a:p>
                      <a:r>
                        <a:rPr lang="en-US" sz="2500" dirty="0">
                          <a:solidFill>
                            <a:schemeClr val="tx1"/>
                          </a:solidFill>
                        </a:rPr>
                        <a:t>Comparative study on performance of High Performance Computing </a:t>
                      </a:r>
                    </a:p>
                    <a:p>
                      <a:r>
                        <a:rPr lang="en-US" sz="2500" dirty="0">
                          <a:solidFill>
                            <a:schemeClr val="tx1"/>
                          </a:solidFill>
                        </a:rPr>
                        <a:t>under OpenMP and MPI on Image Segmentation</a:t>
                      </a:r>
                      <a:endParaRPr lang="en-IN" sz="2500" dirty="0">
                        <a:solidFill>
                          <a:schemeClr val="tx1"/>
                        </a:solidFill>
                      </a:endParaRPr>
                    </a:p>
                  </a:txBody>
                  <a:tcPr marL="108000" marR="108000" marT="108000" marB="108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DFDC">
                        <a:alpha val="50196"/>
                      </a:srgbClr>
                    </a:solidFill>
                  </a:tcPr>
                </a:tc>
                <a:tc>
                  <a:txBody>
                    <a:bodyPr/>
                    <a:lstStyle/>
                    <a:p>
                      <a:r>
                        <a:rPr lang="en-US" sz="2500" dirty="0">
                          <a:solidFill>
                            <a:schemeClr val="tx1"/>
                          </a:solidFill>
                        </a:rPr>
                        <a:t>OpenMP and MPI improve performance in parallel image processing, but communication overhead and load balancing issues can limit scalability.</a:t>
                      </a:r>
                      <a:endParaRPr lang="en-IN" sz="2500" b="1" dirty="0">
                        <a:solidFill>
                          <a:schemeClr val="tx1"/>
                        </a:solidFill>
                      </a:endParaRPr>
                    </a:p>
                  </a:txBody>
                  <a:tcPr marL="108000" marR="108000" marT="108000" marB="108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DFDC">
                        <a:alpha val="50196"/>
                      </a:srgbClr>
                    </a:solidFill>
                  </a:tcPr>
                </a:tc>
                <a:extLst>
                  <a:ext uri="{0D108BD9-81ED-4DB2-BD59-A6C34878D82A}">
                    <a16:rowId xmlns:a16="http://schemas.microsoft.com/office/drawing/2014/main" val="2934866180"/>
                  </a:ext>
                </a:extLst>
              </a:tr>
            </a:tbl>
          </a:graphicData>
        </a:graphic>
      </p:graphicFrame>
      <p:sp>
        <p:nvSpPr>
          <p:cNvPr id="9" name="TextBox 8">
            <a:extLst>
              <a:ext uri="{FF2B5EF4-FFF2-40B4-BE49-F238E27FC236}">
                <a16:creationId xmlns:a16="http://schemas.microsoft.com/office/drawing/2014/main" id="{17BE04D2-897D-0CCD-3264-13DF670A81AA}"/>
              </a:ext>
            </a:extLst>
          </p:cNvPr>
          <p:cNvSpPr txBox="1"/>
          <p:nvPr/>
        </p:nvSpPr>
        <p:spPr>
          <a:xfrm>
            <a:off x="8963862" y="9396755"/>
            <a:ext cx="340158" cy="461665"/>
          </a:xfrm>
          <a:prstGeom prst="rect">
            <a:avLst/>
          </a:prstGeom>
          <a:noFill/>
        </p:spPr>
        <p:txBody>
          <a:bodyPr wrap="none" rtlCol="0">
            <a:spAutoFit/>
          </a:bodyPr>
          <a:lstStyle/>
          <a:p>
            <a:r>
              <a:rPr lang="en-IN" sz="2400" dirty="0">
                <a:solidFill>
                  <a:schemeClr val="tx1">
                    <a:lumMod val="65000"/>
                    <a:lumOff val="35000"/>
                  </a:schemeClr>
                </a:solidFill>
              </a:rPr>
              <a:t>9</a:t>
            </a:r>
          </a:p>
        </p:txBody>
      </p:sp>
    </p:spTree>
    <p:extLst>
      <p:ext uri="{BB962C8B-B14F-4D97-AF65-F5344CB8AC3E}">
        <p14:creationId xmlns:p14="http://schemas.microsoft.com/office/powerpoint/2010/main" val="25874155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81F22E-0970-7A7F-16CD-6D2F6EF29A5B}"/>
            </a:ext>
          </a:extLst>
        </p:cNvPr>
        <p:cNvGrpSpPr/>
        <p:nvPr/>
      </p:nvGrpSpPr>
      <p:grpSpPr>
        <a:xfrm>
          <a:off x="0" y="0"/>
          <a:ext cx="0" cy="0"/>
          <a:chOff x="0" y="0"/>
          <a:chExt cx="0" cy="0"/>
        </a:xfrm>
      </p:grpSpPr>
      <p:grpSp>
        <p:nvGrpSpPr>
          <p:cNvPr id="19" name="Group 5">
            <a:extLst>
              <a:ext uri="{FF2B5EF4-FFF2-40B4-BE49-F238E27FC236}">
                <a16:creationId xmlns:a16="http://schemas.microsoft.com/office/drawing/2014/main" id="{32099033-D847-9A44-BD36-1F21E7617C22}"/>
              </a:ext>
            </a:extLst>
          </p:cNvPr>
          <p:cNvGrpSpPr/>
          <p:nvPr/>
        </p:nvGrpSpPr>
        <p:grpSpPr>
          <a:xfrm>
            <a:off x="18088875" y="-137537"/>
            <a:ext cx="1273129" cy="10562074"/>
            <a:chOff x="0" y="0"/>
            <a:chExt cx="335310" cy="2781781"/>
          </a:xfrm>
        </p:grpSpPr>
        <p:sp>
          <p:nvSpPr>
            <p:cNvPr id="20" name="Freeform 6">
              <a:extLst>
                <a:ext uri="{FF2B5EF4-FFF2-40B4-BE49-F238E27FC236}">
                  <a16:creationId xmlns:a16="http://schemas.microsoft.com/office/drawing/2014/main" id="{B6A65307-584A-0449-DC72-4D71879B712A}"/>
                </a:ext>
              </a:extLst>
            </p:cNvPr>
            <p:cNvSpPr/>
            <p:nvPr/>
          </p:nvSpPr>
          <p:spPr>
            <a:xfrm>
              <a:off x="0" y="0"/>
              <a:ext cx="335310" cy="2781781"/>
            </a:xfrm>
            <a:custGeom>
              <a:avLst/>
              <a:gdLst/>
              <a:ahLst/>
              <a:cxnLst/>
              <a:rect l="l" t="t" r="r" b="b"/>
              <a:pathLst>
                <a:path w="335310" h="2781781">
                  <a:moveTo>
                    <a:pt x="0" y="0"/>
                  </a:moveTo>
                  <a:lnTo>
                    <a:pt x="335310" y="0"/>
                  </a:lnTo>
                  <a:lnTo>
                    <a:pt x="335310" y="2781781"/>
                  </a:lnTo>
                  <a:lnTo>
                    <a:pt x="0" y="2781781"/>
                  </a:lnTo>
                  <a:close/>
                </a:path>
              </a:pathLst>
            </a:custGeom>
            <a:solidFill>
              <a:srgbClr val="F5DFDC"/>
            </a:solidFill>
            <a:ln cap="sq">
              <a:noFill/>
              <a:prstDash val="solid"/>
              <a:miter/>
            </a:ln>
          </p:spPr>
          <p:txBody>
            <a:bodyPr/>
            <a:lstStyle/>
            <a:p>
              <a:endParaRPr lang="en-IN"/>
            </a:p>
          </p:txBody>
        </p:sp>
        <p:sp>
          <p:nvSpPr>
            <p:cNvPr id="21" name="TextBox 7">
              <a:extLst>
                <a:ext uri="{FF2B5EF4-FFF2-40B4-BE49-F238E27FC236}">
                  <a16:creationId xmlns:a16="http://schemas.microsoft.com/office/drawing/2014/main" id="{C868D63C-E876-032B-1B4E-B0C82CA5C9EE}"/>
                </a:ext>
              </a:extLst>
            </p:cNvPr>
            <p:cNvSpPr txBox="1"/>
            <p:nvPr/>
          </p:nvSpPr>
          <p:spPr>
            <a:xfrm>
              <a:off x="0" y="38100"/>
              <a:ext cx="335310" cy="2743681"/>
            </a:xfrm>
            <a:prstGeom prst="rect">
              <a:avLst/>
            </a:prstGeom>
          </p:spPr>
          <p:txBody>
            <a:bodyPr lIns="50800" tIns="50800" rIns="50800" bIns="50800" rtlCol="0" anchor="ctr"/>
            <a:lstStyle/>
            <a:p>
              <a:pPr algn="ctr">
                <a:lnSpc>
                  <a:spcPts val="2100"/>
                </a:lnSpc>
              </a:pPr>
              <a:endParaRPr/>
            </a:p>
          </p:txBody>
        </p:sp>
      </p:grpSp>
      <p:grpSp>
        <p:nvGrpSpPr>
          <p:cNvPr id="16" name="Group 2">
            <a:extLst>
              <a:ext uri="{FF2B5EF4-FFF2-40B4-BE49-F238E27FC236}">
                <a16:creationId xmlns:a16="http://schemas.microsoft.com/office/drawing/2014/main" id="{3930A015-77F6-9008-4A0E-567977863E05}"/>
              </a:ext>
            </a:extLst>
          </p:cNvPr>
          <p:cNvGrpSpPr/>
          <p:nvPr/>
        </p:nvGrpSpPr>
        <p:grpSpPr>
          <a:xfrm>
            <a:off x="-998214" y="24260"/>
            <a:ext cx="1273129" cy="10562074"/>
            <a:chOff x="0" y="0"/>
            <a:chExt cx="335310" cy="2781781"/>
          </a:xfrm>
        </p:grpSpPr>
        <p:sp>
          <p:nvSpPr>
            <p:cNvPr id="17" name="Freeform 3">
              <a:extLst>
                <a:ext uri="{FF2B5EF4-FFF2-40B4-BE49-F238E27FC236}">
                  <a16:creationId xmlns:a16="http://schemas.microsoft.com/office/drawing/2014/main" id="{0FCFF90A-36BE-1E29-504F-9E42E475939C}"/>
                </a:ext>
              </a:extLst>
            </p:cNvPr>
            <p:cNvSpPr/>
            <p:nvPr/>
          </p:nvSpPr>
          <p:spPr>
            <a:xfrm>
              <a:off x="0" y="0"/>
              <a:ext cx="335310" cy="2781781"/>
            </a:xfrm>
            <a:custGeom>
              <a:avLst/>
              <a:gdLst/>
              <a:ahLst/>
              <a:cxnLst/>
              <a:rect l="l" t="t" r="r" b="b"/>
              <a:pathLst>
                <a:path w="335310" h="2781781">
                  <a:moveTo>
                    <a:pt x="0" y="0"/>
                  </a:moveTo>
                  <a:lnTo>
                    <a:pt x="335310" y="0"/>
                  </a:lnTo>
                  <a:lnTo>
                    <a:pt x="335310" y="2781781"/>
                  </a:lnTo>
                  <a:lnTo>
                    <a:pt x="0" y="2781781"/>
                  </a:lnTo>
                  <a:close/>
                </a:path>
              </a:pathLst>
            </a:custGeom>
            <a:solidFill>
              <a:srgbClr val="F5DFDC"/>
            </a:solidFill>
            <a:ln cap="sq">
              <a:noFill/>
              <a:prstDash val="solid"/>
              <a:miter/>
            </a:ln>
          </p:spPr>
          <p:txBody>
            <a:bodyPr/>
            <a:lstStyle/>
            <a:p>
              <a:endParaRPr lang="en-IN"/>
            </a:p>
          </p:txBody>
        </p:sp>
        <p:sp>
          <p:nvSpPr>
            <p:cNvPr id="18" name="TextBox 4">
              <a:extLst>
                <a:ext uri="{FF2B5EF4-FFF2-40B4-BE49-F238E27FC236}">
                  <a16:creationId xmlns:a16="http://schemas.microsoft.com/office/drawing/2014/main" id="{4BA9AF4C-F593-B3F4-17BF-977F5F958060}"/>
                </a:ext>
              </a:extLst>
            </p:cNvPr>
            <p:cNvSpPr txBox="1"/>
            <p:nvPr/>
          </p:nvSpPr>
          <p:spPr>
            <a:xfrm>
              <a:off x="0" y="38100"/>
              <a:ext cx="335310" cy="2743681"/>
            </a:xfrm>
            <a:prstGeom prst="rect">
              <a:avLst/>
            </a:prstGeom>
          </p:spPr>
          <p:txBody>
            <a:bodyPr lIns="50800" tIns="50800" rIns="50800" bIns="50800" rtlCol="0" anchor="ctr"/>
            <a:lstStyle/>
            <a:p>
              <a:pPr algn="ctr">
                <a:lnSpc>
                  <a:spcPts val="2100"/>
                </a:lnSpc>
              </a:pPr>
              <a:endParaRPr/>
            </a:p>
          </p:txBody>
        </p:sp>
      </p:grpSp>
      <p:sp>
        <p:nvSpPr>
          <p:cNvPr id="8" name="Freeform 8">
            <a:extLst>
              <a:ext uri="{FF2B5EF4-FFF2-40B4-BE49-F238E27FC236}">
                <a16:creationId xmlns:a16="http://schemas.microsoft.com/office/drawing/2014/main" id="{BF0C3E79-2D1B-5BF5-CB3B-9FDCF737C33E}"/>
              </a:ext>
            </a:extLst>
          </p:cNvPr>
          <p:cNvSpPr/>
          <p:nvPr/>
        </p:nvSpPr>
        <p:spPr>
          <a:xfrm>
            <a:off x="14706600" y="-202510"/>
            <a:ext cx="4521184" cy="1528982"/>
          </a:xfrm>
          <a:custGeom>
            <a:avLst/>
            <a:gdLst/>
            <a:ahLst/>
            <a:cxnLst/>
            <a:rect l="l" t="t" r="r" b="b"/>
            <a:pathLst>
              <a:path w="4521184" h="1528982">
                <a:moveTo>
                  <a:pt x="0" y="0"/>
                </a:moveTo>
                <a:lnTo>
                  <a:pt x="4521184" y="0"/>
                </a:lnTo>
                <a:lnTo>
                  <a:pt x="4521184" y="1528982"/>
                </a:lnTo>
                <a:lnTo>
                  <a:pt x="0" y="152898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9" name="Freeform 9">
            <a:extLst>
              <a:ext uri="{FF2B5EF4-FFF2-40B4-BE49-F238E27FC236}">
                <a16:creationId xmlns:a16="http://schemas.microsoft.com/office/drawing/2014/main" id="{73B5CEF6-2583-92D2-821D-1943842729CD}"/>
              </a:ext>
            </a:extLst>
          </p:cNvPr>
          <p:cNvSpPr/>
          <p:nvPr/>
        </p:nvSpPr>
        <p:spPr>
          <a:xfrm flipH="1" flipV="1">
            <a:off x="-1128348" y="8895555"/>
            <a:ext cx="4521184" cy="1528982"/>
          </a:xfrm>
          <a:custGeom>
            <a:avLst/>
            <a:gdLst/>
            <a:ahLst/>
            <a:cxnLst/>
            <a:rect l="l" t="t" r="r" b="b"/>
            <a:pathLst>
              <a:path w="4521184" h="1528982">
                <a:moveTo>
                  <a:pt x="4521184" y="1528982"/>
                </a:moveTo>
                <a:lnTo>
                  <a:pt x="0" y="1528982"/>
                </a:lnTo>
                <a:lnTo>
                  <a:pt x="0" y="0"/>
                </a:lnTo>
                <a:lnTo>
                  <a:pt x="4521184" y="0"/>
                </a:lnTo>
                <a:lnTo>
                  <a:pt x="4521184" y="1528982"/>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10" name="Freeform 10">
            <a:extLst>
              <a:ext uri="{FF2B5EF4-FFF2-40B4-BE49-F238E27FC236}">
                <a16:creationId xmlns:a16="http://schemas.microsoft.com/office/drawing/2014/main" id="{2664C4C2-154D-7BEB-ABA0-6015313FF706}"/>
              </a:ext>
            </a:extLst>
          </p:cNvPr>
          <p:cNvSpPr/>
          <p:nvPr/>
        </p:nvSpPr>
        <p:spPr>
          <a:xfrm>
            <a:off x="16459200" y="9182100"/>
            <a:ext cx="2636110" cy="1524151"/>
          </a:xfrm>
          <a:custGeom>
            <a:avLst/>
            <a:gdLst/>
            <a:ahLst/>
            <a:cxnLst/>
            <a:rect l="l" t="t" r="r" b="b"/>
            <a:pathLst>
              <a:path w="2636110" h="1524151">
                <a:moveTo>
                  <a:pt x="0" y="0"/>
                </a:moveTo>
                <a:lnTo>
                  <a:pt x="2636110" y="0"/>
                </a:lnTo>
                <a:lnTo>
                  <a:pt x="2636110" y="1524151"/>
                </a:lnTo>
                <a:lnTo>
                  <a:pt x="0" y="152415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dirty="0"/>
          </a:p>
        </p:txBody>
      </p:sp>
      <p:sp>
        <p:nvSpPr>
          <p:cNvPr id="11" name="Freeform 11">
            <a:extLst>
              <a:ext uri="{FF2B5EF4-FFF2-40B4-BE49-F238E27FC236}">
                <a16:creationId xmlns:a16="http://schemas.microsoft.com/office/drawing/2014/main" id="{4647A321-47F8-6CEC-66B9-96AB545030AB}"/>
              </a:ext>
            </a:extLst>
          </p:cNvPr>
          <p:cNvSpPr/>
          <p:nvPr/>
        </p:nvSpPr>
        <p:spPr>
          <a:xfrm flipH="1" flipV="1">
            <a:off x="-762000" y="-428776"/>
            <a:ext cx="2636110" cy="1524151"/>
          </a:xfrm>
          <a:custGeom>
            <a:avLst/>
            <a:gdLst/>
            <a:ahLst/>
            <a:cxnLst/>
            <a:rect l="l" t="t" r="r" b="b"/>
            <a:pathLst>
              <a:path w="2636110" h="1524151">
                <a:moveTo>
                  <a:pt x="2636110" y="1524151"/>
                </a:moveTo>
                <a:lnTo>
                  <a:pt x="0" y="1524151"/>
                </a:lnTo>
                <a:lnTo>
                  <a:pt x="0" y="0"/>
                </a:lnTo>
                <a:lnTo>
                  <a:pt x="2636110" y="0"/>
                </a:lnTo>
                <a:lnTo>
                  <a:pt x="2636110" y="1524151"/>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dirty="0"/>
          </a:p>
        </p:txBody>
      </p:sp>
      <p:sp>
        <p:nvSpPr>
          <p:cNvPr id="24" name="TextBox 23">
            <a:extLst>
              <a:ext uri="{FF2B5EF4-FFF2-40B4-BE49-F238E27FC236}">
                <a16:creationId xmlns:a16="http://schemas.microsoft.com/office/drawing/2014/main" id="{D7EA150D-33B3-06EA-E75B-7E4E73C72175}"/>
              </a:ext>
            </a:extLst>
          </p:cNvPr>
          <p:cNvSpPr txBox="1"/>
          <p:nvPr/>
        </p:nvSpPr>
        <p:spPr>
          <a:xfrm>
            <a:off x="1125207" y="1326472"/>
            <a:ext cx="8434837" cy="907941"/>
          </a:xfrm>
          <a:prstGeom prst="rect">
            <a:avLst/>
          </a:prstGeom>
          <a:noFill/>
        </p:spPr>
        <p:txBody>
          <a:bodyPr wrap="square" rtlCol="0">
            <a:spAutoFit/>
          </a:bodyPr>
          <a:lstStyle/>
          <a:p>
            <a:pPr lvl="3" algn="just">
              <a:spcAft>
                <a:spcPts val="800"/>
              </a:spcAft>
            </a:pPr>
            <a:r>
              <a:rPr lang="en-IN" sz="5300" dirty="0">
                <a:effectLst>
                  <a:outerShdw blurRad="38100" dist="38100" dir="2700000" algn="tl">
                    <a:srgbClr val="000000">
                      <a:alpha val="43137"/>
                    </a:srgbClr>
                  </a:outerShdw>
                </a:effectLst>
              </a:rPr>
              <a:t>Proposed System</a:t>
            </a:r>
          </a:p>
        </p:txBody>
      </p:sp>
      <p:sp>
        <p:nvSpPr>
          <p:cNvPr id="12" name="TextBox 11">
            <a:extLst>
              <a:ext uri="{FF2B5EF4-FFF2-40B4-BE49-F238E27FC236}">
                <a16:creationId xmlns:a16="http://schemas.microsoft.com/office/drawing/2014/main" id="{8B1C45C9-F747-5514-378A-A0727FE94F3E}"/>
              </a:ext>
            </a:extLst>
          </p:cNvPr>
          <p:cNvSpPr txBox="1"/>
          <p:nvPr/>
        </p:nvSpPr>
        <p:spPr>
          <a:xfrm>
            <a:off x="8669121" y="8951267"/>
            <a:ext cx="495649" cy="461665"/>
          </a:xfrm>
          <a:prstGeom prst="rect">
            <a:avLst/>
          </a:prstGeom>
          <a:noFill/>
        </p:spPr>
        <p:txBody>
          <a:bodyPr wrap="none" rtlCol="0">
            <a:spAutoFit/>
          </a:bodyPr>
          <a:lstStyle/>
          <a:p>
            <a:r>
              <a:rPr lang="en-IN" sz="2400" dirty="0">
                <a:solidFill>
                  <a:schemeClr val="tx1">
                    <a:lumMod val="65000"/>
                    <a:lumOff val="35000"/>
                  </a:schemeClr>
                </a:solidFill>
              </a:rPr>
              <a:t>10</a:t>
            </a:r>
          </a:p>
        </p:txBody>
      </p:sp>
      <p:pic>
        <p:nvPicPr>
          <p:cNvPr id="4" name="Picture 3">
            <a:extLst>
              <a:ext uri="{FF2B5EF4-FFF2-40B4-BE49-F238E27FC236}">
                <a16:creationId xmlns:a16="http://schemas.microsoft.com/office/drawing/2014/main" id="{63018A49-A33E-57A0-36AA-C067DBB4A0D0}"/>
              </a:ext>
            </a:extLst>
          </p:cNvPr>
          <p:cNvPicPr>
            <a:picLocks noChangeAspect="1"/>
          </p:cNvPicPr>
          <p:nvPr/>
        </p:nvPicPr>
        <p:blipFill>
          <a:blip r:embed="rId6">
            <a:extLst>
              <a:ext uri="{28A0092B-C50C-407E-A947-70E740481C1C}">
                <a14:useLocalDpi xmlns:a14="http://schemas.microsoft.com/office/drawing/2010/main" val="0"/>
              </a:ext>
            </a:extLst>
          </a:blip>
          <a:srcRect l="13333" r="13333" b="25555"/>
          <a:stretch>
            <a:fillRect/>
          </a:stretch>
        </p:blipFill>
        <p:spPr>
          <a:xfrm>
            <a:off x="10502204" y="1600200"/>
            <a:ext cx="5029200" cy="7658100"/>
          </a:xfrm>
          <a:prstGeom prst="rect">
            <a:avLst/>
          </a:prstGeom>
        </p:spPr>
      </p:pic>
      <p:sp>
        <p:nvSpPr>
          <p:cNvPr id="6" name="TextBox 5">
            <a:extLst>
              <a:ext uri="{FF2B5EF4-FFF2-40B4-BE49-F238E27FC236}">
                <a16:creationId xmlns:a16="http://schemas.microsoft.com/office/drawing/2014/main" id="{D893D992-070F-A869-D3FF-9B54D512F2D8}"/>
              </a:ext>
            </a:extLst>
          </p:cNvPr>
          <p:cNvSpPr txBox="1"/>
          <p:nvPr/>
        </p:nvSpPr>
        <p:spPr>
          <a:xfrm>
            <a:off x="2756596" y="2517996"/>
            <a:ext cx="7301803" cy="5709255"/>
          </a:xfrm>
          <a:prstGeom prst="rect">
            <a:avLst/>
          </a:prstGeom>
          <a:noFill/>
        </p:spPr>
        <p:txBody>
          <a:bodyPr wrap="square">
            <a:spAutoFit/>
          </a:bodyPr>
          <a:lstStyle/>
          <a:p>
            <a:pPr marL="457200" indent="-457200">
              <a:spcAft>
                <a:spcPts val="200"/>
              </a:spcAft>
              <a:buFont typeface="Arial" panose="020B0604020202020204" pitchFamily="34" charset="0"/>
              <a:buChar char="•"/>
            </a:pPr>
            <a:r>
              <a:rPr lang="en-IN" sz="3000" dirty="0">
                <a:effectLst>
                  <a:outerShdw blurRad="38100" dist="38100" dir="2700000" algn="tl">
                    <a:srgbClr val="000000">
                      <a:alpha val="43137"/>
                    </a:srgbClr>
                  </a:outerShdw>
                </a:effectLst>
              </a:rPr>
              <a:t>Dataset Collection : </a:t>
            </a:r>
            <a:r>
              <a:rPr lang="en-IN" sz="3000" dirty="0"/>
              <a:t>MRI brain </a:t>
            </a:r>
            <a:r>
              <a:rPr lang="en-IN" sz="3000" dirty="0" err="1"/>
              <a:t>tumor</a:t>
            </a:r>
            <a:r>
              <a:rPr lang="en-IN" sz="3000" dirty="0"/>
              <a:t> dataset is collected for training</a:t>
            </a:r>
          </a:p>
          <a:p>
            <a:pPr marL="457200" indent="-457200">
              <a:spcAft>
                <a:spcPts val="200"/>
              </a:spcAft>
              <a:buFont typeface="Arial" panose="020B0604020202020204" pitchFamily="34" charset="0"/>
              <a:buChar char="•"/>
            </a:pPr>
            <a:r>
              <a:rPr lang="en-IN" sz="3000" dirty="0">
                <a:effectLst>
                  <a:outerShdw blurRad="38100" dist="38100" dir="2700000" algn="tl">
                    <a:srgbClr val="000000">
                      <a:alpha val="43137"/>
                    </a:srgbClr>
                  </a:outerShdw>
                </a:effectLst>
              </a:rPr>
              <a:t>Image Preprocessing : </a:t>
            </a:r>
            <a:r>
              <a:rPr lang="en-IN" sz="3000" dirty="0"/>
              <a:t>Images are resized, normalized.</a:t>
            </a:r>
          </a:p>
          <a:p>
            <a:pPr marL="457200" indent="-457200">
              <a:spcAft>
                <a:spcPts val="200"/>
              </a:spcAft>
              <a:buFont typeface="Arial" panose="020B0604020202020204" pitchFamily="34" charset="0"/>
              <a:buChar char="•"/>
            </a:pPr>
            <a:r>
              <a:rPr lang="en-IN" sz="3000" dirty="0">
                <a:effectLst>
                  <a:outerShdw blurRad="38100" dist="38100" dir="2700000" algn="tl">
                    <a:srgbClr val="000000">
                      <a:alpha val="43137"/>
                    </a:srgbClr>
                  </a:outerShdw>
                </a:effectLst>
              </a:rPr>
              <a:t>CNN Model Implementation : </a:t>
            </a:r>
            <a:r>
              <a:rPr lang="en-IN" sz="3000" dirty="0"/>
              <a:t>CNN extracts features and detects </a:t>
            </a:r>
            <a:r>
              <a:rPr lang="en-IN" sz="3000" dirty="0" err="1"/>
              <a:t>tumors</a:t>
            </a:r>
            <a:r>
              <a:rPr lang="en-IN" sz="3000" dirty="0"/>
              <a:t>.</a:t>
            </a:r>
          </a:p>
          <a:p>
            <a:pPr marL="457200" indent="-457200">
              <a:spcAft>
                <a:spcPts val="200"/>
              </a:spcAft>
              <a:buFont typeface="Arial" panose="020B0604020202020204" pitchFamily="34" charset="0"/>
              <a:buChar char="•"/>
            </a:pPr>
            <a:r>
              <a:rPr lang="en-IN" sz="3000" dirty="0">
                <a:effectLst>
                  <a:outerShdw blurRad="38100" dist="38100" dir="2700000" algn="tl">
                    <a:srgbClr val="000000">
                      <a:alpha val="43137"/>
                    </a:srgbClr>
                  </a:outerShdw>
                </a:effectLst>
              </a:rPr>
              <a:t>Training &amp; Performance Measurement : </a:t>
            </a:r>
            <a:r>
              <a:rPr lang="en-IN" sz="3000" dirty="0"/>
              <a:t>Model trained and time recorded.</a:t>
            </a:r>
          </a:p>
          <a:p>
            <a:pPr marL="457200" indent="-457200">
              <a:spcAft>
                <a:spcPts val="200"/>
              </a:spcAft>
              <a:buFont typeface="Arial" panose="020B0604020202020204" pitchFamily="34" charset="0"/>
              <a:buChar char="•"/>
            </a:pPr>
            <a:r>
              <a:rPr lang="en-IN" sz="3000" dirty="0">
                <a:effectLst>
                  <a:outerShdw blurRad="38100" dist="38100" dir="2700000" algn="tl">
                    <a:srgbClr val="000000">
                      <a:alpha val="43137"/>
                    </a:srgbClr>
                  </a:outerShdw>
                </a:effectLst>
              </a:rPr>
              <a:t>Optimization using HPC : </a:t>
            </a:r>
            <a:r>
              <a:rPr lang="en-IN" sz="3000" dirty="0"/>
              <a:t>Convolution optimized using OpenMP</a:t>
            </a:r>
          </a:p>
          <a:p>
            <a:pPr marL="457200" indent="-457200">
              <a:buFont typeface="Arial" panose="020B0604020202020204" pitchFamily="34" charset="0"/>
              <a:buChar char="•"/>
            </a:pPr>
            <a:r>
              <a:rPr lang="en-IN" sz="3000" dirty="0">
                <a:effectLst>
                  <a:outerShdw blurRad="38100" dist="38100" dir="2700000" algn="tl">
                    <a:srgbClr val="000000">
                      <a:alpha val="43137"/>
                    </a:srgbClr>
                  </a:outerShdw>
                </a:effectLst>
              </a:rPr>
              <a:t>Performance Comparison : </a:t>
            </a:r>
            <a:r>
              <a:rPr lang="en-IN" sz="3000" dirty="0"/>
              <a:t>Execution time compared before and after optimization</a:t>
            </a:r>
          </a:p>
        </p:txBody>
      </p:sp>
    </p:spTree>
    <p:extLst>
      <p:ext uri="{BB962C8B-B14F-4D97-AF65-F5344CB8AC3E}">
        <p14:creationId xmlns:p14="http://schemas.microsoft.com/office/powerpoint/2010/main" val="846580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B631CA-18E0-42F4-A0B8-DE2F13763C9C}"/>
            </a:ext>
          </a:extLst>
        </p:cNvPr>
        <p:cNvGrpSpPr/>
        <p:nvPr/>
      </p:nvGrpSpPr>
      <p:grpSpPr>
        <a:xfrm>
          <a:off x="0" y="0"/>
          <a:ext cx="0" cy="0"/>
          <a:chOff x="0" y="0"/>
          <a:chExt cx="0" cy="0"/>
        </a:xfrm>
      </p:grpSpPr>
      <p:grpSp>
        <p:nvGrpSpPr>
          <p:cNvPr id="19" name="Group 5">
            <a:extLst>
              <a:ext uri="{FF2B5EF4-FFF2-40B4-BE49-F238E27FC236}">
                <a16:creationId xmlns:a16="http://schemas.microsoft.com/office/drawing/2014/main" id="{28222AB5-4975-AA5F-B6DF-458923304309}"/>
              </a:ext>
            </a:extLst>
          </p:cNvPr>
          <p:cNvGrpSpPr/>
          <p:nvPr/>
        </p:nvGrpSpPr>
        <p:grpSpPr>
          <a:xfrm>
            <a:off x="18088875" y="-137537"/>
            <a:ext cx="1273129" cy="10562074"/>
            <a:chOff x="0" y="0"/>
            <a:chExt cx="335310" cy="2781781"/>
          </a:xfrm>
        </p:grpSpPr>
        <p:sp>
          <p:nvSpPr>
            <p:cNvPr id="20" name="Freeform 6">
              <a:extLst>
                <a:ext uri="{FF2B5EF4-FFF2-40B4-BE49-F238E27FC236}">
                  <a16:creationId xmlns:a16="http://schemas.microsoft.com/office/drawing/2014/main" id="{9E0BA779-6351-21EB-81C1-72BE358872E4}"/>
                </a:ext>
              </a:extLst>
            </p:cNvPr>
            <p:cNvSpPr/>
            <p:nvPr/>
          </p:nvSpPr>
          <p:spPr>
            <a:xfrm>
              <a:off x="0" y="0"/>
              <a:ext cx="335310" cy="2781781"/>
            </a:xfrm>
            <a:custGeom>
              <a:avLst/>
              <a:gdLst/>
              <a:ahLst/>
              <a:cxnLst/>
              <a:rect l="l" t="t" r="r" b="b"/>
              <a:pathLst>
                <a:path w="335310" h="2781781">
                  <a:moveTo>
                    <a:pt x="0" y="0"/>
                  </a:moveTo>
                  <a:lnTo>
                    <a:pt x="335310" y="0"/>
                  </a:lnTo>
                  <a:lnTo>
                    <a:pt x="335310" y="2781781"/>
                  </a:lnTo>
                  <a:lnTo>
                    <a:pt x="0" y="2781781"/>
                  </a:lnTo>
                  <a:close/>
                </a:path>
              </a:pathLst>
            </a:custGeom>
            <a:solidFill>
              <a:srgbClr val="F5DFDC"/>
            </a:solidFill>
            <a:ln cap="sq">
              <a:noFill/>
              <a:prstDash val="solid"/>
              <a:miter/>
            </a:ln>
          </p:spPr>
          <p:txBody>
            <a:bodyPr/>
            <a:lstStyle/>
            <a:p>
              <a:endParaRPr lang="en-IN"/>
            </a:p>
          </p:txBody>
        </p:sp>
        <p:sp>
          <p:nvSpPr>
            <p:cNvPr id="21" name="TextBox 7">
              <a:extLst>
                <a:ext uri="{FF2B5EF4-FFF2-40B4-BE49-F238E27FC236}">
                  <a16:creationId xmlns:a16="http://schemas.microsoft.com/office/drawing/2014/main" id="{92D606EF-2E14-2D5F-C56D-50B87AB3B3D9}"/>
                </a:ext>
              </a:extLst>
            </p:cNvPr>
            <p:cNvSpPr txBox="1"/>
            <p:nvPr/>
          </p:nvSpPr>
          <p:spPr>
            <a:xfrm>
              <a:off x="0" y="38100"/>
              <a:ext cx="335310" cy="2743681"/>
            </a:xfrm>
            <a:prstGeom prst="rect">
              <a:avLst/>
            </a:prstGeom>
          </p:spPr>
          <p:txBody>
            <a:bodyPr lIns="50800" tIns="50800" rIns="50800" bIns="50800" rtlCol="0" anchor="ctr"/>
            <a:lstStyle/>
            <a:p>
              <a:pPr algn="ctr">
                <a:lnSpc>
                  <a:spcPts val="2100"/>
                </a:lnSpc>
              </a:pPr>
              <a:endParaRPr/>
            </a:p>
          </p:txBody>
        </p:sp>
      </p:grpSp>
      <p:grpSp>
        <p:nvGrpSpPr>
          <p:cNvPr id="16" name="Group 2">
            <a:extLst>
              <a:ext uri="{FF2B5EF4-FFF2-40B4-BE49-F238E27FC236}">
                <a16:creationId xmlns:a16="http://schemas.microsoft.com/office/drawing/2014/main" id="{80987FCB-CB7A-9B72-BC31-2739BCDEE546}"/>
              </a:ext>
            </a:extLst>
          </p:cNvPr>
          <p:cNvGrpSpPr/>
          <p:nvPr/>
        </p:nvGrpSpPr>
        <p:grpSpPr>
          <a:xfrm>
            <a:off x="-998214" y="24260"/>
            <a:ext cx="1273129" cy="10562074"/>
            <a:chOff x="0" y="0"/>
            <a:chExt cx="335310" cy="2781781"/>
          </a:xfrm>
        </p:grpSpPr>
        <p:sp>
          <p:nvSpPr>
            <p:cNvPr id="17" name="Freeform 3">
              <a:extLst>
                <a:ext uri="{FF2B5EF4-FFF2-40B4-BE49-F238E27FC236}">
                  <a16:creationId xmlns:a16="http://schemas.microsoft.com/office/drawing/2014/main" id="{0D2980E8-63F3-82A9-D06A-D3BDF9BA97D4}"/>
                </a:ext>
              </a:extLst>
            </p:cNvPr>
            <p:cNvSpPr/>
            <p:nvPr/>
          </p:nvSpPr>
          <p:spPr>
            <a:xfrm>
              <a:off x="0" y="0"/>
              <a:ext cx="335310" cy="2781781"/>
            </a:xfrm>
            <a:custGeom>
              <a:avLst/>
              <a:gdLst/>
              <a:ahLst/>
              <a:cxnLst/>
              <a:rect l="l" t="t" r="r" b="b"/>
              <a:pathLst>
                <a:path w="335310" h="2781781">
                  <a:moveTo>
                    <a:pt x="0" y="0"/>
                  </a:moveTo>
                  <a:lnTo>
                    <a:pt x="335310" y="0"/>
                  </a:lnTo>
                  <a:lnTo>
                    <a:pt x="335310" y="2781781"/>
                  </a:lnTo>
                  <a:lnTo>
                    <a:pt x="0" y="2781781"/>
                  </a:lnTo>
                  <a:close/>
                </a:path>
              </a:pathLst>
            </a:custGeom>
            <a:solidFill>
              <a:srgbClr val="F5DFDC"/>
            </a:solidFill>
            <a:ln cap="sq">
              <a:noFill/>
              <a:prstDash val="solid"/>
              <a:miter/>
            </a:ln>
          </p:spPr>
          <p:txBody>
            <a:bodyPr/>
            <a:lstStyle/>
            <a:p>
              <a:endParaRPr lang="en-IN"/>
            </a:p>
          </p:txBody>
        </p:sp>
        <p:sp>
          <p:nvSpPr>
            <p:cNvPr id="18" name="TextBox 4">
              <a:extLst>
                <a:ext uri="{FF2B5EF4-FFF2-40B4-BE49-F238E27FC236}">
                  <a16:creationId xmlns:a16="http://schemas.microsoft.com/office/drawing/2014/main" id="{734BF57D-F163-ED68-5EC0-1B69C055FE84}"/>
                </a:ext>
              </a:extLst>
            </p:cNvPr>
            <p:cNvSpPr txBox="1"/>
            <p:nvPr/>
          </p:nvSpPr>
          <p:spPr>
            <a:xfrm>
              <a:off x="0" y="38100"/>
              <a:ext cx="335310" cy="2743681"/>
            </a:xfrm>
            <a:prstGeom prst="rect">
              <a:avLst/>
            </a:prstGeom>
          </p:spPr>
          <p:txBody>
            <a:bodyPr lIns="50800" tIns="50800" rIns="50800" bIns="50800" rtlCol="0" anchor="ctr"/>
            <a:lstStyle/>
            <a:p>
              <a:pPr algn="ctr">
                <a:lnSpc>
                  <a:spcPts val="2100"/>
                </a:lnSpc>
              </a:pPr>
              <a:endParaRPr/>
            </a:p>
          </p:txBody>
        </p:sp>
      </p:grpSp>
      <p:sp>
        <p:nvSpPr>
          <p:cNvPr id="8" name="Freeform 8">
            <a:extLst>
              <a:ext uri="{FF2B5EF4-FFF2-40B4-BE49-F238E27FC236}">
                <a16:creationId xmlns:a16="http://schemas.microsoft.com/office/drawing/2014/main" id="{C922A854-552B-3490-620A-E2C0C23FF00A}"/>
              </a:ext>
            </a:extLst>
          </p:cNvPr>
          <p:cNvSpPr/>
          <p:nvPr/>
        </p:nvSpPr>
        <p:spPr>
          <a:xfrm>
            <a:off x="14706600" y="-202510"/>
            <a:ext cx="4521184" cy="1528982"/>
          </a:xfrm>
          <a:custGeom>
            <a:avLst/>
            <a:gdLst/>
            <a:ahLst/>
            <a:cxnLst/>
            <a:rect l="l" t="t" r="r" b="b"/>
            <a:pathLst>
              <a:path w="4521184" h="1528982">
                <a:moveTo>
                  <a:pt x="0" y="0"/>
                </a:moveTo>
                <a:lnTo>
                  <a:pt x="4521184" y="0"/>
                </a:lnTo>
                <a:lnTo>
                  <a:pt x="4521184" y="1528982"/>
                </a:lnTo>
                <a:lnTo>
                  <a:pt x="0" y="152898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9" name="Freeform 9">
            <a:extLst>
              <a:ext uri="{FF2B5EF4-FFF2-40B4-BE49-F238E27FC236}">
                <a16:creationId xmlns:a16="http://schemas.microsoft.com/office/drawing/2014/main" id="{AFAEA136-D004-B659-F5B5-6A3E9665635A}"/>
              </a:ext>
            </a:extLst>
          </p:cNvPr>
          <p:cNvSpPr/>
          <p:nvPr/>
        </p:nvSpPr>
        <p:spPr>
          <a:xfrm flipH="1" flipV="1">
            <a:off x="-1128348" y="8895555"/>
            <a:ext cx="4521184" cy="1528982"/>
          </a:xfrm>
          <a:custGeom>
            <a:avLst/>
            <a:gdLst/>
            <a:ahLst/>
            <a:cxnLst/>
            <a:rect l="l" t="t" r="r" b="b"/>
            <a:pathLst>
              <a:path w="4521184" h="1528982">
                <a:moveTo>
                  <a:pt x="4521184" y="1528982"/>
                </a:moveTo>
                <a:lnTo>
                  <a:pt x="0" y="1528982"/>
                </a:lnTo>
                <a:lnTo>
                  <a:pt x="0" y="0"/>
                </a:lnTo>
                <a:lnTo>
                  <a:pt x="4521184" y="0"/>
                </a:lnTo>
                <a:lnTo>
                  <a:pt x="4521184" y="1528982"/>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10" name="Freeform 10">
            <a:extLst>
              <a:ext uri="{FF2B5EF4-FFF2-40B4-BE49-F238E27FC236}">
                <a16:creationId xmlns:a16="http://schemas.microsoft.com/office/drawing/2014/main" id="{B4B2C5B2-25F0-B0F8-06B6-D70F38B876B9}"/>
              </a:ext>
            </a:extLst>
          </p:cNvPr>
          <p:cNvSpPr/>
          <p:nvPr/>
        </p:nvSpPr>
        <p:spPr>
          <a:xfrm>
            <a:off x="16459200" y="9182100"/>
            <a:ext cx="2636110" cy="1524151"/>
          </a:xfrm>
          <a:custGeom>
            <a:avLst/>
            <a:gdLst/>
            <a:ahLst/>
            <a:cxnLst/>
            <a:rect l="l" t="t" r="r" b="b"/>
            <a:pathLst>
              <a:path w="2636110" h="1524151">
                <a:moveTo>
                  <a:pt x="0" y="0"/>
                </a:moveTo>
                <a:lnTo>
                  <a:pt x="2636110" y="0"/>
                </a:lnTo>
                <a:lnTo>
                  <a:pt x="2636110" y="1524151"/>
                </a:lnTo>
                <a:lnTo>
                  <a:pt x="0" y="152415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dirty="0"/>
          </a:p>
        </p:txBody>
      </p:sp>
      <p:sp>
        <p:nvSpPr>
          <p:cNvPr id="11" name="Freeform 11">
            <a:extLst>
              <a:ext uri="{FF2B5EF4-FFF2-40B4-BE49-F238E27FC236}">
                <a16:creationId xmlns:a16="http://schemas.microsoft.com/office/drawing/2014/main" id="{D743F725-0785-9269-C65D-71CB81E966CB}"/>
              </a:ext>
            </a:extLst>
          </p:cNvPr>
          <p:cNvSpPr/>
          <p:nvPr/>
        </p:nvSpPr>
        <p:spPr>
          <a:xfrm flipH="1" flipV="1">
            <a:off x="-762000" y="-428776"/>
            <a:ext cx="2636110" cy="1524151"/>
          </a:xfrm>
          <a:custGeom>
            <a:avLst/>
            <a:gdLst/>
            <a:ahLst/>
            <a:cxnLst/>
            <a:rect l="l" t="t" r="r" b="b"/>
            <a:pathLst>
              <a:path w="2636110" h="1524151">
                <a:moveTo>
                  <a:pt x="2636110" y="1524151"/>
                </a:moveTo>
                <a:lnTo>
                  <a:pt x="0" y="1524151"/>
                </a:lnTo>
                <a:lnTo>
                  <a:pt x="0" y="0"/>
                </a:lnTo>
                <a:lnTo>
                  <a:pt x="2636110" y="0"/>
                </a:lnTo>
                <a:lnTo>
                  <a:pt x="2636110" y="1524151"/>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dirty="0"/>
          </a:p>
        </p:txBody>
      </p:sp>
      <p:sp>
        <p:nvSpPr>
          <p:cNvPr id="24" name="TextBox 23">
            <a:extLst>
              <a:ext uri="{FF2B5EF4-FFF2-40B4-BE49-F238E27FC236}">
                <a16:creationId xmlns:a16="http://schemas.microsoft.com/office/drawing/2014/main" id="{41085171-A681-7DA2-10E4-4DBA57E720FF}"/>
              </a:ext>
            </a:extLst>
          </p:cNvPr>
          <p:cNvSpPr txBox="1"/>
          <p:nvPr/>
        </p:nvSpPr>
        <p:spPr>
          <a:xfrm>
            <a:off x="1125207" y="1326472"/>
            <a:ext cx="8434837" cy="1826141"/>
          </a:xfrm>
          <a:prstGeom prst="rect">
            <a:avLst/>
          </a:prstGeom>
          <a:noFill/>
        </p:spPr>
        <p:txBody>
          <a:bodyPr wrap="square" rtlCol="0">
            <a:spAutoFit/>
          </a:bodyPr>
          <a:lstStyle/>
          <a:p>
            <a:pPr lvl="3" algn="just">
              <a:spcAft>
                <a:spcPts val="800"/>
              </a:spcAft>
            </a:pPr>
            <a:r>
              <a:rPr lang="en-IN" sz="5300" dirty="0">
                <a:effectLst>
                  <a:outerShdw blurRad="38100" dist="38100" dir="2700000" algn="tl">
                    <a:srgbClr val="000000">
                      <a:alpha val="43137"/>
                    </a:srgbClr>
                  </a:outerShdw>
                </a:effectLst>
              </a:rPr>
              <a:t>System Architecture</a:t>
            </a:r>
          </a:p>
          <a:p>
            <a:pPr lvl="3" algn="just">
              <a:spcAft>
                <a:spcPts val="800"/>
              </a:spcAft>
            </a:pPr>
            <a:endParaRPr lang="en-IN" sz="5300" dirty="0">
              <a:effectLst>
                <a:outerShdw blurRad="38100" dist="38100" dir="2700000" algn="tl">
                  <a:srgbClr val="000000">
                    <a:alpha val="43137"/>
                  </a:srgbClr>
                </a:outerShdw>
              </a:effectLst>
            </a:endParaRPr>
          </a:p>
        </p:txBody>
      </p:sp>
      <p:sp>
        <p:nvSpPr>
          <p:cNvPr id="12" name="TextBox 11">
            <a:extLst>
              <a:ext uri="{FF2B5EF4-FFF2-40B4-BE49-F238E27FC236}">
                <a16:creationId xmlns:a16="http://schemas.microsoft.com/office/drawing/2014/main" id="{B5CEA080-7DBD-FE74-C2FC-368E862DD5DB}"/>
              </a:ext>
            </a:extLst>
          </p:cNvPr>
          <p:cNvSpPr txBox="1"/>
          <p:nvPr/>
        </p:nvSpPr>
        <p:spPr>
          <a:xfrm>
            <a:off x="8669121" y="8951267"/>
            <a:ext cx="495649" cy="461665"/>
          </a:xfrm>
          <a:prstGeom prst="rect">
            <a:avLst/>
          </a:prstGeom>
          <a:noFill/>
        </p:spPr>
        <p:txBody>
          <a:bodyPr wrap="none" rtlCol="0">
            <a:spAutoFit/>
          </a:bodyPr>
          <a:lstStyle/>
          <a:p>
            <a:r>
              <a:rPr lang="en-IN" sz="2400" dirty="0">
                <a:solidFill>
                  <a:schemeClr val="tx1">
                    <a:lumMod val="65000"/>
                    <a:lumOff val="35000"/>
                  </a:schemeClr>
                </a:solidFill>
              </a:rPr>
              <a:t>11</a:t>
            </a:r>
          </a:p>
        </p:txBody>
      </p:sp>
      <p:pic>
        <p:nvPicPr>
          <p:cNvPr id="3" name="Picture 2">
            <a:extLst>
              <a:ext uri="{FF2B5EF4-FFF2-40B4-BE49-F238E27FC236}">
                <a16:creationId xmlns:a16="http://schemas.microsoft.com/office/drawing/2014/main" id="{7CC0C386-1A23-0456-F3C2-912537445323}"/>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465559" y="4257006"/>
            <a:ext cx="15516873" cy="4029075"/>
          </a:xfrm>
          <a:prstGeom prst="rect">
            <a:avLst/>
          </a:prstGeom>
        </p:spPr>
      </p:pic>
      <p:sp>
        <p:nvSpPr>
          <p:cNvPr id="14" name="TextBox 13">
            <a:extLst>
              <a:ext uri="{FF2B5EF4-FFF2-40B4-BE49-F238E27FC236}">
                <a16:creationId xmlns:a16="http://schemas.microsoft.com/office/drawing/2014/main" id="{92A290F7-C2B2-1CE2-4AD3-648DF4192449}"/>
              </a:ext>
            </a:extLst>
          </p:cNvPr>
          <p:cNvSpPr txBox="1"/>
          <p:nvPr/>
        </p:nvSpPr>
        <p:spPr>
          <a:xfrm>
            <a:off x="1904999" y="2702820"/>
            <a:ext cx="13868400" cy="1015663"/>
          </a:xfrm>
          <a:prstGeom prst="rect">
            <a:avLst/>
          </a:prstGeom>
          <a:noFill/>
        </p:spPr>
        <p:txBody>
          <a:bodyPr wrap="square">
            <a:spAutoFit/>
          </a:bodyPr>
          <a:lstStyle/>
          <a:p>
            <a:pPr marL="457200" indent="-457200">
              <a:buFont typeface="Arial" panose="020B0604020202020204" pitchFamily="34" charset="0"/>
              <a:buChar char="•"/>
            </a:pPr>
            <a:r>
              <a:rPr lang="en-IN" sz="3000" dirty="0"/>
              <a:t>The CNN architecture automatically extracts hierarchical features from MRI images and performs accurate </a:t>
            </a:r>
            <a:r>
              <a:rPr lang="en-IN" sz="3000" dirty="0" err="1"/>
              <a:t>tumor</a:t>
            </a:r>
            <a:r>
              <a:rPr lang="en-IN" sz="3000" dirty="0"/>
              <a:t> classification using deep convolutional layers.</a:t>
            </a:r>
          </a:p>
        </p:txBody>
      </p:sp>
    </p:spTree>
    <p:extLst>
      <p:ext uri="{BB962C8B-B14F-4D97-AF65-F5344CB8AC3E}">
        <p14:creationId xmlns:p14="http://schemas.microsoft.com/office/powerpoint/2010/main" val="42578702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1D563D-6D88-CD6A-6005-7545B5BB58B9}"/>
            </a:ext>
          </a:extLst>
        </p:cNvPr>
        <p:cNvGrpSpPr/>
        <p:nvPr/>
      </p:nvGrpSpPr>
      <p:grpSpPr>
        <a:xfrm>
          <a:off x="0" y="0"/>
          <a:ext cx="0" cy="0"/>
          <a:chOff x="0" y="0"/>
          <a:chExt cx="0" cy="0"/>
        </a:xfrm>
      </p:grpSpPr>
      <p:grpSp>
        <p:nvGrpSpPr>
          <p:cNvPr id="19" name="Group 5">
            <a:extLst>
              <a:ext uri="{FF2B5EF4-FFF2-40B4-BE49-F238E27FC236}">
                <a16:creationId xmlns:a16="http://schemas.microsoft.com/office/drawing/2014/main" id="{EAA02EF4-157A-3732-0F21-178179E2D354}"/>
              </a:ext>
            </a:extLst>
          </p:cNvPr>
          <p:cNvGrpSpPr/>
          <p:nvPr/>
        </p:nvGrpSpPr>
        <p:grpSpPr>
          <a:xfrm>
            <a:off x="18088875" y="-137537"/>
            <a:ext cx="1273129" cy="10562074"/>
            <a:chOff x="0" y="0"/>
            <a:chExt cx="335310" cy="2781781"/>
          </a:xfrm>
        </p:grpSpPr>
        <p:sp>
          <p:nvSpPr>
            <p:cNvPr id="20" name="Freeform 6">
              <a:extLst>
                <a:ext uri="{FF2B5EF4-FFF2-40B4-BE49-F238E27FC236}">
                  <a16:creationId xmlns:a16="http://schemas.microsoft.com/office/drawing/2014/main" id="{1C2C7E5C-32E7-AE85-6776-7F391586E5D2}"/>
                </a:ext>
              </a:extLst>
            </p:cNvPr>
            <p:cNvSpPr/>
            <p:nvPr/>
          </p:nvSpPr>
          <p:spPr>
            <a:xfrm>
              <a:off x="0" y="0"/>
              <a:ext cx="335310" cy="2781781"/>
            </a:xfrm>
            <a:custGeom>
              <a:avLst/>
              <a:gdLst/>
              <a:ahLst/>
              <a:cxnLst/>
              <a:rect l="l" t="t" r="r" b="b"/>
              <a:pathLst>
                <a:path w="335310" h="2781781">
                  <a:moveTo>
                    <a:pt x="0" y="0"/>
                  </a:moveTo>
                  <a:lnTo>
                    <a:pt x="335310" y="0"/>
                  </a:lnTo>
                  <a:lnTo>
                    <a:pt x="335310" y="2781781"/>
                  </a:lnTo>
                  <a:lnTo>
                    <a:pt x="0" y="2781781"/>
                  </a:lnTo>
                  <a:close/>
                </a:path>
              </a:pathLst>
            </a:custGeom>
            <a:solidFill>
              <a:srgbClr val="F5DFDC"/>
            </a:solidFill>
            <a:ln cap="sq">
              <a:noFill/>
              <a:prstDash val="solid"/>
              <a:miter/>
            </a:ln>
          </p:spPr>
          <p:txBody>
            <a:bodyPr/>
            <a:lstStyle/>
            <a:p>
              <a:endParaRPr lang="en-IN"/>
            </a:p>
          </p:txBody>
        </p:sp>
        <p:sp>
          <p:nvSpPr>
            <p:cNvPr id="21" name="TextBox 7">
              <a:extLst>
                <a:ext uri="{FF2B5EF4-FFF2-40B4-BE49-F238E27FC236}">
                  <a16:creationId xmlns:a16="http://schemas.microsoft.com/office/drawing/2014/main" id="{B0FCEEE9-C378-9E77-E036-862179CA8ACF}"/>
                </a:ext>
              </a:extLst>
            </p:cNvPr>
            <p:cNvSpPr txBox="1"/>
            <p:nvPr/>
          </p:nvSpPr>
          <p:spPr>
            <a:xfrm>
              <a:off x="0" y="38100"/>
              <a:ext cx="335310" cy="2743681"/>
            </a:xfrm>
            <a:prstGeom prst="rect">
              <a:avLst/>
            </a:prstGeom>
          </p:spPr>
          <p:txBody>
            <a:bodyPr lIns="50800" tIns="50800" rIns="50800" bIns="50800" rtlCol="0" anchor="ctr"/>
            <a:lstStyle/>
            <a:p>
              <a:pPr algn="ctr">
                <a:lnSpc>
                  <a:spcPts val="2100"/>
                </a:lnSpc>
              </a:pPr>
              <a:endParaRPr/>
            </a:p>
          </p:txBody>
        </p:sp>
      </p:grpSp>
      <p:grpSp>
        <p:nvGrpSpPr>
          <p:cNvPr id="16" name="Group 2">
            <a:extLst>
              <a:ext uri="{FF2B5EF4-FFF2-40B4-BE49-F238E27FC236}">
                <a16:creationId xmlns:a16="http://schemas.microsoft.com/office/drawing/2014/main" id="{A84F5F0F-4CA7-0A60-2522-D8F3E8844D5D}"/>
              </a:ext>
            </a:extLst>
          </p:cNvPr>
          <p:cNvGrpSpPr/>
          <p:nvPr/>
        </p:nvGrpSpPr>
        <p:grpSpPr>
          <a:xfrm>
            <a:off x="-998214" y="24260"/>
            <a:ext cx="1273129" cy="10562074"/>
            <a:chOff x="0" y="0"/>
            <a:chExt cx="335310" cy="2781781"/>
          </a:xfrm>
        </p:grpSpPr>
        <p:sp>
          <p:nvSpPr>
            <p:cNvPr id="17" name="Freeform 3">
              <a:extLst>
                <a:ext uri="{FF2B5EF4-FFF2-40B4-BE49-F238E27FC236}">
                  <a16:creationId xmlns:a16="http://schemas.microsoft.com/office/drawing/2014/main" id="{13E42C77-6722-10BF-2B83-2F728D0C962F}"/>
                </a:ext>
              </a:extLst>
            </p:cNvPr>
            <p:cNvSpPr/>
            <p:nvPr/>
          </p:nvSpPr>
          <p:spPr>
            <a:xfrm>
              <a:off x="0" y="0"/>
              <a:ext cx="335310" cy="2781781"/>
            </a:xfrm>
            <a:custGeom>
              <a:avLst/>
              <a:gdLst/>
              <a:ahLst/>
              <a:cxnLst/>
              <a:rect l="l" t="t" r="r" b="b"/>
              <a:pathLst>
                <a:path w="335310" h="2781781">
                  <a:moveTo>
                    <a:pt x="0" y="0"/>
                  </a:moveTo>
                  <a:lnTo>
                    <a:pt x="335310" y="0"/>
                  </a:lnTo>
                  <a:lnTo>
                    <a:pt x="335310" y="2781781"/>
                  </a:lnTo>
                  <a:lnTo>
                    <a:pt x="0" y="2781781"/>
                  </a:lnTo>
                  <a:close/>
                </a:path>
              </a:pathLst>
            </a:custGeom>
            <a:solidFill>
              <a:srgbClr val="F5DFDC"/>
            </a:solidFill>
            <a:ln cap="sq">
              <a:noFill/>
              <a:prstDash val="solid"/>
              <a:miter/>
            </a:ln>
          </p:spPr>
          <p:txBody>
            <a:bodyPr/>
            <a:lstStyle/>
            <a:p>
              <a:endParaRPr lang="en-IN"/>
            </a:p>
          </p:txBody>
        </p:sp>
        <p:sp>
          <p:nvSpPr>
            <p:cNvPr id="18" name="TextBox 4">
              <a:extLst>
                <a:ext uri="{FF2B5EF4-FFF2-40B4-BE49-F238E27FC236}">
                  <a16:creationId xmlns:a16="http://schemas.microsoft.com/office/drawing/2014/main" id="{83ECF632-310D-B0F7-A39D-BDEA6638ABDE}"/>
                </a:ext>
              </a:extLst>
            </p:cNvPr>
            <p:cNvSpPr txBox="1"/>
            <p:nvPr/>
          </p:nvSpPr>
          <p:spPr>
            <a:xfrm>
              <a:off x="0" y="38100"/>
              <a:ext cx="335310" cy="2743681"/>
            </a:xfrm>
            <a:prstGeom prst="rect">
              <a:avLst/>
            </a:prstGeom>
          </p:spPr>
          <p:txBody>
            <a:bodyPr lIns="50800" tIns="50800" rIns="50800" bIns="50800" rtlCol="0" anchor="ctr"/>
            <a:lstStyle/>
            <a:p>
              <a:pPr algn="ctr">
                <a:lnSpc>
                  <a:spcPts val="2100"/>
                </a:lnSpc>
              </a:pPr>
              <a:endParaRPr/>
            </a:p>
          </p:txBody>
        </p:sp>
      </p:grpSp>
      <p:sp>
        <p:nvSpPr>
          <p:cNvPr id="8" name="Freeform 8">
            <a:extLst>
              <a:ext uri="{FF2B5EF4-FFF2-40B4-BE49-F238E27FC236}">
                <a16:creationId xmlns:a16="http://schemas.microsoft.com/office/drawing/2014/main" id="{8B1DC3EB-A3E4-29E9-3F63-3C86C2307248}"/>
              </a:ext>
            </a:extLst>
          </p:cNvPr>
          <p:cNvSpPr/>
          <p:nvPr/>
        </p:nvSpPr>
        <p:spPr>
          <a:xfrm>
            <a:off x="14706600" y="-202510"/>
            <a:ext cx="4521184" cy="1528982"/>
          </a:xfrm>
          <a:custGeom>
            <a:avLst/>
            <a:gdLst/>
            <a:ahLst/>
            <a:cxnLst/>
            <a:rect l="l" t="t" r="r" b="b"/>
            <a:pathLst>
              <a:path w="4521184" h="1528982">
                <a:moveTo>
                  <a:pt x="0" y="0"/>
                </a:moveTo>
                <a:lnTo>
                  <a:pt x="4521184" y="0"/>
                </a:lnTo>
                <a:lnTo>
                  <a:pt x="4521184" y="1528982"/>
                </a:lnTo>
                <a:lnTo>
                  <a:pt x="0" y="152898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9" name="Freeform 9">
            <a:extLst>
              <a:ext uri="{FF2B5EF4-FFF2-40B4-BE49-F238E27FC236}">
                <a16:creationId xmlns:a16="http://schemas.microsoft.com/office/drawing/2014/main" id="{C713C3FC-BAA1-573C-C81D-42CC8BC65D71}"/>
              </a:ext>
            </a:extLst>
          </p:cNvPr>
          <p:cNvSpPr/>
          <p:nvPr/>
        </p:nvSpPr>
        <p:spPr>
          <a:xfrm flipH="1" flipV="1">
            <a:off x="-1128348" y="8895555"/>
            <a:ext cx="4521184" cy="1528982"/>
          </a:xfrm>
          <a:custGeom>
            <a:avLst/>
            <a:gdLst/>
            <a:ahLst/>
            <a:cxnLst/>
            <a:rect l="l" t="t" r="r" b="b"/>
            <a:pathLst>
              <a:path w="4521184" h="1528982">
                <a:moveTo>
                  <a:pt x="4521184" y="1528982"/>
                </a:moveTo>
                <a:lnTo>
                  <a:pt x="0" y="1528982"/>
                </a:lnTo>
                <a:lnTo>
                  <a:pt x="0" y="0"/>
                </a:lnTo>
                <a:lnTo>
                  <a:pt x="4521184" y="0"/>
                </a:lnTo>
                <a:lnTo>
                  <a:pt x="4521184" y="1528982"/>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10" name="Freeform 10">
            <a:extLst>
              <a:ext uri="{FF2B5EF4-FFF2-40B4-BE49-F238E27FC236}">
                <a16:creationId xmlns:a16="http://schemas.microsoft.com/office/drawing/2014/main" id="{D0795474-5D7C-38F6-0B26-C273D849EAD8}"/>
              </a:ext>
            </a:extLst>
          </p:cNvPr>
          <p:cNvSpPr/>
          <p:nvPr/>
        </p:nvSpPr>
        <p:spPr>
          <a:xfrm>
            <a:off x="16459200" y="9182100"/>
            <a:ext cx="2636110" cy="1524151"/>
          </a:xfrm>
          <a:custGeom>
            <a:avLst/>
            <a:gdLst/>
            <a:ahLst/>
            <a:cxnLst/>
            <a:rect l="l" t="t" r="r" b="b"/>
            <a:pathLst>
              <a:path w="2636110" h="1524151">
                <a:moveTo>
                  <a:pt x="0" y="0"/>
                </a:moveTo>
                <a:lnTo>
                  <a:pt x="2636110" y="0"/>
                </a:lnTo>
                <a:lnTo>
                  <a:pt x="2636110" y="1524151"/>
                </a:lnTo>
                <a:lnTo>
                  <a:pt x="0" y="152415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dirty="0"/>
          </a:p>
        </p:txBody>
      </p:sp>
      <p:sp>
        <p:nvSpPr>
          <p:cNvPr id="11" name="Freeform 11">
            <a:extLst>
              <a:ext uri="{FF2B5EF4-FFF2-40B4-BE49-F238E27FC236}">
                <a16:creationId xmlns:a16="http://schemas.microsoft.com/office/drawing/2014/main" id="{F74521EB-3C9F-FEEE-D03E-11D4DD040203}"/>
              </a:ext>
            </a:extLst>
          </p:cNvPr>
          <p:cNvSpPr/>
          <p:nvPr/>
        </p:nvSpPr>
        <p:spPr>
          <a:xfrm flipH="1" flipV="1">
            <a:off x="-762000" y="-428776"/>
            <a:ext cx="2636110" cy="1524151"/>
          </a:xfrm>
          <a:custGeom>
            <a:avLst/>
            <a:gdLst/>
            <a:ahLst/>
            <a:cxnLst/>
            <a:rect l="l" t="t" r="r" b="b"/>
            <a:pathLst>
              <a:path w="2636110" h="1524151">
                <a:moveTo>
                  <a:pt x="2636110" y="1524151"/>
                </a:moveTo>
                <a:lnTo>
                  <a:pt x="0" y="1524151"/>
                </a:lnTo>
                <a:lnTo>
                  <a:pt x="0" y="0"/>
                </a:lnTo>
                <a:lnTo>
                  <a:pt x="2636110" y="0"/>
                </a:lnTo>
                <a:lnTo>
                  <a:pt x="2636110" y="1524151"/>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dirty="0"/>
          </a:p>
        </p:txBody>
      </p:sp>
      <p:sp>
        <p:nvSpPr>
          <p:cNvPr id="24" name="TextBox 23">
            <a:extLst>
              <a:ext uri="{FF2B5EF4-FFF2-40B4-BE49-F238E27FC236}">
                <a16:creationId xmlns:a16="http://schemas.microsoft.com/office/drawing/2014/main" id="{9A04948E-EEBB-E369-58A5-77B72196ADEA}"/>
              </a:ext>
            </a:extLst>
          </p:cNvPr>
          <p:cNvSpPr txBox="1"/>
          <p:nvPr/>
        </p:nvSpPr>
        <p:spPr>
          <a:xfrm>
            <a:off x="1125207" y="1326472"/>
            <a:ext cx="8434837" cy="1826141"/>
          </a:xfrm>
          <a:prstGeom prst="rect">
            <a:avLst/>
          </a:prstGeom>
          <a:noFill/>
        </p:spPr>
        <p:txBody>
          <a:bodyPr wrap="square" rtlCol="0">
            <a:spAutoFit/>
          </a:bodyPr>
          <a:lstStyle/>
          <a:p>
            <a:pPr lvl="3" algn="just">
              <a:spcAft>
                <a:spcPts val="800"/>
              </a:spcAft>
            </a:pPr>
            <a:r>
              <a:rPr lang="en-IN" sz="5300" dirty="0">
                <a:effectLst>
                  <a:outerShdw blurRad="38100" dist="38100" dir="2700000" algn="tl">
                    <a:srgbClr val="000000">
                      <a:alpha val="43137"/>
                    </a:srgbClr>
                  </a:outerShdw>
                </a:effectLst>
              </a:rPr>
              <a:t>System Architecture</a:t>
            </a:r>
          </a:p>
          <a:p>
            <a:pPr lvl="3" algn="just">
              <a:spcAft>
                <a:spcPts val="800"/>
              </a:spcAft>
            </a:pPr>
            <a:endParaRPr lang="en-IN" sz="5300" dirty="0">
              <a:effectLst>
                <a:outerShdw blurRad="38100" dist="38100" dir="2700000" algn="tl">
                  <a:srgbClr val="000000">
                    <a:alpha val="43137"/>
                  </a:srgbClr>
                </a:outerShdw>
              </a:effectLst>
            </a:endParaRPr>
          </a:p>
        </p:txBody>
      </p:sp>
      <p:sp>
        <p:nvSpPr>
          <p:cNvPr id="12" name="TextBox 11">
            <a:extLst>
              <a:ext uri="{FF2B5EF4-FFF2-40B4-BE49-F238E27FC236}">
                <a16:creationId xmlns:a16="http://schemas.microsoft.com/office/drawing/2014/main" id="{3924CFB3-CDF9-5E7A-4ACB-0EBB9DFE0D44}"/>
              </a:ext>
            </a:extLst>
          </p:cNvPr>
          <p:cNvSpPr txBox="1"/>
          <p:nvPr/>
        </p:nvSpPr>
        <p:spPr>
          <a:xfrm>
            <a:off x="8669121" y="8951267"/>
            <a:ext cx="495649" cy="461665"/>
          </a:xfrm>
          <a:prstGeom prst="rect">
            <a:avLst/>
          </a:prstGeom>
          <a:noFill/>
        </p:spPr>
        <p:txBody>
          <a:bodyPr wrap="none" rtlCol="0">
            <a:spAutoFit/>
          </a:bodyPr>
          <a:lstStyle/>
          <a:p>
            <a:r>
              <a:rPr lang="en-IN" sz="2400" dirty="0">
                <a:solidFill>
                  <a:schemeClr val="tx1">
                    <a:lumMod val="65000"/>
                    <a:lumOff val="35000"/>
                  </a:schemeClr>
                </a:solidFill>
              </a:rPr>
              <a:t>12</a:t>
            </a:r>
          </a:p>
        </p:txBody>
      </p:sp>
      <p:pic>
        <p:nvPicPr>
          <p:cNvPr id="4" name="Picture 3">
            <a:extLst>
              <a:ext uri="{FF2B5EF4-FFF2-40B4-BE49-F238E27FC236}">
                <a16:creationId xmlns:a16="http://schemas.microsoft.com/office/drawing/2014/main" id="{8E0B07F8-D3BB-5618-4200-96787B8CB40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684361" y="1771294"/>
            <a:ext cx="7924800" cy="6889072"/>
          </a:xfrm>
          <a:prstGeom prst="rect">
            <a:avLst/>
          </a:prstGeom>
        </p:spPr>
      </p:pic>
      <p:sp>
        <p:nvSpPr>
          <p:cNvPr id="6" name="TextBox 5">
            <a:extLst>
              <a:ext uri="{FF2B5EF4-FFF2-40B4-BE49-F238E27FC236}">
                <a16:creationId xmlns:a16="http://schemas.microsoft.com/office/drawing/2014/main" id="{60468B9E-2525-F31F-1780-05ED51E7E199}"/>
              </a:ext>
            </a:extLst>
          </p:cNvPr>
          <p:cNvSpPr txBox="1"/>
          <p:nvPr/>
        </p:nvSpPr>
        <p:spPr>
          <a:xfrm>
            <a:off x="2111390" y="2774120"/>
            <a:ext cx="6462469" cy="3477875"/>
          </a:xfrm>
          <a:prstGeom prst="rect">
            <a:avLst/>
          </a:prstGeom>
          <a:noFill/>
        </p:spPr>
        <p:txBody>
          <a:bodyPr wrap="square">
            <a:spAutoFit/>
          </a:bodyPr>
          <a:lstStyle/>
          <a:p>
            <a:pPr marL="457200" indent="-457200">
              <a:spcAft>
                <a:spcPts val="600"/>
              </a:spcAft>
              <a:buFont typeface="Arial" panose="020B0604020202020204" pitchFamily="34" charset="0"/>
              <a:buChar char="•"/>
            </a:pPr>
            <a:r>
              <a:rPr lang="en-IN" sz="3000" dirty="0"/>
              <a:t>Convolution implemented using four methods: Naive, OpenMP, im2col, and im2col with OpenMP.</a:t>
            </a:r>
          </a:p>
          <a:p>
            <a:pPr marL="457200" indent="-457200">
              <a:spcAft>
                <a:spcPts val="600"/>
              </a:spcAft>
              <a:buFont typeface="Arial" panose="020B0604020202020204" pitchFamily="34" charset="0"/>
              <a:buChar char="•"/>
            </a:pPr>
            <a:r>
              <a:rPr lang="en-IN" sz="3000" dirty="0"/>
              <a:t>OpenMP enables parallel execution, reducing computation time.</a:t>
            </a:r>
          </a:p>
          <a:p>
            <a:pPr marL="457200" indent="-457200">
              <a:buFont typeface="Arial" panose="020B0604020202020204" pitchFamily="34" charset="0"/>
              <a:buChar char="•"/>
            </a:pPr>
            <a:r>
              <a:rPr lang="en-IN" sz="3000" dirty="0"/>
              <a:t>img2col converts convolution into efficient matrix multiplication.</a:t>
            </a:r>
          </a:p>
        </p:txBody>
      </p:sp>
    </p:spTree>
    <p:extLst>
      <p:ext uri="{BB962C8B-B14F-4D97-AF65-F5344CB8AC3E}">
        <p14:creationId xmlns:p14="http://schemas.microsoft.com/office/powerpoint/2010/main" val="2205570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75B03E-68D6-3ACC-D952-C06EDA3E3F11}"/>
            </a:ext>
          </a:extLst>
        </p:cNvPr>
        <p:cNvGrpSpPr/>
        <p:nvPr/>
      </p:nvGrpSpPr>
      <p:grpSpPr>
        <a:xfrm>
          <a:off x="0" y="0"/>
          <a:ext cx="0" cy="0"/>
          <a:chOff x="0" y="0"/>
          <a:chExt cx="0" cy="0"/>
        </a:xfrm>
      </p:grpSpPr>
      <p:grpSp>
        <p:nvGrpSpPr>
          <p:cNvPr id="19" name="Group 5">
            <a:extLst>
              <a:ext uri="{FF2B5EF4-FFF2-40B4-BE49-F238E27FC236}">
                <a16:creationId xmlns:a16="http://schemas.microsoft.com/office/drawing/2014/main" id="{EEB68299-0088-BBD9-48A0-F04C868ABDEF}"/>
              </a:ext>
            </a:extLst>
          </p:cNvPr>
          <p:cNvGrpSpPr/>
          <p:nvPr/>
        </p:nvGrpSpPr>
        <p:grpSpPr>
          <a:xfrm>
            <a:off x="18088875" y="-137537"/>
            <a:ext cx="1273129" cy="10562074"/>
            <a:chOff x="0" y="0"/>
            <a:chExt cx="335310" cy="2781781"/>
          </a:xfrm>
        </p:grpSpPr>
        <p:sp>
          <p:nvSpPr>
            <p:cNvPr id="20" name="Freeform 6">
              <a:extLst>
                <a:ext uri="{FF2B5EF4-FFF2-40B4-BE49-F238E27FC236}">
                  <a16:creationId xmlns:a16="http://schemas.microsoft.com/office/drawing/2014/main" id="{7FDFF034-3F64-3D85-FB7B-B50893257EA8}"/>
                </a:ext>
              </a:extLst>
            </p:cNvPr>
            <p:cNvSpPr/>
            <p:nvPr/>
          </p:nvSpPr>
          <p:spPr>
            <a:xfrm>
              <a:off x="0" y="0"/>
              <a:ext cx="335310" cy="2781781"/>
            </a:xfrm>
            <a:custGeom>
              <a:avLst/>
              <a:gdLst/>
              <a:ahLst/>
              <a:cxnLst/>
              <a:rect l="l" t="t" r="r" b="b"/>
              <a:pathLst>
                <a:path w="335310" h="2781781">
                  <a:moveTo>
                    <a:pt x="0" y="0"/>
                  </a:moveTo>
                  <a:lnTo>
                    <a:pt x="335310" y="0"/>
                  </a:lnTo>
                  <a:lnTo>
                    <a:pt x="335310" y="2781781"/>
                  </a:lnTo>
                  <a:lnTo>
                    <a:pt x="0" y="2781781"/>
                  </a:lnTo>
                  <a:close/>
                </a:path>
              </a:pathLst>
            </a:custGeom>
            <a:solidFill>
              <a:srgbClr val="F5DFDC"/>
            </a:solidFill>
            <a:ln cap="sq">
              <a:noFill/>
              <a:prstDash val="solid"/>
              <a:miter/>
            </a:ln>
          </p:spPr>
          <p:txBody>
            <a:bodyPr/>
            <a:lstStyle/>
            <a:p>
              <a:endParaRPr lang="en-IN"/>
            </a:p>
          </p:txBody>
        </p:sp>
        <p:sp>
          <p:nvSpPr>
            <p:cNvPr id="21" name="TextBox 7">
              <a:extLst>
                <a:ext uri="{FF2B5EF4-FFF2-40B4-BE49-F238E27FC236}">
                  <a16:creationId xmlns:a16="http://schemas.microsoft.com/office/drawing/2014/main" id="{1798BC2B-4A64-3BAF-69AC-764FD266AD72}"/>
                </a:ext>
              </a:extLst>
            </p:cNvPr>
            <p:cNvSpPr txBox="1"/>
            <p:nvPr/>
          </p:nvSpPr>
          <p:spPr>
            <a:xfrm>
              <a:off x="0" y="38100"/>
              <a:ext cx="335310" cy="2743681"/>
            </a:xfrm>
            <a:prstGeom prst="rect">
              <a:avLst/>
            </a:prstGeom>
          </p:spPr>
          <p:txBody>
            <a:bodyPr lIns="50800" tIns="50800" rIns="50800" bIns="50800" rtlCol="0" anchor="ctr"/>
            <a:lstStyle/>
            <a:p>
              <a:pPr algn="ctr">
                <a:lnSpc>
                  <a:spcPts val="2100"/>
                </a:lnSpc>
              </a:pPr>
              <a:endParaRPr/>
            </a:p>
          </p:txBody>
        </p:sp>
      </p:grpSp>
      <p:grpSp>
        <p:nvGrpSpPr>
          <p:cNvPr id="16" name="Group 2">
            <a:extLst>
              <a:ext uri="{FF2B5EF4-FFF2-40B4-BE49-F238E27FC236}">
                <a16:creationId xmlns:a16="http://schemas.microsoft.com/office/drawing/2014/main" id="{583F4031-3148-4827-8B71-838E0B4CD0A0}"/>
              </a:ext>
            </a:extLst>
          </p:cNvPr>
          <p:cNvGrpSpPr/>
          <p:nvPr/>
        </p:nvGrpSpPr>
        <p:grpSpPr>
          <a:xfrm>
            <a:off x="-998214" y="24260"/>
            <a:ext cx="1273129" cy="10562074"/>
            <a:chOff x="0" y="0"/>
            <a:chExt cx="335310" cy="2781781"/>
          </a:xfrm>
        </p:grpSpPr>
        <p:sp>
          <p:nvSpPr>
            <p:cNvPr id="17" name="Freeform 3">
              <a:extLst>
                <a:ext uri="{FF2B5EF4-FFF2-40B4-BE49-F238E27FC236}">
                  <a16:creationId xmlns:a16="http://schemas.microsoft.com/office/drawing/2014/main" id="{CA60AE59-6A88-6788-7157-94F9C8F114A0}"/>
                </a:ext>
              </a:extLst>
            </p:cNvPr>
            <p:cNvSpPr/>
            <p:nvPr/>
          </p:nvSpPr>
          <p:spPr>
            <a:xfrm>
              <a:off x="0" y="0"/>
              <a:ext cx="335310" cy="2781781"/>
            </a:xfrm>
            <a:custGeom>
              <a:avLst/>
              <a:gdLst/>
              <a:ahLst/>
              <a:cxnLst/>
              <a:rect l="l" t="t" r="r" b="b"/>
              <a:pathLst>
                <a:path w="335310" h="2781781">
                  <a:moveTo>
                    <a:pt x="0" y="0"/>
                  </a:moveTo>
                  <a:lnTo>
                    <a:pt x="335310" y="0"/>
                  </a:lnTo>
                  <a:lnTo>
                    <a:pt x="335310" y="2781781"/>
                  </a:lnTo>
                  <a:lnTo>
                    <a:pt x="0" y="2781781"/>
                  </a:lnTo>
                  <a:close/>
                </a:path>
              </a:pathLst>
            </a:custGeom>
            <a:solidFill>
              <a:srgbClr val="F5DFDC"/>
            </a:solidFill>
            <a:ln cap="sq">
              <a:noFill/>
              <a:prstDash val="solid"/>
              <a:miter/>
            </a:ln>
          </p:spPr>
          <p:txBody>
            <a:bodyPr/>
            <a:lstStyle/>
            <a:p>
              <a:endParaRPr lang="en-IN"/>
            </a:p>
          </p:txBody>
        </p:sp>
        <p:sp>
          <p:nvSpPr>
            <p:cNvPr id="18" name="TextBox 4">
              <a:extLst>
                <a:ext uri="{FF2B5EF4-FFF2-40B4-BE49-F238E27FC236}">
                  <a16:creationId xmlns:a16="http://schemas.microsoft.com/office/drawing/2014/main" id="{C68509BD-E5CD-2E9E-1083-6BC779C4354F}"/>
                </a:ext>
              </a:extLst>
            </p:cNvPr>
            <p:cNvSpPr txBox="1"/>
            <p:nvPr/>
          </p:nvSpPr>
          <p:spPr>
            <a:xfrm>
              <a:off x="0" y="38100"/>
              <a:ext cx="335310" cy="2743681"/>
            </a:xfrm>
            <a:prstGeom prst="rect">
              <a:avLst/>
            </a:prstGeom>
          </p:spPr>
          <p:txBody>
            <a:bodyPr lIns="50800" tIns="50800" rIns="50800" bIns="50800" rtlCol="0" anchor="ctr"/>
            <a:lstStyle/>
            <a:p>
              <a:pPr algn="ctr">
                <a:lnSpc>
                  <a:spcPts val="2100"/>
                </a:lnSpc>
              </a:pPr>
              <a:endParaRPr/>
            </a:p>
          </p:txBody>
        </p:sp>
      </p:grpSp>
      <p:sp>
        <p:nvSpPr>
          <p:cNvPr id="8" name="Freeform 8">
            <a:extLst>
              <a:ext uri="{FF2B5EF4-FFF2-40B4-BE49-F238E27FC236}">
                <a16:creationId xmlns:a16="http://schemas.microsoft.com/office/drawing/2014/main" id="{E846EAD8-F73E-1717-FE15-3CB127173D40}"/>
              </a:ext>
            </a:extLst>
          </p:cNvPr>
          <p:cNvSpPr/>
          <p:nvPr/>
        </p:nvSpPr>
        <p:spPr>
          <a:xfrm>
            <a:off x="14706600" y="-202510"/>
            <a:ext cx="4521184" cy="1528982"/>
          </a:xfrm>
          <a:custGeom>
            <a:avLst/>
            <a:gdLst/>
            <a:ahLst/>
            <a:cxnLst/>
            <a:rect l="l" t="t" r="r" b="b"/>
            <a:pathLst>
              <a:path w="4521184" h="1528982">
                <a:moveTo>
                  <a:pt x="0" y="0"/>
                </a:moveTo>
                <a:lnTo>
                  <a:pt x="4521184" y="0"/>
                </a:lnTo>
                <a:lnTo>
                  <a:pt x="4521184" y="1528982"/>
                </a:lnTo>
                <a:lnTo>
                  <a:pt x="0" y="152898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9" name="Freeform 9">
            <a:extLst>
              <a:ext uri="{FF2B5EF4-FFF2-40B4-BE49-F238E27FC236}">
                <a16:creationId xmlns:a16="http://schemas.microsoft.com/office/drawing/2014/main" id="{231DD687-ACDC-1514-0D9B-D3F58CB89E51}"/>
              </a:ext>
            </a:extLst>
          </p:cNvPr>
          <p:cNvSpPr/>
          <p:nvPr/>
        </p:nvSpPr>
        <p:spPr>
          <a:xfrm flipH="1" flipV="1">
            <a:off x="-1128348" y="8895555"/>
            <a:ext cx="4521184" cy="1528982"/>
          </a:xfrm>
          <a:custGeom>
            <a:avLst/>
            <a:gdLst/>
            <a:ahLst/>
            <a:cxnLst/>
            <a:rect l="l" t="t" r="r" b="b"/>
            <a:pathLst>
              <a:path w="4521184" h="1528982">
                <a:moveTo>
                  <a:pt x="4521184" y="1528982"/>
                </a:moveTo>
                <a:lnTo>
                  <a:pt x="0" y="1528982"/>
                </a:lnTo>
                <a:lnTo>
                  <a:pt x="0" y="0"/>
                </a:lnTo>
                <a:lnTo>
                  <a:pt x="4521184" y="0"/>
                </a:lnTo>
                <a:lnTo>
                  <a:pt x="4521184" y="1528982"/>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10" name="Freeform 10">
            <a:extLst>
              <a:ext uri="{FF2B5EF4-FFF2-40B4-BE49-F238E27FC236}">
                <a16:creationId xmlns:a16="http://schemas.microsoft.com/office/drawing/2014/main" id="{D1EDC634-5E20-2F3C-C7D6-4CDB2E7B1530}"/>
              </a:ext>
            </a:extLst>
          </p:cNvPr>
          <p:cNvSpPr/>
          <p:nvPr/>
        </p:nvSpPr>
        <p:spPr>
          <a:xfrm>
            <a:off x="16459200" y="9182100"/>
            <a:ext cx="2636110" cy="1524151"/>
          </a:xfrm>
          <a:custGeom>
            <a:avLst/>
            <a:gdLst/>
            <a:ahLst/>
            <a:cxnLst/>
            <a:rect l="l" t="t" r="r" b="b"/>
            <a:pathLst>
              <a:path w="2636110" h="1524151">
                <a:moveTo>
                  <a:pt x="0" y="0"/>
                </a:moveTo>
                <a:lnTo>
                  <a:pt x="2636110" y="0"/>
                </a:lnTo>
                <a:lnTo>
                  <a:pt x="2636110" y="1524151"/>
                </a:lnTo>
                <a:lnTo>
                  <a:pt x="0" y="152415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dirty="0"/>
          </a:p>
        </p:txBody>
      </p:sp>
      <p:sp>
        <p:nvSpPr>
          <p:cNvPr id="11" name="Freeform 11">
            <a:extLst>
              <a:ext uri="{FF2B5EF4-FFF2-40B4-BE49-F238E27FC236}">
                <a16:creationId xmlns:a16="http://schemas.microsoft.com/office/drawing/2014/main" id="{E12831D5-2F58-0B1E-AAEE-3928FBE6F459}"/>
              </a:ext>
            </a:extLst>
          </p:cNvPr>
          <p:cNvSpPr/>
          <p:nvPr/>
        </p:nvSpPr>
        <p:spPr>
          <a:xfrm flipH="1" flipV="1">
            <a:off x="-762000" y="-428776"/>
            <a:ext cx="2636110" cy="1524151"/>
          </a:xfrm>
          <a:custGeom>
            <a:avLst/>
            <a:gdLst/>
            <a:ahLst/>
            <a:cxnLst/>
            <a:rect l="l" t="t" r="r" b="b"/>
            <a:pathLst>
              <a:path w="2636110" h="1524151">
                <a:moveTo>
                  <a:pt x="2636110" y="1524151"/>
                </a:moveTo>
                <a:lnTo>
                  <a:pt x="0" y="1524151"/>
                </a:lnTo>
                <a:lnTo>
                  <a:pt x="0" y="0"/>
                </a:lnTo>
                <a:lnTo>
                  <a:pt x="2636110" y="0"/>
                </a:lnTo>
                <a:lnTo>
                  <a:pt x="2636110" y="1524151"/>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dirty="0"/>
          </a:p>
        </p:txBody>
      </p:sp>
      <p:sp>
        <p:nvSpPr>
          <p:cNvPr id="24" name="TextBox 23">
            <a:extLst>
              <a:ext uri="{FF2B5EF4-FFF2-40B4-BE49-F238E27FC236}">
                <a16:creationId xmlns:a16="http://schemas.microsoft.com/office/drawing/2014/main" id="{31F15490-B8C3-DD1D-CCC8-17B686F1EF1D}"/>
              </a:ext>
            </a:extLst>
          </p:cNvPr>
          <p:cNvSpPr txBox="1"/>
          <p:nvPr/>
        </p:nvSpPr>
        <p:spPr>
          <a:xfrm>
            <a:off x="1165655" y="1095375"/>
            <a:ext cx="14249400" cy="584775"/>
          </a:xfrm>
          <a:prstGeom prst="rect">
            <a:avLst/>
          </a:prstGeom>
          <a:noFill/>
        </p:spPr>
        <p:txBody>
          <a:bodyPr wrap="square" rtlCol="0">
            <a:spAutoFit/>
          </a:bodyPr>
          <a:lstStyle/>
          <a:p>
            <a:pPr lvl="3" algn="just">
              <a:spcAft>
                <a:spcPts val="800"/>
              </a:spcAft>
            </a:pPr>
            <a:r>
              <a:rPr lang="en-US" sz="3200" dirty="0">
                <a:effectLst>
                  <a:outerShdw blurRad="38100" dist="38100" dir="2700000" algn="tl">
                    <a:srgbClr val="000000">
                      <a:alpha val="43137"/>
                    </a:srgbClr>
                  </a:outerShdw>
                </a:effectLst>
              </a:rPr>
              <a:t>Working Principle of CNN</a:t>
            </a:r>
          </a:p>
        </p:txBody>
      </p:sp>
      <p:sp>
        <p:nvSpPr>
          <p:cNvPr id="7" name="TextBox 6">
            <a:extLst>
              <a:ext uri="{FF2B5EF4-FFF2-40B4-BE49-F238E27FC236}">
                <a16:creationId xmlns:a16="http://schemas.microsoft.com/office/drawing/2014/main" id="{10C5385D-0DF4-C2C3-C9B1-D56487E3CE3F}"/>
              </a:ext>
            </a:extLst>
          </p:cNvPr>
          <p:cNvSpPr txBox="1"/>
          <p:nvPr/>
        </p:nvSpPr>
        <p:spPr>
          <a:xfrm>
            <a:off x="8669121" y="8951267"/>
            <a:ext cx="495649" cy="461665"/>
          </a:xfrm>
          <a:prstGeom prst="rect">
            <a:avLst/>
          </a:prstGeom>
          <a:noFill/>
        </p:spPr>
        <p:txBody>
          <a:bodyPr wrap="none" rtlCol="0">
            <a:spAutoFit/>
          </a:bodyPr>
          <a:lstStyle/>
          <a:p>
            <a:r>
              <a:rPr lang="en-IN" sz="2400" dirty="0">
                <a:solidFill>
                  <a:schemeClr val="tx1">
                    <a:lumMod val="65000"/>
                    <a:lumOff val="35000"/>
                  </a:schemeClr>
                </a:solidFill>
              </a:rPr>
              <a:t>13</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B0F19428-1B72-2E25-CD0E-62B7C1B21313}"/>
                  </a:ext>
                </a:extLst>
              </p:cNvPr>
              <p:cNvSpPr txBox="1"/>
              <p:nvPr/>
            </p:nvSpPr>
            <p:spPr>
              <a:xfrm>
                <a:off x="2894126" y="1933962"/>
                <a:ext cx="12228164" cy="6309420"/>
              </a:xfrm>
              <a:prstGeom prst="rect">
                <a:avLst/>
              </a:prstGeom>
              <a:noFill/>
            </p:spPr>
            <p:txBody>
              <a:bodyPr wrap="square">
                <a:spAutoFit/>
              </a:bodyPr>
              <a:lstStyle/>
              <a:p>
                <a:pPr marL="457200" indent="-457200">
                  <a:buFont typeface="Arial" panose="020B0604020202020204" pitchFamily="34" charset="0"/>
                  <a:buChar char="•"/>
                </a:pPr>
                <a:r>
                  <a:rPr lang="en-US" sz="2800" dirty="0">
                    <a:effectLst>
                      <a:outerShdw blurRad="38100" dist="38100" dir="2700000" algn="tl">
                        <a:srgbClr val="000000">
                          <a:alpha val="43137"/>
                        </a:srgbClr>
                      </a:outerShdw>
                    </a:effectLst>
                  </a:rPr>
                  <a:t>Image Preprocessing : </a:t>
                </a:r>
                <a:r>
                  <a:rPr lang="en-US" sz="2800" dirty="0"/>
                  <a:t>Input MRI images are resized and normalized for consistent input</a:t>
                </a:r>
              </a:p>
              <a:p>
                <a:pPr>
                  <a:spcAft>
                    <a:spcPts val="1200"/>
                  </a:spcAft>
                </a:pPr>
                <a14:m>
                  <m:oMathPara xmlns:m="http://schemas.openxmlformats.org/officeDocument/2006/math">
                    <m:oMathParaPr>
                      <m:jc m:val="centerGroup"/>
                    </m:oMathParaPr>
                    <m:oMath xmlns:m="http://schemas.openxmlformats.org/officeDocument/2006/math">
                      <m:r>
                        <a:rPr lang="en-IN" sz="2800" i="1">
                          <a:latin typeface="Cambria Math" panose="02040503050406030204" pitchFamily="18" charset="0"/>
                        </a:rPr>
                        <m:t>𝑋</m:t>
                      </m:r>
                      <m:r>
                        <a:rPr lang="en-IN" sz="2800" i="1">
                          <a:latin typeface="Cambria Math" panose="02040503050406030204" pitchFamily="18" charset="0"/>
                        </a:rPr>
                        <m:t>′ = (</m:t>
                      </m:r>
                      <m:r>
                        <a:rPr lang="en-IN" sz="2800" i="1">
                          <a:latin typeface="Cambria Math" panose="02040503050406030204" pitchFamily="18" charset="0"/>
                        </a:rPr>
                        <m:t>𝑋</m:t>
                      </m:r>
                      <m:r>
                        <a:rPr lang="en-IN" sz="2800" i="1">
                          <a:latin typeface="Cambria Math" panose="02040503050406030204" pitchFamily="18" charset="0"/>
                        </a:rPr>
                        <m:t> − </m:t>
                      </m:r>
                      <m:r>
                        <a:rPr lang="en-IN" sz="2800" i="1">
                          <a:latin typeface="Cambria Math" panose="02040503050406030204" pitchFamily="18" charset="0"/>
                        </a:rPr>
                        <m:t>𝑋𝑚𝑖𝑛</m:t>
                      </m:r>
                      <m:r>
                        <a:rPr lang="en-IN" sz="2800" i="1">
                          <a:latin typeface="Cambria Math" panose="02040503050406030204" pitchFamily="18" charset="0"/>
                        </a:rPr>
                        <m:t>) / (</m:t>
                      </m:r>
                      <m:r>
                        <a:rPr lang="en-IN" sz="2800" i="1">
                          <a:latin typeface="Cambria Math" panose="02040503050406030204" pitchFamily="18" charset="0"/>
                        </a:rPr>
                        <m:t>𝑋𝑚𝑎𝑥</m:t>
                      </m:r>
                      <m:r>
                        <a:rPr lang="en-IN" sz="2800" i="1">
                          <a:latin typeface="Cambria Math" panose="02040503050406030204" pitchFamily="18" charset="0"/>
                        </a:rPr>
                        <m:t> − </m:t>
                      </m:r>
                      <m:r>
                        <a:rPr lang="en-IN" sz="2800" i="1">
                          <a:latin typeface="Cambria Math" panose="02040503050406030204" pitchFamily="18" charset="0"/>
                        </a:rPr>
                        <m:t>𝑋𝑚𝑖𝑛</m:t>
                      </m:r>
                      <m:r>
                        <a:rPr lang="en-IN" sz="2800" i="1">
                          <a:latin typeface="Cambria Math" panose="02040503050406030204" pitchFamily="18" charset="0"/>
                        </a:rPr>
                        <m:t>) = (</m:t>
                      </m:r>
                      <m:r>
                        <a:rPr lang="en-IN" sz="2800" i="1">
                          <a:latin typeface="Cambria Math" panose="02040503050406030204" pitchFamily="18" charset="0"/>
                        </a:rPr>
                        <m:t>𝑋</m:t>
                      </m:r>
                      <m:r>
                        <a:rPr lang="en-IN" sz="2800" i="1">
                          <a:latin typeface="Cambria Math" panose="02040503050406030204" pitchFamily="18" charset="0"/>
                        </a:rPr>
                        <m:t>)/(255)</m:t>
                      </m:r>
                    </m:oMath>
                  </m:oMathPara>
                </a14:m>
                <a:endParaRPr lang="en-IN" sz="2800" dirty="0"/>
              </a:p>
              <a:p>
                <a:pPr marL="457200" indent="-457200">
                  <a:buFont typeface="Arial" panose="020B0604020202020204" pitchFamily="34" charset="0"/>
                  <a:buChar char="•"/>
                </a:pPr>
                <a:r>
                  <a:rPr lang="en-US" sz="2800" dirty="0">
                    <a:effectLst>
                      <a:outerShdw blurRad="38100" dist="38100" dir="2700000" algn="tl">
                        <a:srgbClr val="000000">
                          <a:alpha val="43137"/>
                        </a:srgbClr>
                      </a:outerShdw>
                    </a:effectLst>
                  </a:rPr>
                  <a:t>Convolution Operation : </a:t>
                </a:r>
                <a:r>
                  <a:rPr lang="en-US" sz="2800" dirty="0"/>
                  <a:t>Filters are applied to extract features such as edges and textures</a:t>
                </a:r>
              </a:p>
              <a:p>
                <a:pPr>
                  <a:spcAft>
                    <a:spcPts val="1200"/>
                  </a:spcAft>
                </a:pPr>
                <a14:m>
                  <m:oMathPara xmlns:m="http://schemas.openxmlformats.org/officeDocument/2006/math">
                    <m:oMathParaPr>
                      <m:jc m:val="centerGroup"/>
                    </m:oMathParaPr>
                    <m:oMath xmlns:m="http://schemas.openxmlformats.org/officeDocument/2006/math">
                      <m:r>
                        <a:rPr lang="pl-PL" sz="2800" i="1" smtClean="0">
                          <a:latin typeface="Cambria Math" panose="02040503050406030204" pitchFamily="18" charset="0"/>
                        </a:rPr>
                        <m:t>𝑌</m:t>
                      </m:r>
                      <m:d>
                        <m:dPr>
                          <m:ctrlPr>
                            <a:rPr lang="pl-PL" sz="2800" i="1">
                              <a:latin typeface="Cambria Math" panose="02040503050406030204" pitchFamily="18" charset="0"/>
                            </a:rPr>
                          </m:ctrlPr>
                        </m:dPr>
                        <m:e>
                          <m:r>
                            <a:rPr lang="pl-PL" sz="2800" i="1">
                              <a:latin typeface="Cambria Math" panose="02040503050406030204" pitchFamily="18" charset="0"/>
                            </a:rPr>
                            <m:t>𝑖</m:t>
                          </m:r>
                          <m:r>
                            <a:rPr lang="pl-PL" sz="2800" i="1">
                              <a:latin typeface="Cambria Math" panose="02040503050406030204" pitchFamily="18" charset="0"/>
                            </a:rPr>
                            <m:t>, </m:t>
                          </m:r>
                          <m:r>
                            <a:rPr lang="pl-PL" sz="2800" i="1">
                              <a:latin typeface="Cambria Math" panose="02040503050406030204" pitchFamily="18" charset="0"/>
                            </a:rPr>
                            <m:t>𝑗</m:t>
                          </m:r>
                        </m:e>
                      </m:d>
                      <m:r>
                        <a:rPr lang="pl-PL" sz="2800" i="1">
                          <a:latin typeface="Cambria Math" panose="02040503050406030204" pitchFamily="18" charset="0"/>
                        </a:rPr>
                        <m:t>= </m:t>
                      </m:r>
                      <m:r>
                        <a:rPr lang="pl-PL" sz="2800" i="1">
                          <a:latin typeface="Cambria Math" panose="02040503050406030204" pitchFamily="18" charset="0"/>
                        </a:rPr>
                        <m:t>𝛴</m:t>
                      </m:r>
                      <m:r>
                        <a:rPr lang="pl-PL" sz="2800" i="1">
                          <a:latin typeface="Cambria Math" panose="02040503050406030204" pitchFamily="18" charset="0"/>
                        </a:rPr>
                        <m:t> </m:t>
                      </m:r>
                      <m:r>
                        <a:rPr lang="pl-PL" sz="2800" i="1">
                          <a:latin typeface="Cambria Math" panose="02040503050406030204" pitchFamily="18" charset="0"/>
                        </a:rPr>
                        <m:t>𝑋</m:t>
                      </m:r>
                      <m:r>
                        <a:rPr lang="pl-PL" sz="2800" i="1">
                          <a:latin typeface="Cambria Math" panose="02040503050406030204" pitchFamily="18" charset="0"/>
                        </a:rPr>
                        <m:t> · </m:t>
                      </m:r>
                      <m:r>
                        <a:rPr lang="pl-PL" sz="2800" i="1">
                          <a:latin typeface="Cambria Math" panose="02040503050406030204" pitchFamily="18" charset="0"/>
                        </a:rPr>
                        <m:t>𝑊</m:t>
                      </m:r>
                    </m:oMath>
                  </m:oMathPara>
                </a14:m>
                <a:endParaRPr lang="en-US" sz="2800" dirty="0"/>
              </a:p>
              <a:p>
                <a:pPr marL="457200" indent="-457200">
                  <a:buFont typeface="Arial" panose="020B0604020202020204" pitchFamily="34" charset="0"/>
                  <a:buChar char="•"/>
                </a:pPr>
                <a:r>
                  <a:rPr lang="en-US" sz="2800" dirty="0">
                    <a:effectLst>
                      <a:outerShdw blurRad="38100" dist="38100" dir="2700000" algn="tl">
                        <a:srgbClr val="000000">
                          <a:alpha val="43137"/>
                        </a:srgbClr>
                      </a:outerShdw>
                    </a:effectLst>
                  </a:rPr>
                  <a:t>Activation Function (</a:t>
                </a:r>
                <a:r>
                  <a:rPr lang="en-US" sz="2800" dirty="0" err="1">
                    <a:effectLst>
                      <a:outerShdw blurRad="38100" dist="38100" dir="2700000" algn="tl">
                        <a:srgbClr val="000000">
                          <a:alpha val="43137"/>
                        </a:srgbClr>
                      </a:outerShdw>
                    </a:effectLst>
                  </a:rPr>
                  <a:t>ReLU</a:t>
                </a:r>
                <a:r>
                  <a:rPr lang="en-US" sz="2800" dirty="0">
                    <a:effectLst>
                      <a:outerShdw blurRad="38100" dist="38100" dir="2700000" algn="tl">
                        <a:srgbClr val="000000">
                          <a:alpha val="43137"/>
                        </a:srgbClr>
                      </a:outerShdw>
                    </a:effectLst>
                  </a:rPr>
                  <a:t>) :</a:t>
                </a:r>
                <a:r>
                  <a:rPr lang="en-US" sz="2800" dirty="0"/>
                  <a:t> Introduces non-linearity into the model</a:t>
                </a:r>
              </a:p>
              <a:p>
                <a:pPr>
                  <a:spcAft>
                    <a:spcPts val="1200"/>
                  </a:spcAft>
                </a:pPr>
                <a14:m>
                  <m:oMathPara xmlns:m="http://schemas.openxmlformats.org/officeDocument/2006/math">
                    <m:oMathParaPr>
                      <m:jc m:val="centerGroup"/>
                    </m:oMathParaPr>
                    <m:oMath xmlns:m="http://schemas.openxmlformats.org/officeDocument/2006/math">
                      <m:r>
                        <a:rPr lang="en-US" sz="2800" i="1">
                          <a:latin typeface="Cambria Math" panose="02040503050406030204" pitchFamily="18" charset="0"/>
                        </a:rPr>
                        <m:t>𝑅𝑒𝐿𝑈</m:t>
                      </m:r>
                      <m:r>
                        <a:rPr lang="en-US" sz="2800" i="1">
                          <a:latin typeface="Cambria Math" panose="02040503050406030204" pitchFamily="18" charset="0"/>
                        </a:rPr>
                        <m:t>(</m:t>
                      </m:r>
                      <m:r>
                        <a:rPr lang="en-US" sz="2800" i="1">
                          <a:latin typeface="Cambria Math" panose="02040503050406030204" pitchFamily="18" charset="0"/>
                        </a:rPr>
                        <m:t>𝑥</m:t>
                      </m:r>
                      <m:r>
                        <a:rPr lang="en-US" sz="2800" i="1">
                          <a:latin typeface="Cambria Math" panose="02040503050406030204" pitchFamily="18" charset="0"/>
                        </a:rPr>
                        <m:t>) = </m:t>
                      </m:r>
                      <m:r>
                        <a:rPr lang="en-US" sz="2800" i="1">
                          <a:latin typeface="Cambria Math" panose="02040503050406030204" pitchFamily="18" charset="0"/>
                        </a:rPr>
                        <m:t>𝑚𝑎𝑥</m:t>
                      </m:r>
                      <m:r>
                        <a:rPr lang="en-US" sz="2800" i="1">
                          <a:latin typeface="Cambria Math" panose="02040503050406030204" pitchFamily="18" charset="0"/>
                        </a:rPr>
                        <m:t>(0, </m:t>
                      </m:r>
                      <m:r>
                        <a:rPr lang="en-US" sz="2800" i="1">
                          <a:latin typeface="Cambria Math" panose="02040503050406030204" pitchFamily="18" charset="0"/>
                        </a:rPr>
                        <m:t>𝑥</m:t>
                      </m:r>
                      <m:r>
                        <a:rPr lang="en-US" sz="2800" i="1">
                          <a:latin typeface="Cambria Math" panose="02040503050406030204" pitchFamily="18" charset="0"/>
                        </a:rPr>
                        <m:t>)</m:t>
                      </m:r>
                    </m:oMath>
                  </m:oMathPara>
                </a14:m>
                <a:endParaRPr lang="en-US" sz="2800" dirty="0"/>
              </a:p>
              <a:p>
                <a:pPr marL="457200" indent="-457200">
                  <a:buFont typeface="Arial" panose="020B0604020202020204" pitchFamily="34" charset="0"/>
                  <a:buChar char="•"/>
                </a:pPr>
                <a:r>
                  <a:rPr lang="en-US" sz="2800" dirty="0">
                    <a:effectLst>
                      <a:outerShdw blurRad="38100" dist="38100" dir="2700000" algn="tl">
                        <a:srgbClr val="000000">
                          <a:alpha val="43137"/>
                        </a:srgbClr>
                      </a:outerShdw>
                    </a:effectLst>
                  </a:rPr>
                  <a:t>Pooling Operation : </a:t>
                </a:r>
                <a:r>
                  <a:rPr lang="en-US" sz="2800" dirty="0"/>
                  <a:t>Reduces spatial dimensions and retains important features</a:t>
                </a:r>
                <a:endParaRPr lang="en-IN" sz="2800" i="1" dirty="0">
                  <a:latin typeface="Cambria Math" panose="02040503050406030204" pitchFamily="18" charset="0"/>
                </a:endParaRPr>
              </a:p>
              <a:p>
                <a:pPr marL="457200" indent="-457200">
                  <a:buFont typeface="Arial" panose="020B0604020202020204" pitchFamily="34" charset="0"/>
                  <a:buChar char="•"/>
                </a:pPr>
                <a:r>
                  <a:rPr lang="en-US" sz="2800" dirty="0">
                    <a:effectLst>
                      <a:outerShdw blurRad="38100" dist="38100" dir="2700000" algn="tl">
                        <a:srgbClr val="000000">
                          <a:alpha val="43137"/>
                        </a:srgbClr>
                      </a:outerShdw>
                    </a:effectLst>
                  </a:rPr>
                  <a:t>Fully Connected Layer : </a:t>
                </a:r>
                <a:r>
                  <a:rPr lang="en-US" sz="2800" dirty="0"/>
                  <a:t>Combines extracted features for classification</a:t>
                </a:r>
              </a:p>
              <a:p>
                <a:pPr>
                  <a:spcAft>
                    <a:spcPts val="1200"/>
                  </a:spcAft>
                </a:pPr>
                <a14:m>
                  <m:oMathPara xmlns:m="http://schemas.openxmlformats.org/officeDocument/2006/math">
                    <m:oMathParaPr>
                      <m:jc m:val="centerGroup"/>
                    </m:oMathParaPr>
                    <m:oMath xmlns:m="http://schemas.openxmlformats.org/officeDocument/2006/math">
                      <m:r>
                        <a:rPr lang="en-US" sz="2800" i="1" smtClean="0">
                          <a:effectLst/>
                          <a:latin typeface="Cambria Math" panose="02040503050406030204" pitchFamily="18" charset="0"/>
                        </a:rPr>
                        <m:t>𝑍</m:t>
                      </m:r>
                      <m:r>
                        <a:rPr lang="en-US" sz="2800" i="1" smtClean="0">
                          <a:effectLst/>
                          <a:latin typeface="Cambria Math" panose="02040503050406030204" pitchFamily="18" charset="0"/>
                        </a:rPr>
                        <m:t> = </m:t>
                      </m:r>
                      <m:r>
                        <a:rPr lang="en-US" sz="2800" i="1" smtClean="0">
                          <a:effectLst/>
                          <a:latin typeface="Cambria Math" panose="02040503050406030204" pitchFamily="18" charset="0"/>
                        </a:rPr>
                        <m:t>𝑊</m:t>
                      </m:r>
                      <m:r>
                        <a:rPr lang="en-US" sz="2800" i="1" smtClean="0">
                          <a:effectLst/>
                          <a:latin typeface="Cambria Math" panose="02040503050406030204" pitchFamily="18" charset="0"/>
                        </a:rPr>
                        <m:t> · </m:t>
                      </m:r>
                      <m:r>
                        <a:rPr lang="en-US" sz="2800" i="1" smtClean="0">
                          <a:effectLst/>
                          <a:latin typeface="Cambria Math" panose="02040503050406030204" pitchFamily="18" charset="0"/>
                        </a:rPr>
                        <m:t>𝑋</m:t>
                      </m:r>
                      <m:r>
                        <a:rPr lang="en-US" sz="2800" i="1" smtClean="0">
                          <a:effectLst/>
                          <a:latin typeface="Cambria Math" panose="02040503050406030204" pitchFamily="18" charset="0"/>
                        </a:rPr>
                        <m:t> + </m:t>
                      </m:r>
                      <m:r>
                        <a:rPr lang="en-US" sz="2800" i="1" smtClean="0">
                          <a:effectLst/>
                          <a:latin typeface="Cambria Math" panose="02040503050406030204" pitchFamily="18" charset="0"/>
                        </a:rPr>
                        <m:t>𝑏</m:t>
                      </m:r>
                    </m:oMath>
                  </m:oMathPara>
                </a14:m>
                <a:endParaRPr lang="en-US" sz="2800" dirty="0">
                  <a:effectLst/>
                </a:endParaRPr>
              </a:p>
              <a:p>
                <a:pPr marL="457200" indent="-457200">
                  <a:buFont typeface="Arial" panose="020B0604020202020204" pitchFamily="34" charset="0"/>
                  <a:buChar char="•"/>
                </a:pPr>
                <a:r>
                  <a:rPr lang="en-US" sz="2800" dirty="0" err="1">
                    <a:effectLst>
                      <a:outerShdw blurRad="38100" dist="38100" dir="2700000" algn="tl">
                        <a:srgbClr val="000000">
                          <a:alpha val="43137"/>
                        </a:srgbClr>
                      </a:outerShdw>
                    </a:effectLst>
                  </a:rPr>
                  <a:t>Softmax</a:t>
                </a:r>
                <a:r>
                  <a:rPr lang="en-US" sz="2800" dirty="0">
                    <a:effectLst>
                      <a:outerShdw blurRad="38100" dist="38100" dir="2700000" algn="tl">
                        <a:srgbClr val="000000">
                          <a:alpha val="43137"/>
                        </a:srgbClr>
                      </a:outerShdw>
                    </a:effectLst>
                  </a:rPr>
                  <a:t> Function : </a:t>
                </a:r>
                <a:r>
                  <a:rPr lang="en-US" sz="2800" dirty="0"/>
                  <a:t>Converts outputs into probability distribution</a:t>
                </a:r>
              </a:p>
              <a:p>
                <a:pPr marL="457200" indent="-457200">
                  <a:buFont typeface="Arial" panose="020B0604020202020204" pitchFamily="34" charset="0"/>
                  <a:buChar char="•"/>
                </a:pPr>
                <a:r>
                  <a:rPr lang="en-US" sz="2800" dirty="0">
                    <a:effectLst>
                      <a:outerShdw blurRad="38100" dist="38100" dir="2700000" algn="tl">
                        <a:srgbClr val="000000">
                          <a:alpha val="43137"/>
                        </a:srgbClr>
                      </a:outerShdw>
                    </a:effectLst>
                  </a:rPr>
                  <a:t>Loss Function : </a:t>
                </a:r>
                <a:r>
                  <a:rPr lang="en-US" sz="2800" dirty="0"/>
                  <a:t>Measures prediction error during training</a:t>
                </a:r>
                <a:endParaRPr lang="en-IN" sz="2800" dirty="0"/>
              </a:p>
            </p:txBody>
          </p:sp>
        </mc:Choice>
        <mc:Fallback xmlns="">
          <p:sp>
            <p:nvSpPr>
              <p:cNvPr id="3" name="TextBox 2">
                <a:extLst>
                  <a:ext uri="{FF2B5EF4-FFF2-40B4-BE49-F238E27FC236}">
                    <a16:creationId xmlns:a16="http://schemas.microsoft.com/office/drawing/2014/main" id="{B0F19428-1B72-2E25-CD0E-62B7C1B21313}"/>
                  </a:ext>
                </a:extLst>
              </p:cNvPr>
              <p:cNvSpPr txBox="1">
                <a:spLocks noRot="1" noChangeAspect="1" noMove="1" noResize="1" noEditPoints="1" noAdjustHandles="1" noChangeArrowheads="1" noChangeShapeType="1" noTextEdit="1"/>
              </p:cNvSpPr>
              <p:nvPr/>
            </p:nvSpPr>
            <p:spPr>
              <a:xfrm>
                <a:off x="2894126" y="1933962"/>
                <a:ext cx="12228164" cy="6309420"/>
              </a:xfrm>
              <a:prstGeom prst="rect">
                <a:avLst/>
              </a:prstGeom>
              <a:blipFill>
                <a:blip r:embed="rId6"/>
                <a:stretch>
                  <a:fillRect l="-947" t="-966" r="-1147" b="-2415"/>
                </a:stretch>
              </a:blipFill>
            </p:spPr>
            <p:txBody>
              <a:bodyPr/>
              <a:lstStyle/>
              <a:p>
                <a:r>
                  <a:rPr lang="en-IN">
                    <a:noFill/>
                  </a:rPr>
                  <a:t> </a:t>
                </a:r>
              </a:p>
            </p:txBody>
          </p:sp>
        </mc:Fallback>
      </mc:AlternateContent>
    </p:spTree>
    <p:extLst>
      <p:ext uri="{BB962C8B-B14F-4D97-AF65-F5344CB8AC3E}">
        <p14:creationId xmlns:p14="http://schemas.microsoft.com/office/powerpoint/2010/main" val="4455870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B25FB3-E0D7-5FC5-20F0-74F19C529BFE}"/>
            </a:ext>
          </a:extLst>
        </p:cNvPr>
        <p:cNvGrpSpPr/>
        <p:nvPr/>
      </p:nvGrpSpPr>
      <p:grpSpPr>
        <a:xfrm>
          <a:off x="0" y="0"/>
          <a:ext cx="0" cy="0"/>
          <a:chOff x="0" y="0"/>
          <a:chExt cx="0" cy="0"/>
        </a:xfrm>
      </p:grpSpPr>
      <p:grpSp>
        <p:nvGrpSpPr>
          <p:cNvPr id="19" name="Group 5">
            <a:extLst>
              <a:ext uri="{FF2B5EF4-FFF2-40B4-BE49-F238E27FC236}">
                <a16:creationId xmlns:a16="http://schemas.microsoft.com/office/drawing/2014/main" id="{2F4707F5-9183-57AF-E19C-C9E97F541FE8}"/>
              </a:ext>
            </a:extLst>
          </p:cNvPr>
          <p:cNvGrpSpPr/>
          <p:nvPr/>
        </p:nvGrpSpPr>
        <p:grpSpPr>
          <a:xfrm>
            <a:off x="18088875" y="-137537"/>
            <a:ext cx="1273129" cy="10562074"/>
            <a:chOff x="0" y="0"/>
            <a:chExt cx="335310" cy="2781781"/>
          </a:xfrm>
        </p:grpSpPr>
        <p:sp>
          <p:nvSpPr>
            <p:cNvPr id="20" name="Freeform 6">
              <a:extLst>
                <a:ext uri="{FF2B5EF4-FFF2-40B4-BE49-F238E27FC236}">
                  <a16:creationId xmlns:a16="http://schemas.microsoft.com/office/drawing/2014/main" id="{C676C1DD-B2BD-33C0-5D03-2852B46305AF}"/>
                </a:ext>
              </a:extLst>
            </p:cNvPr>
            <p:cNvSpPr/>
            <p:nvPr/>
          </p:nvSpPr>
          <p:spPr>
            <a:xfrm>
              <a:off x="0" y="0"/>
              <a:ext cx="335310" cy="2781781"/>
            </a:xfrm>
            <a:custGeom>
              <a:avLst/>
              <a:gdLst/>
              <a:ahLst/>
              <a:cxnLst/>
              <a:rect l="l" t="t" r="r" b="b"/>
              <a:pathLst>
                <a:path w="335310" h="2781781">
                  <a:moveTo>
                    <a:pt x="0" y="0"/>
                  </a:moveTo>
                  <a:lnTo>
                    <a:pt x="335310" y="0"/>
                  </a:lnTo>
                  <a:lnTo>
                    <a:pt x="335310" y="2781781"/>
                  </a:lnTo>
                  <a:lnTo>
                    <a:pt x="0" y="2781781"/>
                  </a:lnTo>
                  <a:close/>
                </a:path>
              </a:pathLst>
            </a:custGeom>
            <a:solidFill>
              <a:srgbClr val="F5DFDC"/>
            </a:solidFill>
            <a:ln cap="sq">
              <a:noFill/>
              <a:prstDash val="solid"/>
              <a:miter/>
            </a:ln>
          </p:spPr>
          <p:txBody>
            <a:bodyPr/>
            <a:lstStyle/>
            <a:p>
              <a:endParaRPr lang="en-IN"/>
            </a:p>
          </p:txBody>
        </p:sp>
        <p:sp>
          <p:nvSpPr>
            <p:cNvPr id="21" name="TextBox 7">
              <a:extLst>
                <a:ext uri="{FF2B5EF4-FFF2-40B4-BE49-F238E27FC236}">
                  <a16:creationId xmlns:a16="http://schemas.microsoft.com/office/drawing/2014/main" id="{2E47F3E3-563E-369C-6AD1-831C23D1266B}"/>
                </a:ext>
              </a:extLst>
            </p:cNvPr>
            <p:cNvSpPr txBox="1"/>
            <p:nvPr/>
          </p:nvSpPr>
          <p:spPr>
            <a:xfrm>
              <a:off x="0" y="38100"/>
              <a:ext cx="335310" cy="2743681"/>
            </a:xfrm>
            <a:prstGeom prst="rect">
              <a:avLst/>
            </a:prstGeom>
          </p:spPr>
          <p:txBody>
            <a:bodyPr lIns="50800" tIns="50800" rIns="50800" bIns="50800" rtlCol="0" anchor="ctr"/>
            <a:lstStyle/>
            <a:p>
              <a:pPr algn="ctr">
                <a:lnSpc>
                  <a:spcPts val="2100"/>
                </a:lnSpc>
              </a:pPr>
              <a:endParaRPr/>
            </a:p>
          </p:txBody>
        </p:sp>
      </p:grpSp>
      <p:grpSp>
        <p:nvGrpSpPr>
          <p:cNvPr id="16" name="Group 2">
            <a:extLst>
              <a:ext uri="{FF2B5EF4-FFF2-40B4-BE49-F238E27FC236}">
                <a16:creationId xmlns:a16="http://schemas.microsoft.com/office/drawing/2014/main" id="{737799DD-5A67-2A46-07F6-7BCC09087B88}"/>
              </a:ext>
            </a:extLst>
          </p:cNvPr>
          <p:cNvGrpSpPr/>
          <p:nvPr/>
        </p:nvGrpSpPr>
        <p:grpSpPr>
          <a:xfrm>
            <a:off x="-998214" y="24260"/>
            <a:ext cx="1273129" cy="10562074"/>
            <a:chOff x="0" y="0"/>
            <a:chExt cx="335310" cy="2781781"/>
          </a:xfrm>
        </p:grpSpPr>
        <p:sp>
          <p:nvSpPr>
            <p:cNvPr id="17" name="Freeform 3">
              <a:extLst>
                <a:ext uri="{FF2B5EF4-FFF2-40B4-BE49-F238E27FC236}">
                  <a16:creationId xmlns:a16="http://schemas.microsoft.com/office/drawing/2014/main" id="{8B6D6A51-738B-FBC3-7FF1-5BA49B2C3A6F}"/>
                </a:ext>
              </a:extLst>
            </p:cNvPr>
            <p:cNvSpPr/>
            <p:nvPr/>
          </p:nvSpPr>
          <p:spPr>
            <a:xfrm>
              <a:off x="0" y="0"/>
              <a:ext cx="335310" cy="2781781"/>
            </a:xfrm>
            <a:custGeom>
              <a:avLst/>
              <a:gdLst/>
              <a:ahLst/>
              <a:cxnLst/>
              <a:rect l="l" t="t" r="r" b="b"/>
              <a:pathLst>
                <a:path w="335310" h="2781781">
                  <a:moveTo>
                    <a:pt x="0" y="0"/>
                  </a:moveTo>
                  <a:lnTo>
                    <a:pt x="335310" y="0"/>
                  </a:lnTo>
                  <a:lnTo>
                    <a:pt x="335310" y="2781781"/>
                  </a:lnTo>
                  <a:lnTo>
                    <a:pt x="0" y="2781781"/>
                  </a:lnTo>
                  <a:close/>
                </a:path>
              </a:pathLst>
            </a:custGeom>
            <a:solidFill>
              <a:srgbClr val="F5DFDC"/>
            </a:solidFill>
            <a:ln cap="sq">
              <a:noFill/>
              <a:prstDash val="solid"/>
              <a:miter/>
            </a:ln>
          </p:spPr>
          <p:txBody>
            <a:bodyPr/>
            <a:lstStyle/>
            <a:p>
              <a:endParaRPr lang="en-IN"/>
            </a:p>
          </p:txBody>
        </p:sp>
        <p:sp>
          <p:nvSpPr>
            <p:cNvPr id="18" name="TextBox 4">
              <a:extLst>
                <a:ext uri="{FF2B5EF4-FFF2-40B4-BE49-F238E27FC236}">
                  <a16:creationId xmlns:a16="http://schemas.microsoft.com/office/drawing/2014/main" id="{86A791B3-06F6-2421-A651-F7AAF6B362DF}"/>
                </a:ext>
              </a:extLst>
            </p:cNvPr>
            <p:cNvSpPr txBox="1"/>
            <p:nvPr/>
          </p:nvSpPr>
          <p:spPr>
            <a:xfrm>
              <a:off x="0" y="38100"/>
              <a:ext cx="335310" cy="2743681"/>
            </a:xfrm>
            <a:prstGeom prst="rect">
              <a:avLst/>
            </a:prstGeom>
          </p:spPr>
          <p:txBody>
            <a:bodyPr lIns="50800" tIns="50800" rIns="50800" bIns="50800" rtlCol="0" anchor="ctr"/>
            <a:lstStyle/>
            <a:p>
              <a:pPr algn="ctr">
                <a:lnSpc>
                  <a:spcPts val="2100"/>
                </a:lnSpc>
              </a:pPr>
              <a:endParaRPr/>
            </a:p>
          </p:txBody>
        </p:sp>
      </p:grpSp>
      <p:sp>
        <p:nvSpPr>
          <p:cNvPr id="8" name="Freeform 8">
            <a:extLst>
              <a:ext uri="{FF2B5EF4-FFF2-40B4-BE49-F238E27FC236}">
                <a16:creationId xmlns:a16="http://schemas.microsoft.com/office/drawing/2014/main" id="{83E0EC48-38E3-DA78-71FE-0047F00605AD}"/>
              </a:ext>
            </a:extLst>
          </p:cNvPr>
          <p:cNvSpPr/>
          <p:nvPr/>
        </p:nvSpPr>
        <p:spPr>
          <a:xfrm>
            <a:off x="14706600" y="-202510"/>
            <a:ext cx="4521184" cy="1528982"/>
          </a:xfrm>
          <a:custGeom>
            <a:avLst/>
            <a:gdLst/>
            <a:ahLst/>
            <a:cxnLst/>
            <a:rect l="l" t="t" r="r" b="b"/>
            <a:pathLst>
              <a:path w="4521184" h="1528982">
                <a:moveTo>
                  <a:pt x="0" y="0"/>
                </a:moveTo>
                <a:lnTo>
                  <a:pt x="4521184" y="0"/>
                </a:lnTo>
                <a:lnTo>
                  <a:pt x="4521184" y="1528982"/>
                </a:lnTo>
                <a:lnTo>
                  <a:pt x="0" y="152898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9" name="Freeform 9">
            <a:extLst>
              <a:ext uri="{FF2B5EF4-FFF2-40B4-BE49-F238E27FC236}">
                <a16:creationId xmlns:a16="http://schemas.microsoft.com/office/drawing/2014/main" id="{0A254FDA-871F-DBDF-F653-EF5B9BFE1F32}"/>
              </a:ext>
            </a:extLst>
          </p:cNvPr>
          <p:cNvSpPr/>
          <p:nvPr/>
        </p:nvSpPr>
        <p:spPr>
          <a:xfrm flipH="1" flipV="1">
            <a:off x="-1128348" y="8895555"/>
            <a:ext cx="4521184" cy="1528982"/>
          </a:xfrm>
          <a:custGeom>
            <a:avLst/>
            <a:gdLst/>
            <a:ahLst/>
            <a:cxnLst/>
            <a:rect l="l" t="t" r="r" b="b"/>
            <a:pathLst>
              <a:path w="4521184" h="1528982">
                <a:moveTo>
                  <a:pt x="4521184" y="1528982"/>
                </a:moveTo>
                <a:lnTo>
                  <a:pt x="0" y="1528982"/>
                </a:lnTo>
                <a:lnTo>
                  <a:pt x="0" y="0"/>
                </a:lnTo>
                <a:lnTo>
                  <a:pt x="4521184" y="0"/>
                </a:lnTo>
                <a:lnTo>
                  <a:pt x="4521184" y="1528982"/>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10" name="Freeform 10">
            <a:extLst>
              <a:ext uri="{FF2B5EF4-FFF2-40B4-BE49-F238E27FC236}">
                <a16:creationId xmlns:a16="http://schemas.microsoft.com/office/drawing/2014/main" id="{8CEADD97-655E-1CB3-B222-979781267A16}"/>
              </a:ext>
            </a:extLst>
          </p:cNvPr>
          <p:cNvSpPr/>
          <p:nvPr/>
        </p:nvSpPr>
        <p:spPr>
          <a:xfrm>
            <a:off x="16459200" y="9182100"/>
            <a:ext cx="2636110" cy="1524151"/>
          </a:xfrm>
          <a:custGeom>
            <a:avLst/>
            <a:gdLst/>
            <a:ahLst/>
            <a:cxnLst/>
            <a:rect l="l" t="t" r="r" b="b"/>
            <a:pathLst>
              <a:path w="2636110" h="1524151">
                <a:moveTo>
                  <a:pt x="0" y="0"/>
                </a:moveTo>
                <a:lnTo>
                  <a:pt x="2636110" y="0"/>
                </a:lnTo>
                <a:lnTo>
                  <a:pt x="2636110" y="1524151"/>
                </a:lnTo>
                <a:lnTo>
                  <a:pt x="0" y="152415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dirty="0"/>
          </a:p>
        </p:txBody>
      </p:sp>
      <p:sp>
        <p:nvSpPr>
          <p:cNvPr id="11" name="Freeform 11">
            <a:extLst>
              <a:ext uri="{FF2B5EF4-FFF2-40B4-BE49-F238E27FC236}">
                <a16:creationId xmlns:a16="http://schemas.microsoft.com/office/drawing/2014/main" id="{7023FD82-D15A-4125-9043-4879D0E5497B}"/>
              </a:ext>
            </a:extLst>
          </p:cNvPr>
          <p:cNvSpPr/>
          <p:nvPr/>
        </p:nvSpPr>
        <p:spPr>
          <a:xfrm flipH="1" flipV="1">
            <a:off x="-762000" y="-428776"/>
            <a:ext cx="2636110" cy="1524151"/>
          </a:xfrm>
          <a:custGeom>
            <a:avLst/>
            <a:gdLst/>
            <a:ahLst/>
            <a:cxnLst/>
            <a:rect l="l" t="t" r="r" b="b"/>
            <a:pathLst>
              <a:path w="2636110" h="1524151">
                <a:moveTo>
                  <a:pt x="2636110" y="1524151"/>
                </a:moveTo>
                <a:lnTo>
                  <a:pt x="0" y="1524151"/>
                </a:lnTo>
                <a:lnTo>
                  <a:pt x="0" y="0"/>
                </a:lnTo>
                <a:lnTo>
                  <a:pt x="2636110" y="0"/>
                </a:lnTo>
                <a:lnTo>
                  <a:pt x="2636110" y="1524151"/>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dirty="0"/>
          </a:p>
        </p:txBody>
      </p:sp>
      <p:sp>
        <p:nvSpPr>
          <p:cNvPr id="24" name="TextBox 23">
            <a:extLst>
              <a:ext uri="{FF2B5EF4-FFF2-40B4-BE49-F238E27FC236}">
                <a16:creationId xmlns:a16="http://schemas.microsoft.com/office/drawing/2014/main" id="{3841860C-3895-25EC-8398-714663AFAE4C}"/>
              </a:ext>
            </a:extLst>
          </p:cNvPr>
          <p:cNvSpPr txBox="1"/>
          <p:nvPr/>
        </p:nvSpPr>
        <p:spPr>
          <a:xfrm>
            <a:off x="457200" y="1378354"/>
            <a:ext cx="14249400" cy="584775"/>
          </a:xfrm>
          <a:prstGeom prst="rect">
            <a:avLst/>
          </a:prstGeom>
          <a:noFill/>
        </p:spPr>
        <p:txBody>
          <a:bodyPr wrap="square" rtlCol="0">
            <a:spAutoFit/>
          </a:bodyPr>
          <a:lstStyle/>
          <a:p>
            <a:pPr lvl="4" algn="just">
              <a:spcAft>
                <a:spcPts val="800"/>
              </a:spcAft>
            </a:pPr>
            <a:r>
              <a:rPr lang="en-US" sz="3200" dirty="0">
                <a:effectLst>
                  <a:outerShdw blurRad="38100" dist="38100" dir="2700000" algn="tl">
                    <a:srgbClr val="000000">
                      <a:alpha val="43137"/>
                    </a:srgbClr>
                  </a:outerShdw>
                </a:effectLst>
              </a:rPr>
              <a:t>Convolution And Matrix Multiplication</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8CD90CBA-488C-3771-7F5C-FA8F43FAD52D}"/>
                  </a:ext>
                </a:extLst>
              </p:cNvPr>
              <p:cNvSpPr txBox="1"/>
              <p:nvPr/>
            </p:nvSpPr>
            <p:spPr>
              <a:xfrm>
                <a:off x="3048000" y="2599787"/>
                <a:ext cx="12954000" cy="5293757"/>
              </a:xfrm>
              <a:prstGeom prst="rect">
                <a:avLst/>
              </a:prstGeom>
              <a:noFill/>
            </p:spPr>
            <p:txBody>
              <a:bodyPr wrap="square" rtlCol="0">
                <a:spAutoFit/>
              </a:bodyPr>
              <a:lstStyle/>
              <a:p>
                <a:pPr marL="285750" indent="-285750">
                  <a:spcAft>
                    <a:spcPts val="1500"/>
                  </a:spcAft>
                  <a:buFont typeface="Arial" panose="020B0604020202020204" pitchFamily="34" charset="0"/>
                  <a:buChar char="•"/>
                </a:pPr>
                <a:r>
                  <a:rPr lang="en-US" sz="3200" dirty="0"/>
                  <a:t>In CNNs, convolution filters slide across the input image </a:t>
                </a:r>
                <a:r>
                  <a:rPr lang="en-US" sz="3200" dirty="0" err="1"/>
                  <a:t>andperform</a:t>
                </a:r>
                <a:r>
                  <a:rPr lang="en-US" sz="3200" dirty="0"/>
                  <a:t> element-wise multiplication with pixel values to </a:t>
                </a:r>
                <a:r>
                  <a:rPr lang="en-US" sz="3200" dirty="0" err="1"/>
                  <a:t>producefeature</a:t>
                </a:r>
                <a:r>
                  <a:rPr lang="en-US" sz="3200" dirty="0"/>
                  <a:t> maps.</a:t>
                </a:r>
              </a:p>
              <a:p>
                <a:pPr marL="285750" indent="-285750">
                  <a:spcAft>
                    <a:spcPts val="1500"/>
                  </a:spcAft>
                  <a:buFont typeface="Arial" panose="020B0604020202020204" pitchFamily="34" charset="0"/>
                  <a:buChar char="•"/>
                </a:pPr>
                <a:r>
                  <a:rPr lang="en-US" sz="3200" dirty="0"/>
                  <a:t>Mathematical Representation:</a:t>
                </a:r>
              </a:p>
              <a:p>
                <a:pPr>
                  <a:spcAft>
                    <a:spcPts val="1500"/>
                  </a:spcAft>
                </a:pPr>
                <a14:m>
                  <m:oMathPara xmlns:m="http://schemas.openxmlformats.org/officeDocument/2006/math">
                    <m:oMathParaPr>
                      <m:jc m:val="centerGroup"/>
                    </m:oMathParaPr>
                    <m:oMath xmlns:m="http://schemas.openxmlformats.org/officeDocument/2006/math">
                      <m:r>
                        <a:rPr lang="pt-BR" sz="3200" i="1">
                          <a:latin typeface="Cambria Math" panose="02040503050406030204" pitchFamily="18" charset="0"/>
                        </a:rPr>
                        <m:t>𝑌</m:t>
                      </m:r>
                      <m:d>
                        <m:dPr>
                          <m:ctrlPr>
                            <a:rPr lang="pt-BR" sz="3200" i="1">
                              <a:latin typeface="Cambria Math" panose="02040503050406030204" pitchFamily="18" charset="0"/>
                            </a:rPr>
                          </m:ctrlPr>
                        </m:dPr>
                        <m:e>
                          <m:r>
                            <a:rPr lang="pt-BR" sz="3200" i="1">
                              <a:latin typeface="Cambria Math" panose="02040503050406030204" pitchFamily="18" charset="0"/>
                            </a:rPr>
                            <m:t>𝑖</m:t>
                          </m:r>
                          <m:r>
                            <a:rPr lang="pt-BR" sz="3200" i="1">
                              <a:latin typeface="Cambria Math" panose="02040503050406030204" pitchFamily="18" charset="0"/>
                            </a:rPr>
                            <m:t>, </m:t>
                          </m:r>
                          <m:r>
                            <a:rPr lang="pt-BR" sz="3200" i="1">
                              <a:latin typeface="Cambria Math" panose="02040503050406030204" pitchFamily="18" charset="0"/>
                            </a:rPr>
                            <m:t>𝑗</m:t>
                          </m:r>
                        </m:e>
                      </m:d>
                      <m:r>
                        <a:rPr lang="pt-BR" sz="3200" i="1">
                          <a:latin typeface="Cambria Math" panose="02040503050406030204" pitchFamily="18" charset="0"/>
                        </a:rPr>
                        <m:t>= </m:t>
                      </m:r>
                      <m:r>
                        <a:rPr lang="pt-BR" sz="3200" i="1">
                          <a:latin typeface="Cambria Math" panose="02040503050406030204" pitchFamily="18" charset="0"/>
                        </a:rPr>
                        <m:t>𝛴</m:t>
                      </m:r>
                      <m:r>
                        <a:rPr lang="pt-BR" sz="3200" i="1">
                          <a:latin typeface="Cambria Math" panose="02040503050406030204" pitchFamily="18" charset="0"/>
                        </a:rPr>
                        <m:t>𝑚</m:t>
                      </m:r>
                      <m:r>
                        <a:rPr lang="pt-BR" sz="3200" i="1">
                          <a:latin typeface="Cambria Math" panose="02040503050406030204" pitchFamily="18" charset="0"/>
                        </a:rPr>
                        <m:t> </m:t>
                      </m:r>
                      <m:r>
                        <a:rPr lang="pt-BR" sz="3200" i="1">
                          <a:latin typeface="Cambria Math" panose="02040503050406030204" pitchFamily="18" charset="0"/>
                        </a:rPr>
                        <m:t>𝛴</m:t>
                      </m:r>
                      <m:r>
                        <a:rPr lang="pt-BR" sz="3200" i="1">
                          <a:latin typeface="Cambria Math" panose="02040503050406030204" pitchFamily="18" charset="0"/>
                        </a:rPr>
                        <m:t>𝑛</m:t>
                      </m:r>
                      <m:r>
                        <a:rPr lang="pt-BR" sz="3200" i="1">
                          <a:latin typeface="Cambria Math" panose="02040503050406030204" pitchFamily="18" charset="0"/>
                        </a:rPr>
                        <m:t> </m:t>
                      </m:r>
                      <m:r>
                        <a:rPr lang="pt-BR" sz="3200" i="1">
                          <a:latin typeface="Cambria Math" panose="02040503050406030204" pitchFamily="18" charset="0"/>
                        </a:rPr>
                        <m:t>𝑋</m:t>
                      </m:r>
                      <m:d>
                        <m:dPr>
                          <m:ctrlPr>
                            <a:rPr lang="pt-BR" sz="3200" i="1">
                              <a:latin typeface="Cambria Math" panose="02040503050406030204" pitchFamily="18" charset="0"/>
                            </a:rPr>
                          </m:ctrlPr>
                        </m:dPr>
                        <m:e>
                          <m:r>
                            <a:rPr lang="pt-BR" sz="3200" i="1">
                              <a:latin typeface="Cambria Math" panose="02040503050406030204" pitchFamily="18" charset="0"/>
                            </a:rPr>
                            <m:t>𝑖</m:t>
                          </m:r>
                          <m:r>
                            <a:rPr lang="pt-BR" sz="3200" i="1">
                              <a:latin typeface="Cambria Math" panose="02040503050406030204" pitchFamily="18" charset="0"/>
                            </a:rPr>
                            <m:t> + </m:t>
                          </m:r>
                          <m:r>
                            <a:rPr lang="pt-BR" sz="3200" i="1">
                              <a:latin typeface="Cambria Math" panose="02040503050406030204" pitchFamily="18" charset="0"/>
                            </a:rPr>
                            <m:t>𝑚</m:t>
                          </m:r>
                          <m:r>
                            <a:rPr lang="pt-BR" sz="3200" i="1">
                              <a:latin typeface="Cambria Math" panose="02040503050406030204" pitchFamily="18" charset="0"/>
                            </a:rPr>
                            <m:t>, </m:t>
                          </m:r>
                          <m:r>
                            <a:rPr lang="pt-BR" sz="3200" i="1">
                              <a:latin typeface="Cambria Math" panose="02040503050406030204" pitchFamily="18" charset="0"/>
                            </a:rPr>
                            <m:t>𝑗</m:t>
                          </m:r>
                          <m:r>
                            <a:rPr lang="pt-BR" sz="3200" i="1">
                              <a:latin typeface="Cambria Math" panose="02040503050406030204" pitchFamily="18" charset="0"/>
                            </a:rPr>
                            <m:t> + </m:t>
                          </m:r>
                          <m:r>
                            <a:rPr lang="pt-BR" sz="3200" i="1">
                              <a:latin typeface="Cambria Math" panose="02040503050406030204" pitchFamily="18" charset="0"/>
                            </a:rPr>
                            <m:t>𝑛</m:t>
                          </m:r>
                        </m:e>
                      </m:d>
                      <m:r>
                        <a:rPr lang="pt-BR" sz="3200" i="1">
                          <a:latin typeface="Cambria Math" panose="02040503050406030204" pitchFamily="18" charset="0"/>
                        </a:rPr>
                        <m:t>· </m:t>
                      </m:r>
                      <m:r>
                        <a:rPr lang="pt-BR" sz="3200" i="1">
                          <a:latin typeface="Cambria Math" panose="02040503050406030204" pitchFamily="18" charset="0"/>
                        </a:rPr>
                        <m:t>𝐾</m:t>
                      </m:r>
                      <m:d>
                        <m:dPr>
                          <m:ctrlPr>
                            <a:rPr lang="pt-BR" sz="3200" i="1">
                              <a:latin typeface="Cambria Math" panose="02040503050406030204" pitchFamily="18" charset="0"/>
                            </a:rPr>
                          </m:ctrlPr>
                        </m:dPr>
                        <m:e>
                          <m:r>
                            <a:rPr lang="pt-BR" sz="3200" i="1">
                              <a:latin typeface="Cambria Math" panose="02040503050406030204" pitchFamily="18" charset="0"/>
                            </a:rPr>
                            <m:t>𝑚</m:t>
                          </m:r>
                          <m:r>
                            <a:rPr lang="pt-BR" sz="3200" i="1">
                              <a:latin typeface="Cambria Math" panose="02040503050406030204" pitchFamily="18" charset="0"/>
                            </a:rPr>
                            <m:t>, </m:t>
                          </m:r>
                          <m:r>
                            <a:rPr lang="pt-BR" sz="3200" i="1">
                              <a:latin typeface="Cambria Math" panose="02040503050406030204" pitchFamily="18" charset="0"/>
                            </a:rPr>
                            <m:t>𝑛</m:t>
                          </m:r>
                        </m:e>
                      </m:d>
                    </m:oMath>
                  </m:oMathPara>
                </a14:m>
                <a:endParaRPr lang="en-IN" sz="3200" dirty="0"/>
              </a:p>
              <a:p>
                <a:pPr lvl="2">
                  <a:spcAft>
                    <a:spcPts val="1500"/>
                  </a:spcAft>
                </a:pPr>
                <a:r>
                  <a:rPr lang="en-US" sz="3200" dirty="0"/>
                  <a:t>Where:</a:t>
                </a:r>
              </a:p>
              <a:p>
                <a:pPr marL="2000250" lvl="4" indent="-457200">
                  <a:buSzPct val="50000"/>
                  <a:buFont typeface="Arial" panose="020B0604020202020204" pitchFamily="34" charset="0"/>
                  <a:buChar char="•"/>
                </a:pPr>
                <a:r>
                  <a:rPr lang="en-US" sz="3200" dirty="0"/>
                  <a:t>X – Input image matrix</a:t>
                </a:r>
              </a:p>
              <a:p>
                <a:pPr marL="2000250" lvl="4" indent="-457200">
                  <a:buSzPct val="50000"/>
                  <a:buFont typeface="Arial" panose="020B0604020202020204" pitchFamily="34" charset="0"/>
                  <a:buChar char="•"/>
                </a:pPr>
                <a:r>
                  <a:rPr lang="en-US" sz="3200" dirty="0"/>
                  <a:t>K – Convolution kernel</a:t>
                </a:r>
              </a:p>
              <a:p>
                <a:pPr marL="2000250" lvl="4" indent="-457200">
                  <a:buSzPct val="50000"/>
                  <a:buFont typeface="Arial" panose="020B0604020202020204" pitchFamily="34" charset="0"/>
                  <a:buChar char="•"/>
                </a:pPr>
                <a:r>
                  <a:rPr lang="en-US" sz="3200" dirty="0"/>
                  <a:t>Y – Output feature map</a:t>
                </a:r>
              </a:p>
              <a:p>
                <a:pPr marL="1543050" lvl="4">
                  <a:buSzPct val="50000"/>
                </a:pPr>
                <a:endParaRPr lang="en-US" sz="3200" dirty="0"/>
              </a:p>
            </p:txBody>
          </p:sp>
        </mc:Choice>
        <mc:Fallback xmlns="">
          <p:sp>
            <p:nvSpPr>
              <p:cNvPr id="6" name="TextBox 5">
                <a:extLst>
                  <a:ext uri="{FF2B5EF4-FFF2-40B4-BE49-F238E27FC236}">
                    <a16:creationId xmlns:a16="http://schemas.microsoft.com/office/drawing/2014/main" id="{8CD90CBA-488C-3771-7F5C-FA8F43FAD52D}"/>
                  </a:ext>
                </a:extLst>
              </p:cNvPr>
              <p:cNvSpPr txBox="1">
                <a:spLocks noRot="1" noChangeAspect="1" noMove="1" noResize="1" noEditPoints="1" noAdjustHandles="1" noChangeArrowheads="1" noChangeShapeType="1" noTextEdit="1"/>
              </p:cNvSpPr>
              <p:nvPr/>
            </p:nvSpPr>
            <p:spPr>
              <a:xfrm>
                <a:off x="3048000" y="2599787"/>
                <a:ext cx="12954000" cy="5293757"/>
              </a:xfrm>
              <a:prstGeom prst="rect">
                <a:avLst/>
              </a:prstGeom>
              <a:blipFill>
                <a:blip r:embed="rId6"/>
                <a:stretch>
                  <a:fillRect l="-1082" t="-1496"/>
                </a:stretch>
              </a:blipFill>
            </p:spPr>
            <p:txBody>
              <a:bodyPr/>
              <a:lstStyle/>
              <a:p>
                <a:r>
                  <a:rPr lang="en-IN">
                    <a:noFill/>
                  </a:rPr>
                  <a:t> </a:t>
                </a:r>
              </a:p>
            </p:txBody>
          </p:sp>
        </mc:Fallback>
      </mc:AlternateContent>
      <p:sp>
        <p:nvSpPr>
          <p:cNvPr id="14" name="TextBox 13">
            <a:extLst>
              <a:ext uri="{FF2B5EF4-FFF2-40B4-BE49-F238E27FC236}">
                <a16:creationId xmlns:a16="http://schemas.microsoft.com/office/drawing/2014/main" id="{E70C9B5F-C962-BDEC-BABF-990BA37E77D4}"/>
              </a:ext>
            </a:extLst>
          </p:cNvPr>
          <p:cNvSpPr txBox="1"/>
          <p:nvPr/>
        </p:nvSpPr>
        <p:spPr>
          <a:xfrm>
            <a:off x="8669121" y="8951267"/>
            <a:ext cx="495649" cy="461665"/>
          </a:xfrm>
          <a:prstGeom prst="rect">
            <a:avLst/>
          </a:prstGeom>
          <a:noFill/>
        </p:spPr>
        <p:txBody>
          <a:bodyPr wrap="none" rtlCol="0">
            <a:spAutoFit/>
          </a:bodyPr>
          <a:lstStyle/>
          <a:p>
            <a:r>
              <a:rPr lang="en-IN" sz="2400" dirty="0">
                <a:solidFill>
                  <a:schemeClr val="tx1">
                    <a:lumMod val="65000"/>
                    <a:lumOff val="35000"/>
                  </a:schemeClr>
                </a:solidFill>
              </a:rPr>
              <a:t>14</a:t>
            </a:r>
          </a:p>
        </p:txBody>
      </p:sp>
    </p:spTree>
    <p:extLst>
      <p:ext uri="{BB962C8B-B14F-4D97-AF65-F5344CB8AC3E}">
        <p14:creationId xmlns:p14="http://schemas.microsoft.com/office/powerpoint/2010/main" val="42213872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F1738F-B0EF-8F24-167F-D3290C4A1DAD}"/>
            </a:ext>
          </a:extLst>
        </p:cNvPr>
        <p:cNvGrpSpPr/>
        <p:nvPr/>
      </p:nvGrpSpPr>
      <p:grpSpPr>
        <a:xfrm>
          <a:off x="0" y="0"/>
          <a:ext cx="0" cy="0"/>
          <a:chOff x="0" y="0"/>
          <a:chExt cx="0" cy="0"/>
        </a:xfrm>
      </p:grpSpPr>
      <p:grpSp>
        <p:nvGrpSpPr>
          <p:cNvPr id="19" name="Group 5">
            <a:extLst>
              <a:ext uri="{FF2B5EF4-FFF2-40B4-BE49-F238E27FC236}">
                <a16:creationId xmlns:a16="http://schemas.microsoft.com/office/drawing/2014/main" id="{CE15B787-B6F0-69C8-DCE4-3FAC8F1F796A}"/>
              </a:ext>
            </a:extLst>
          </p:cNvPr>
          <p:cNvGrpSpPr/>
          <p:nvPr/>
        </p:nvGrpSpPr>
        <p:grpSpPr>
          <a:xfrm>
            <a:off x="18088875" y="-137537"/>
            <a:ext cx="1273129" cy="10562074"/>
            <a:chOff x="0" y="0"/>
            <a:chExt cx="335310" cy="2781781"/>
          </a:xfrm>
        </p:grpSpPr>
        <p:sp>
          <p:nvSpPr>
            <p:cNvPr id="20" name="Freeform 6">
              <a:extLst>
                <a:ext uri="{FF2B5EF4-FFF2-40B4-BE49-F238E27FC236}">
                  <a16:creationId xmlns:a16="http://schemas.microsoft.com/office/drawing/2014/main" id="{932686E9-6515-C356-A931-974E6DFCC171}"/>
                </a:ext>
              </a:extLst>
            </p:cNvPr>
            <p:cNvSpPr/>
            <p:nvPr/>
          </p:nvSpPr>
          <p:spPr>
            <a:xfrm>
              <a:off x="0" y="0"/>
              <a:ext cx="335310" cy="2781781"/>
            </a:xfrm>
            <a:custGeom>
              <a:avLst/>
              <a:gdLst/>
              <a:ahLst/>
              <a:cxnLst/>
              <a:rect l="l" t="t" r="r" b="b"/>
              <a:pathLst>
                <a:path w="335310" h="2781781">
                  <a:moveTo>
                    <a:pt x="0" y="0"/>
                  </a:moveTo>
                  <a:lnTo>
                    <a:pt x="335310" y="0"/>
                  </a:lnTo>
                  <a:lnTo>
                    <a:pt x="335310" y="2781781"/>
                  </a:lnTo>
                  <a:lnTo>
                    <a:pt x="0" y="2781781"/>
                  </a:lnTo>
                  <a:close/>
                </a:path>
              </a:pathLst>
            </a:custGeom>
            <a:solidFill>
              <a:srgbClr val="F5DFDC"/>
            </a:solidFill>
            <a:ln cap="sq">
              <a:noFill/>
              <a:prstDash val="solid"/>
              <a:miter/>
            </a:ln>
          </p:spPr>
          <p:txBody>
            <a:bodyPr/>
            <a:lstStyle/>
            <a:p>
              <a:endParaRPr lang="en-IN"/>
            </a:p>
          </p:txBody>
        </p:sp>
        <p:sp>
          <p:nvSpPr>
            <p:cNvPr id="21" name="TextBox 7">
              <a:extLst>
                <a:ext uri="{FF2B5EF4-FFF2-40B4-BE49-F238E27FC236}">
                  <a16:creationId xmlns:a16="http://schemas.microsoft.com/office/drawing/2014/main" id="{D00E322D-F3D1-CBD8-2115-D049DF9935CE}"/>
                </a:ext>
              </a:extLst>
            </p:cNvPr>
            <p:cNvSpPr txBox="1"/>
            <p:nvPr/>
          </p:nvSpPr>
          <p:spPr>
            <a:xfrm>
              <a:off x="0" y="38100"/>
              <a:ext cx="335310" cy="2743681"/>
            </a:xfrm>
            <a:prstGeom prst="rect">
              <a:avLst/>
            </a:prstGeom>
          </p:spPr>
          <p:txBody>
            <a:bodyPr lIns="50800" tIns="50800" rIns="50800" bIns="50800" rtlCol="0" anchor="ctr"/>
            <a:lstStyle/>
            <a:p>
              <a:pPr algn="ctr">
                <a:lnSpc>
                  <a:spcPts val="2100"/>
                </a:lnSpc>
              </a:pPr>
              <a:endParaRPr/>
            </a:p>
          </p:txBody>
        </p:sp>
      </p:grpSp>
      <p:grpSp>
        <p:nvGrpSpPr>
          <p:cNvPr id="16" name="Group 2">
            <a:extLst>
              <a:ext uri="{FF2B5EF4-FFF2-40B4-BE49-F238E27FC236}">
                <a16:creationId xmlns:a16="http://schemas.microsoft.com/office/drawing/2014/main" id="{25DE6BDC-02E8-6E94-5D00-11F4CEA8DC92}"/>
              </a:ext>
            </a:extLst>
          </p:cNvPr>
          <p:cNvGrpSpPr/>
          <p:nvPr/>
        </p:nvGrpSpPr>
        <p:grpSpPr>
          <a:xfrm>
            <a:off x="-998214" y="24260"/>
            <a:ext cx="1273129" cy="10562074"/>
            <a:chOff x="0" y="0"/>
            <a:chExt cx="335310" cy="2781781"/>
          </a:xfrm>
        </p:grpSpPr>
        <p:sp>
          <p:nvSpPr>
            <p:cNvPr id="17" name="Freeform 3">
              <a:extLst>
                <a:ext uri="{FF2B5EF4-FFF2-40B4-BE49-F238E27FC236}">
                  <a16:creationId xmlns:a16="http://schemas.microsoft.com/office/drawing/2014/main" id="{0150410B-1411-6219-AD94-D8D87CACB5E5}"/>
                </a:ext>
              </a:extLst>
            </p:cNvPr>
            <p:cNvSpPr/>
            <p:nvPr/>
          </p:nvSpPr>
          <p:spPr>
            <a:xfrm>
              <a:off x="0" y="0"/>
              <a:ext cx="335310" cy="2781781"/>
            </a:xfrm>
            <a:custGeom>
              <a:avLst/>
              <a:gdLst/>
              <a:ahLst/>
              <a:cxnLst/>
              <a:rect l="l" t="t" r="r" b="b"/>
              <a:pathLst>
                <a:path w="335310" h="2781781">
                  <a:moveTo>
                    <a:pt x="0" y="0"/>
                  </a:moveTo>
                  <a:lnTo>
                    <a:pt x="335310" y="0"/>
                  </a:lnTo>
                  <a:lnTo>
                    <a:pt x="335310" y="2781781"/>
                  </a:lnTo>
                  <a:lnTo>
                    <a:pt x="0" y="2781781"/>
                  </a:lnTo>
                  <a:close/>
                </a:path>
              </a:pathLst>
            </a:custGeom>
            <a:solidFill>
              <a:srgbClr val="F5DFDC"/>
            </a:solidFill>
            <a:ln cap="sq">
              <a:noFill/>
              <a:prstDash val="solid"/>
              <a:miter/>
            </a:ln>
          </p:spPr>
          <p:txBody>
            <a:bodyPr/>
            <a:lstStyle/>
            <a:p>
              <a:endParaRPr lang="en-IN"/>
            </a:p>
          </p:txBody>
        </p:sp>
        <p:sp>
          <p:nvSpPr>
            <p:cNvPr id="18" name="TextBox 4">
              <a:extLst>
                <a:ext uri="{FF2B5EF4-FFF2-40B4-BE49-F238E27FC236}">
                  <a16:creationId xmlns:a16="http://schemas.microsoft.com/office/drawing/2014/main" id="{8120A138-E7FB-2B00-AE2D-6D80E46B94F2}"/>
                </a:ext>
              </a:extLst>
            </p:cNvPr>
            <p:cNvSpPr txBox="1"/>
            <p:nvPr/>
          </p:nvSpPr>
          <p:spPr>
            <a:xfrm>
              <a:off x="0" y="38100"/>
              <a:ext cx="335310" cy="2743681"/>
            </a:xfrm>
            <a:prstGeom prst="rect">
              <a:avLst/>
            </a:prstGeom>
          </p:spPr>
          <p:txBody>
            <a:bodyPr lIns="50800" tIns="50800" rIns="50800" bIns="50800" rtlCol="0" anchor="ctr"/>
            <a:lstStyle/>
            <a:p>
              <a:pPr algn="ctr">
                <a:lnSpc>
                  <a:spcPts val="2100"/>
                </a:lnSpc>
              </a:pPr>
              <a:endParaRPr/>
            </a:p>
          </p:txBody>
        </p:sp>
      </p:grpSp>
      <p:sp>
        <p:nvSpPr>
          <p:cNvPr id="8" name="Freeform 8">
            <a:extLst>
              <a:ext uri="{FF2B5EF4-FFF2-40B4-BE49-F238E27FC236}">
                <a16:creationId xmlns:a16="http://schemas.microsoft.com/office/drawing/2014/main" id="{9B2EA6B5-F68A-FA38-C7D7-0DC537943A78}"/>
              </a:ext>
            </a:extLst>
          </p:cNvPr>
          <p:cNvSpPr/>
          <p:nvPr/>
        </p:nvSpPr>
        <p:spPr>
          <a:xfrm>
            <a:off x="14706600" y="-202510"/>
            <a:ext cx="4521184" cy="1528982"/>
          </a:xfrm>
          <a:custGeom>
            <a:avLst/>
            <a:gdLst/>
            <a:ahLst/>
            <a:cxnLst/>
            <a:rect l="l" t="t" r="r" b="b"/>
            <a:pathLst>
              <a:path w="4521184" h="1528982">
                <a:moveTo>
                  <a:pt x="0" y="0"/>
                </a:moveTo>
                <a:lnTo>
                  <a:pt x="4521184" y="0"/>
                </a:lnTo>
                <a:lnTo>
                  <a:pt x="4521184" y="1528982"/>
                </a:lnTo>
                <a:lnTo>
                  <a:pt x="0" y="152898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9" name="Freeform 9">
            <a:extLst>
              <a:ext uri="{FF2B5EF4-FFF2-40B4-BE49-F238E27FC236}">
                <a16:creationId xmlns:a16="http://schemas.microsoft.com/office/drawing/2014/main" id="{C991A18F-B56F-FB59-3950-7E0B1BAA0F2F}"/>
              </a:ext>
            </a:extLst>
          </p:cNvPr>
          <p:cNvSpPr/>
          <p:nvPr/>
        </p:nvSpPr>
        <p:spPr>
          <a:xfrm flipH="1" flipV="1">
            <a:off x="-1128348" y="8895555"/>
            <a:ext cx="4521184" cy="1528982"/>
          </a:xfrm>
          <a:custGeom>
            <a:avLst/>
            <a:gdLst/>
            <a:ahLst/>
            <a:cxnLst/>
            <a:rect l="l" t="t" r="r" b="b"/>
            <a:pathLst>
              <a:path w="4521184" h="1528982">
                <a:moveTo>
                  <a:pt x="4521184" y="1528982"/>
                </a:moveTo>
                <a:lnTo>
                  <a:pt x="0" y="1528982"/>
                </a:lnTo>
                <a:lnTo>
                  <a:pt x="0" y="0"/>
                </a:lnTo>
                <a:lnTo>
                  <a:pt x="4521184" y="0"/>
                </a:lnTo>
                <a:lnTo>
                  <a:pt x="4521184" y="1528982"/>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10" name="Freeform 10">
            <a:extLst>
              <a:ext uri="{FF2B5EF4-FFF2-40B4-BE49-F238E27FC236}">
                <a16:creationId xmlns:a16="http://schemas.microsoft.com/office/drawing/2014/main" id="{9FBE71D2-00D7-BEC8-086A-BE8BA87CBABE}"/>
              </a:ext>
            </a:extLst>
          </p:cNvPr>
          <p:cNvSpPr/>
          <p:nvPr/>
        </p:nvSpPr>
        <p:spPr>
          <a:xfrm>
            <a:off x="16459200" y="9182100"/>
            <a:ext cx="2636110" cy="1524151"/>
          </a:xfrm>
          <a:custGeom>
            <a:avLst/>
            <a:gdLst/>
            <a:ahLst/>
            <a:cxnLst/>
            <a:rect l="l" t="t" r="r" b="b"/>
            <a:pathLst>
              <a:path w="2636110" h="1524151">
                <a:moveTo>
                  <a:pt x="0" y="0"/>
                </a:moveTo>
                <a:lnTo>
                  <a:pt x="2636110" y="0"/>
                </a:lnTo>
                <a:lnTo>
                  <a:pt x="2636110" y="1524151"/>
                </a:lnTo>
                <a:lnTo>
                  <a:pt x="0" y="152415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dirty="0"/>
          </a:p>
        </p:txBody>
      </p:sp>
      <p:sp>
        <p:nvSpPr>
          <p:cNvPr id="11" name="Freeform 11">
            <a:extLst>
              <a:ext uri="{FF2B5EF4-FFF2-40B4-BE49-F238E27FC236}">
                <a16:creationId xmlns:a16="http://schemas.microsoft.com/office/drawing/2014/main" id="{9BA971D5-F3C9-1D2E-4B3F-98FCD32F3B2B}"/>
              </a:ext>
            </a:extLst>
          </p:cNvPr>
          <p:cNvSpPr/>
          <p:nvPr/>
        </p:nvSpPr>
        <p:spPr>
          <a:xfrm flipH="1" flipV="1">
            <a:off x="-762000" y="-428776"/>
            <a:ext cx="2636110" cy="1524151"/>
          </a:xfrm>
          <a:custGeom>
            <a:avLst/>
            <a:gdLst/>
            <a:ahLst/>
            <a:cxnLst/>
            <a:rect l="l" t="t" r="r" b="b"/>
            <a:pathLst>
              <a:path w="2636110" h="1524151">
                <a:moveTo>
                  <a:pt x="2636110" y="1524151"/>
                </a:moveTo>
                <a:lnTo>
                  <a:pt x="0" y="1524151"/>
                </a:lnTo>
                <a:lnTo>
                  <a:pt x="0" y="0"/>
                </a:lnTo>
                <a:lnTo>
                  <a:pt x="2636110" y="0"/>
                </a:lnTo>
                <a:lnTo>
                  <a:pt x="2636110" y="1524151"/>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dirty="0"/>
          </a:p>
        </p:txBody>
      </p:sp>
      <p:sp>
        <p:nvSpPr>
          <p:cNvPr id="6" name="TextBox 5">
            <a:extLst>
              <a:ext uri="{FF2B5EF4-FFF2-40B4-BE49-F238E27FC236}">
                <a16:creationId xmlns:a16="http://schemas.microsoft.com/office/drawing/2014/main" id="{96B1FA15-6610-6DB0-9AB3-EB57F018FF9E}"/>
              </a:ext>
            </a:extLst>
          </p:cNvPr>
          <p:cNvSpPr txBox="1"/>
          <p:nvPr/>
        </p:nvSpPr>
        <p:spPr>
          <a:xfrm>
            <a:off x="2667000" y="1431387"/>
            <a:ext cx="12954000" cy="7340471"/>
          </a:xfrm>
          <a:prstGeom prst="rect">
            <a:avLst/>
          </a:prstGeom>
          <a:noFill/>
        </p:spPr>
        <p:txBody>
          <a:bodyPr wrap="square" rtlCol="0">
            <a:spAutoFit/>
          </a:bodyPr>
          <a:lstStyle/>
          <a:p>
            <a:pPr marL="285750" indent="-285750">
              <a:spcAft>
                <a:spcPts val="1500"/>
              </a:spcAft>
              <a:buFont typeface="Arial" panose="020B0604020202020204" pitchFamily="34" charset="0"/>
              <a:buChar char="•"/>
            </a:pPr>
            <a:r>
              <a:rPr lang="en-US" sz="3200" dirty="0"/>
              <a:t>To enable efficient computation, convolution is converted into matrix multiplication using the img2col technique.</a:t>
            </a:r>
          </a:p>
          <a:p>
            <a:pPr marL="285750" indent="-285750">
              <a:spcAft>
                <a:spcPts val="1500"/>
              </a:spcAft>
              <a:buFont typeface="Arial" panose="020B0604020202020204" pitchFamily="34" charset="0"/>
              <a:buChar char="•"/>
            </a:pPr>
            <a:r>
              <a:rPr lang="en-US" sz="3200" dirty="0"/>
              <a:t>In this method, small image patches are rearranged into a matrix and multiplied with the filter weight matrix. </a:t>
            </a:r>
          </a:p>
          <a:p>
            <a:pPr marL="285750" indent="-285750">
              <a:spcAft>
                <a:spcPts val="1500"/>
              </a:spcAft>
              <a:buFont typeface="Arial" panose="020B0604020202020204" pitchFamily="34" charset="0"/>
              <a:buChar char="•"/>
            </a:pPr>
            <a:r>
              <a:rPr lang="en-US" sz="3200" dirty="0"/>
              <a:t>Example :</a:t>
            </a:r>
          </a:p>
          <a:p>
            <a:pPr marL="1200150" lvl="2" indent="-285750">
              <a:buSzPct val="50000"/>
              <a:buFont typeface="Arial" panose="020B0604020202020204" pitchFamily="34" charset="0"/>
              <a:buChar char="•"/>
            </a:pPr>
            <a:r>
              <a:rPr lang="en-US" sz="3200" dirty="0"/>
              <a:t>Image size = 128 × 128</a:t>
            </a:r>
          </a:p>
          <a:p>
            <a:pPr marL="1200150" lvl="2" indent="-285750">
              <a:buSzPct val="50000"/>
              <a:buFont typeface="Arial" panose="020B0604020202020204" pitchFamily="34" charset="0"/>
              <a:buChar char="•"/>
            </a:pPr>
            <a:r>
              <a:rPr lang="en-US" sz="3200" dirty="0"/>
              <a:t>Kernel size = 3 × 3</a:t>
            </a:r>
          </a:p>
          <a:p>
            <a:pPr marL="1200150" lvl="2" indent="-285750">
              <a:buSzPct val="50000"/>
              <a:buFont typeface="Arial" panose="020B0604020202020204" pitchFamily="34" charset="0"/>
              <a:buChar char="•"/>
            </a:pPr>
            <a:r>
              <a:rPr lang="en-US" sz="3200" dirty="0"/>
              <a:t>Input channels = 64</a:t>
            </a:r>
          </a:p>
          <a:p>
            <a:pPr marL="1200150" lvl="2" indent="-285750">
              <a:buSzPct val="50000"/>
              <a:buFont typeface="Arial" panose="020B0604020202020204" pitchFamily="34" charset="0"/>
              <a:buChar char="•"/>
            </a:pPr>
            <a:r>
              <a:rPr lang="en-US" sz="3200" dirty="0"/>
              <a:t>Number of filters = 128</a:t>
            </a:r>
          </a:p>
          <a:p>
            <a:pPr lvl="1">
              <a:spcAft>
                <a:spcPts val="600"/>
              </a:spcAft>
            </a:pPr>
            <a:r>
              <a:rPr lang="en-US" sz="3200" dirty="0"/>
              <a:t>After transformation using img2col:</a:t>
            </a:r>
          </a:p>
          <a:p>
            <a:pPr lvl="3">
              <a:spcAft>
                <a:spcPts val="1500"/>
              </a:spcAft>
            </a:pPr>
            <a:r>
              <a:rPr lang="en-US" sz="3200" dirty="0"/>
              <a:t>(16,384 × 576) × (576 × 128)</a:t>
            </a:r>
          </a:p>
          <a:p>
            <a:pPr lvl="1"/>
            <a:r>
              <a:rPr lang="en-US" sz="3200" dirty="0"/>
              <a:t>These large matrix multiplications are repeated across CNN layers,</a:t>
            </a:r>
          </a:p>
          <a:p>
            <a:pPr lvl="1"/>
            <a:r>
              <a:rPr lang="en-US" sz="3200" dirty="0"/>
              <a:t>resulting in high computational workload.</a:t>
            </a:r>
          </a:p>
        </p:txBody>
      </p:sp>
      <p:sp>
        <p:nvSpPr>
          <p:cNvPr id="14" name="TextBox 13">
            <a:extLst>
              <a:ext uri="{FF2B5EF4-FFF2-40B4-BE49-F238E27FC236}">
                <a16:creationId xmlns:a16="http://schemas.microsoft.com/office/drawing/2014/main" id="{3CD75D05-4FEB-7240-0637-9E531AE53886}"/>
              </a:ext>
            </a:extLst>
          </p:cNvPr>
          <p:cNvSpPr txBox="1"/>
          <p:nvPr/>
        </p:nvSpPr>
        <p:spPr>
          <a:xfrm>
            <a:off x="8669121" y="8951267"/>
            <a:ext cx="495649" cy="461665"/>
          </a:xfrm>
          <a:prstGeom prst="rect">
            <a:avLst/>
          </a:prstGeom>
          <a:noFill/>
        </p:spPr>
        <p:txBody>
          <a:bodyPr wrap="none" rtlCol="0">
            <a:spAutoFit/>
          </a:bodyPr>
          <a:lstStyle/>
          <a:p>
            <a:r>
              <a:rPr lang="en-IN" sz="2400" dirty="0">
                <a:solidFill>
                  <a:schemeClr val="tx1">
                    <a:lumMod val="65000"/>
                    <a:lumOff val="35000"/>
                  </a:schemeClr>
                </a:solidFill>
              </a:rPr>
              <a:t>15</a:t>
            </a:r>
          </a:p>
        </p:txBody>
      </p:sp>
    </p:spTree>
    <p:extLst>
      <p:ext uri="{BB962C8B-B14F-4D97-AF65-F5344CB8AC3E}">
        <p14:creationId xmlns:p14="http://schemas.microsoft.com/office/powerpoint/2010/main" val="18010484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F0C505-754E-5EA8-C899-FBD7F45B97E7}"/>
            </a:ext>
          </a:extLst>
        </p:cNvPr>
        <p:cNvGrpSpPr/>
        <p:nvPr/>
      </p:nvGrpSpPr>
      <p:grpSpPr>
        <a:xfrm>
          <a:off x="0" y="0"/>
          <a:ext cx="0" cy="0"/>
          <a:chOff x="0" y="0"/>
          <a:chExt cx="0" cy="0"/>
        </a:xfrm>
      </p:grpSpPr>
      <p:grpSp>
        <p:nvGrpSpPr>
          <p:cNvPr id="19" name="Group 5">
            <a:extLst>
              <a:ext uri="{FF2B5EF4-FFF2-40B4-BE49-F238E27FC236}">
                <a16:creationId xmlns:a16="http://schemas.microsoft.com/office/drawing/2014/main" id="{6C019ACB-48CA-D13A-ECE5-15507F168A42}"/>
              </a:ext>
            </a:extLst>
          </p:cNvPr>
          <p:cNvGrpSpPr/>
          <p:nvPr/>
        </p:nvGrpSpPr>
        <p:grpSpPr>
          <a:xfrm>
            <a:off x="18088875" y="-137537"/>
            <a:ext cx="1273129" cy="10562074"/>
            <a:chOff x="0" y="0"/>
            <a:chExt cx="335310" cy="2781781"/>
          </a:xfrm>
        </p:grpSpPr>
        <p:sp>
          <p:nvSpPr>
            <p:cNvPr id="20" name="Freeform 6">
              <a:extLst>
                <a:ext uri="{FF2B5EF4-FFF2-40B4-BE49-F238E27FC236}">
                  <a16:creationId xmlns:a16="http://schemas.microsoft.com/office/drawing/2014/main" id="{E36C86A7-DC29-E9AF-B3CB-E10FFDCDB21B}"/>
                </a:ext>
              </a:extLst>
            </p:cNvPr>
            <p:cNvSpPr/>
            <p:nvPr/>
          </p:nvSpPr>
          <p:spPr>
            <a:xfrm>
              <a:off x="0" y="0"/>
              <a:ext cx="335310" cy="2781781"/>
            </a:xfrm>
            <a:custGeom>
              <a:avLst/>
              <a:gdLst/>
              <a:ahLst/>
              <a:cxnLst/>
              <a:rect l="l" t="t" r="r" b="b"/>
              <a:pathLst>
                <a:path w="335310" h="2781781">
                  <a:moveTo>
                    <a:pt x="0" y="0"/>
                  </a:moveTo>
                  <a:lnTo>
                    <a:pt x="335310" y="0"/>
                  </a:lnTo>
                  <a:lnTo>
                    <a:pt x="335310" y="2781781"/>
                  </a:lnTo>
                  <a:lnTo>
                    <a:pt x="0" y="2781781"/>
                  </a:lnTo>
                  <a:close/>
                </a:path>
              </a:pathLst>
            </a:custGeom>
            <a:solidFill>
              <a:srgbClr val="F5DFDC"/>
            </a:solidFill>
            <a:ln cap="sq">
              <a:noFill/>
              <a:prstDash val="solid"/>
              <a:miter/>
            </a:ln>
          </p:spPr>
          <p:txBody>
            <a:bodyPr/>
            <a:lstStyle/>
            <a:p>
              <a:endParaRPr lang="en-IN"/>
            </a:p>
          </p:txBody>
        </p:sp>
        <p:sp>
          <p:nvSpPr>
            <p:cNvPr id="21" name="TextBox 7">
              <a:extLst>
                <a:ext uri="{FF2B5EF4-FFF2-40B4-BE49-F238E27FC236}">
                  <a16:creationId xmlns:a16="http://schemas.microsoft.com/office/drawing/2014/main" id="{1A9C5C8E-40DD-A956-429E-634CF36AB4DA}"/>
                </a:ext>
              </a:extLst>
            </p:cNvPr>
            <p:cNvSpPr txBox="1"/>
            <p:nvPr/>
          </p:nvSpPr>
          <p:spPr>
            <a:xfrm>
              <a:off x="0" y="38100"/>
              <a:ext cx="335310" cy="2743681"/>
            </a:xfrm>
            <a:prstGeom prst="rect">
              <a:avLst/>
            </a:prstGeom>
          </p:spPr>
          <p:txBody>
            <a:bodyPr lIns="50800" tIns="50800" rIns="50800" bIns="50800" rtlCol="0" anchor="ctr"/>
            <a:lstStyle/>
            <a:p>
              <a:pPr algn="ctr">
                <a:lnSpc>
                  <a:spcPts val="2100"/>
                </a:lnSpc>
              </a:pPr>
              <a:endParaRPr/>
            </a:p>
          </p:txBody>
        </p:sp>
      </p:grpSp>
      <p:grpSp>
        <p:nvGrpSpPr>
          <p:cNvPr id="16" name="Group 2">
            <a:extLst>
              <a:ext uri="{FF2B5EF4-FFF2-40B4-BE49-F238E27FC236}">
                <a16:creationId xmlns:a16="http://schemas.microsoft.com/office/drawing/2014/main" id="{CB1F10A8-3671-3308-EE7E-B42F25790DD1}"/>
              </a:ext>
            </a:extLst>
          </p:cNvPr>
          <p:cNvGrpSpPr/>
          <p:nvPr/>
        </p:nvGrpSpPr>
        <p:grpSpPr>
          <a:xfrm>
            <a:off x="-998214" y="24260"/>
            <a:ext cx="1273129" cy="10562074"/>
            <a:chOff x="0" y="0"/>
            <a:chExt cx="335310" cy="2781781"/>
          </a:xfrm>
        </p:grpSpPr>
        <p:sp>
          <p:nvSpPr>
            <p:cNvPr id="17" name="Freeform 3">
              <a:extLst>
                <a:ext uri="{FF2B5EF4-FFF2-40B4-BE49-F238E27FC236}">
                  <a16:creationId xmlns:a16="http://schemas.microsoft.com/office/drawing/2014/main" id="{A5A39317-F8F1-35C0-D51A-746C6CE552E8}"/>
                </a:ext>
              </a:extLst>
            </p:cNvPr>
            <p:cNvSpPr/>
            <p:nvPr/>
          </p:nvSpPr>
          <p:spPr>
            <a:xfrm>
              <a:off x="0" y="0"/>
              <a:ext cx="335310" cy="2781781"/>
            </a:xfrm>
            <a:custGeom>
              <a:avLst/>
              <a:gdLst/>
              <a:ahLst/>
              <a:cxnLst/>
              <a:rect l="l" t="t" r="r" b="b"/>
              <a:pathLst>
                <a:path w="335310" h="2781781">
                  <a:moveTo>
                    <a:pt x="0" y="0"/>
                  </a:moveTo>
                  <a:lnTo>
                    <a:pt x="335310" y="0"/>
                  </a:lnTo>
                  <a:lnTo>
                    <a:pt x="335310" y="2781781"/>
                  </a:lnTo>
                  <a:lnTo>
                    <a:pt x="0" y="2781781"/>
                  </a:lnTo>
                  <a:close/>
                </a:path>
              </a:pathLst>
            </a:custGeom>
            <a:solidFill>
              <a:srgbClr val="F5DFDC"/>
            </a:solidFill>
            <a:ln cap="sq">
              <a:noFill/>
              <a:prstDash val="solid"/>
              <a:miter/>
            </a:ln>
          </p:spPr>
          <p:txBody>
            <a:bodyPr/>
            <a:lstStyle/>
            <a:p>
              <a:endParaRPr lang="en-IN"/>
            </a:p>
          </p:txBody>
        </p:sp>
        <p:sp>
          <p:nvSpPr>
            <p:cNvPr id="18" name="TextBox 4">
              <a:extLst>
                <a:ext uri="{FF2B5EF4-FFF2-40B4-BE49-F238E27FC236}">
                  <a16:creationId xmlns:a16="http://schemas.microsoft.com/office/drawing/2014/main" id="{C3DE2F9F-F1CB-D455-23BB-11C9DD0A32EA}"/>
                </a:ext>
              </a:extLst>
            </p:cNvPr>
            <p:cNvSpPr txBox="1"/>
            <p:nvPr/>
          </p:nvSpPr>
          <p:spPr>
            <a:xfrm>
              <a:off x="0" y="38100"/>
              <a:ext cx="335310" cy="2743681"/>
            </a:xfrm>
            <a:prstGeom prst="rect">
              <a:avLst/>
            </a:prstGeom>
          </p:spPr>
          <p:txBody>
            <a:bodyPr lIns="50800" tIns="50800" rIns="50800" bIns="50800" rtlCol="0" anchor="ctr"/>
            <a:lstStyle/>
            <a:p>
              <a:pPr algn="ctr">
                <a:lnSpc>
                  <a:spcPts val="2100"/>
                </a:lnSpc>
              </a:pPr>
              <a:endParaRPr/>
            </a:p>
          </p:txBody>
        </p:sp>
      </p:grpSp>
      <p:sp>
        <p:nvSpPr>
          <p:cNvPr id="8" name="Freeform 8">
            <a:extLst>
              <a:ext uri="{FF2B5EF4-FFF2-40B4-BE49-F238E27FC236}">
                <a16:creationId xmlns:a16="http://schemas.microsoft.com/office/drawing/2014/main" id="{AEA67A90-7ABA-3747-07C5-48F7ABC09371}"/>
              </a:ext>
            </a:extLst>
          </p:cNvPr>
          <p:cNvSpPr/>
          <p:nvPr/>
        </p:nvSpPr>
        <p:spPr>
          <a:xfrm>
            <a:off x="14706600" y="-202510"/>
            <a:ext cx="4521184" cy="1528982"/>
          </a:xfrm>
          <a:custGeom>
            <a:avLst/>
            <a:gdLst/>
            <a:ahLst/>
            <a:cxnLst/>
            <a:rect l="l" t="t" r="r" b="b"/>
            <a:pathLst>
              <a:path w="4521184" h="1528982">
                <a:moveTo>
                  <a:pt x="0" y="0"/>
                </a:moveTo>
                <a:lnTo>
                  <a:pt x="4521184" y="0"/>
                </a:lnTo>
                <a:lnTo>
                  <a:pt x="4521184" y="1528982"/>
                </a:lnTo>
                <a:lnTo>
                  <a:pt x="0" y="152898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9" name="Freeform 9">
            <a:extLst>
              <a:ext uri="{FF2B5EF4-FFF2-40B4-BE49-F238E27FC236}">
                <a16:creationId xmlns:a16="http://schemas.microsoft.com/office/drawing/2014/main" id="{DD5DE416-FD54-9FDA-CBD8-4B419800DD62}"/>
              </a:ext>
            </a:extLst>
          </p:cNvPr>
          <p:cNvSpPr/>
          <p:nvPr/>
        </p:nvSpPr>
        <p:spPr>
          <a:xfrm flipH="1" flipV="1">
            <a:off x="-1128348" y="8895555"/>
            <a:ext cx="4521184" cy="1528982"/>
          </a:xfrm>
          <a:custGeom>
            <a:avLst/>
            <a:gdLst/>
            <a:ahLst/>
            <a:cxnLst/>
            <a:rect l="l" t="t" r="r" b="b"/>
            <a:pathLst>
              <a:path w="4521184" h="1528982">
                <a:moveTo>
                  <a:pt x="4521184" y="1528982"/>
                </a:moveTo>
                <a:lnTo>
                  <a:pt x="0" y="1528982"/>
                </a:lnTo>
                <a:lnTo>
                  <a:pt x="0" y="0"/>
                </a:lnTo>
                <a:lnTo>
                  <a:pt x="4521184" y="0"/>
                </a:lnTo>
                <a:lnTo>
                  <a:pt x="4521184" y="1528982"/>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10" name="Freeform 10">
            <a:extLst>
              <a:ext uri="{FF2B5EF4-FFF2-40B4-BE49-F238E27FC236}">
                <a16:creationId xmlns:a16="http://schemas.microsoft.com/office/drawing/2014/main" id="{93659DD5-1D6E-431A-7639-F03BCFB4BA95}"/>
              </a:ext>
            </a:extLst>
          </p:cNvPr>
          <p:cNvSpPr/>
          <p:nvPr/>
        </p:nvSpPr>
        <p:spPr>
          <a:xfrm>
            <a:off x="16459200" y="9182100"/>
            <a:ext cx="2636110" cy="1524151"/>
          </a:xfrm>
          <a:custGeom>
            <a:avLst/>
            <a:gdLst/>
            <a:ahLst/>
            <a:cxnLst/>
            <a:rect l="l" t="t" r="r" b="b"/>
            <a:pathLst>
              <a:path w="2636110" h="1524151">
                <a:moveTo>
                  <a:pt x="0" y="0"/>
                </a:moveTo>
                <a:lnTo>
                  <a:pt x="2636110" y="0"/>
                </a:lnTo>
                <a:lnTo>
                  <a:pt x="2636110" y="1524151"/>
                </a:lnTo>
                <a:lnTo>
                  <a:pt x="0" y="152415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dirty="0"/>
          </a:p>
        </p:txBody>
      </p:sp>
      <p:sp>
        <p:nvSpPr>
          <p:cNvPr id="11" name="Freeform 11">
            <a:extLst>
              <a:ext uri="{FF2B5EF4-FFF2-40B4-BE49-F238E27FC236}">
                <a16:creationId xmlns:a16="http://schemas.microsoft.com/office/drawing/2014/main" id="{E4E13E94-64E7-070C-44C3-FE0E3574FB01}"/>
              </a:ext>
            </a:extLst>
          </p:cNvPr>
          <p:cNvSpPr/>
          <p:nvPr/>
        </p:nvSpPr>
        <p:spPr>
          <a:xfrm flipH="1" flipV="1">
            <a:off x="-762000" y="-428776"/>
            <a:ext cx="2636110" cy="1524151"/>
          </a:xfrm>
          <a:custGeom>
            <a:avLst/>
            <a:gdLst/>
            <a:ahLst/>
            <a:cxnLst/>
            <a:rect l="l" t="t" r="r" b="b"/>
            <a:pathLst>
              <a:path w="2636110" h="1524151">
                <a:moveTo>
                  <a:pt x="2636110" y="1524151"/>
                </a:moveTo>
                <a:lnTo>
                  <a:pt x="0" y="1524151"/>
                </a:lnTo>
                <a:lnTo>
                  <a:pt x="0" y="0"/>
                </a:lnTo>
                <a:lnTo>
                  <a:pt x="2636110" y="0"/>
                </a:lnTo>
                <a:lnTo>
                  <a:pt x="2636110" y="1524151"/>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dirty="0"/>
          </a:p>
        </p:txBody>
      </p:sp>
      <p:sp>
        <p:nvSpPr>
          <p:cNvPr id="24" name="TextBox 23">
            <a:extLst>
              <a:ext uri="{FF2B5EF4-FFF2-40B4-BE49-F238E27FC236}">
                <a16:creationId xmlns:a16="http://schemas.microsoft.com/office/drawing/2014/main" id="{7717791E-562E-B83F-1AFC-1F711E173085}"/>
              </a:ext>
            </a:extLst>
          </p:cNvPr>
          <p:cNvSpPr txBox="1"/>
          <p:nvPr/>
        </p:nvSpPr>
        <p:spPr>
          <a:xfrm>
            <a:off x="2598010" y="2339914"/>
            <a:ext cx="15179245" cy="6555641"/>
          </a:xfrm>
          <a:prstGeom prst="rect">
            <a:avLst/>
          </a:prstGeom>
          <a:noFill/>
        </p:spPr>
        <p:txBody>
          <a:bodyPr wrap="square" rtlCol="0">
            <a:spAutoFit/>
          </a:bodyPr>
          <a:lstStyle/>
          <a:p>
            <a:pPr marL="457200" lvl="3" algn="just"/>
            <a:r>
              <a:rPr lang="en-US" sz="3000" dirty="0">
                <a:effectLst>
                  <a:outerShdw blurRad="38100" dist="38100" dir="2700000" algn="tl">
                    <a:srgbClr val="000000">
                      <a:alpha val="43137"/>
                    </a:srgbClr>
                  </a:outerShdw>
                </a:effectLst>
              </a:rPr>
              <a:t>Dataset</a:t>
            </a:r>
          </a:p>
          <a:p>
            <a:pPr marL="1371600" lvl="4" indent="-457200" algn="just">
              <a:spcAft>
                <a:spcPts val="1000"/>
              </a:spcAft>
              <a:buSzPct val="75000"/>
              <a:buFont typeface="Arial" panose="020B0604020202020204" pitchFamily="34" charset="0"/>
              <a:buChar char="•"/>
            </a:pPr>
            <a:r>
              <a:rPr lang="en-US" sz="3000" dirty="0"/>
              <a:t>Brain Tumor MRI Dataset (Kaggle)</a:t>
            </a:r>
          </a:p>
          <a:p>
            <a:pPr marL="457200" lvl="3" algn="just"/>
            <a:r>
              <a:rPr lang="en-US" sz="3000" dirty="0">
                <a:effectLst>
                  <a:outerShdw blurRad="38100" dist="38100" dir="2700000" algn="tl">
                    <a:srgbClr val="000000">
                      <a:alpha val="43137"/>
                    </a:srgbClr>
                  </a:outerShdw>
                </a:effectLst>
              </a:rPr>
              <a:t>Programming Languages</a:t>
            </a:r>
          </a:p>
          <a:p>
            <a:pPr marL="1371600" lvl="4" indent="-457200" algn="just">
              <a:buSzPct val="75000"/>
              <a:buFont typeface="Arial" panose="020B0604020202020204" pitchFamily="34" charset="0"/>
              <a:buChar char="•"/>
            </a:pPr>
            <a:r>
              <a:rPr lang="en-US" sz="3000" dirty="0"/>
              <a:t>Python - CNN Model Development</a:t>
            </a:r>
          </a:p>
          <a:p>
            <a:pPr marL="1371600" lvl="4" indent="-457200" algn="just">
              <a:spcAft>
                <a:spcPts val="1000"/>
              </a:spcAft>
              <a:buSzPct val="75000"/>
              <a:buFont typeface="Arial" panose="020B0604020202020204" pitchFamily="34" charset="0"/>
              <a:buChar char="•"/>
            </a:pPr>
            <a:r>
              <a:rPr lang="en-US" sz="3000" dirty="0"/>
              <a:t>C - HPC Convolution Implementation</a:t>
            </a:r>
          </a:p>
          <a:p>
            <a:pPr marL="457200" lvl="3" algn="just"/>
            <a:r>
              <a:rPr lang="en-US" sz="3000" dirty="0">
                <a:effectLst>
                  <a:outerShdw blurRad="38100" dist="38100" dir="2700000" algn="tl">
                    <a:srgbClr val="000000">
                      <a:alpha val="43137"/>
                    </a:srgbClr>
                  </a:outerShdw>
                </a:effectLst>
              </a:rPr>
              <a:t>Libraries &amp; Frameworks</a:t>
            </a:r>
          </a:p>
          <a:p>
            <a:pPr marL="1371600" lvl="4" indent="-457200" algn="just">
              <a:buSzPct val="75000"/>
              <a:buFont typeface="Arial" panose="020B0604020202020204" pitchFamily="34" charset="0"/>
              <a:buChar char="•"/>
            </a:pPr>
            <a:r>
              <a:rPr lang="en-US" sz="3000" dirty="0"/>
              <a:t>TensorFlow / </a:t>
            </a:r>
            <a:r>
              <a:rPr lang="en-US" sz="3000" dirty="0" err="1"/>
              <a:t>Keras</a:t>
            </a:r>
            <a:r>
              <a:rPr lang="en-US" sz="3000" dirty="0"/>
              <a:t> – CNN model building and training</a:t>
            </a:r>
          </a:p>
          <a:p>
            <a:pPr marL="1371600" lvl="4" indent="-457200" algn="just">
              <a:buSzPct val="75000"/>
              <a:buFont typeface="Arial" panose="020B0604020202020204" pitchFamily="34" charset="0"/>
              <a:buChar char="•"/>
            </a:pPr>
            <a:r>
              <a:rPr lang="en-US" sz="3000" dirty="0"/>
              <a:t>OpenCV – Image preprocessing</a:t>
            </a:r>
          </a:p>
          <a:p>
            <a:pPr marL="1371600" lvl="4" indent="-457200" algn="just">
              <a:spcAft>
                <a:spcPts val="1000"/>
              </a:spcAft>
              <a:buSzPct val="75000"/>
              <a:buFont typeface="Arial" panose="020B0604020202020204" pitchFamily="34" charset="0"/>
              <a:buChar char="•"/>
            </a:pPr>
            <a:r>
              <a:rPr lang="en-US" sz="3000" dirty="0"/>
              <a:t>NumPy – Numerical computations</a:t>
            </a:r>
          </a:p>
          <a:p>
            <a:pPr marL="457200" lvl="3" algn="just"/>
            <a:r>
              <a:rPr lang="en-US" sz="3000" dirty="0">
                <a:effectLst>
                  <a:outerShdw blurRad="38100" dist="38100" dir="2700000" algn="tl">
                    <a:srgbClr val="000000">
                      <a:alpha val="43137"/>
                    </a:srgbClr>
                  </a:outerShdw>
                </a:effectLst>
              </a:rPr>
              <a:t>Parallel Computing</a:t>
            </a:r>
          </a:p>
          <a:p>
            <a:pPr marL="1371600" lvl="4" indent="-457200" algn="just">
              <a:spcAft>
                <a:spcPts val="1000"/>
              </a:spcAft>
              <a:buSzPct val="75000"/>
              <a:buFont typeface="Arial" panose="020B0604020202020204" pitchFamily="34" charset="0"/>
              <a:buChar char="•"/>
            </a:pPr>
            <a:r>
              <a:rPr lang="en-US" sz="3000" dirty="0"/>
              <a:t>OpenMP – Multithreading and parallelization</a:t>
            </a:r>
          </a:p>
          <a:p>
            <a:pPr marL="457200" lvl="3" algn="just"/>
            <a:r>
              <a:rPr lang="en-US" sz="3000" dirty="0">
                <a:effectLst>
                  <a:outerShdw blurRad="38100" dist="38100" dir="2700000" algn="tl">
                    <a:srgbClr val="000000">
                      <a:alpha val="43137"/>
                    </a:srgbClr>
                  </a:outerShdw>
                </a:effectLst>
              </a:rPr>
              <a:t>Visualization</a:t>
            </a:r>
          </a:p>
          <a:p>
            <a:pPr marL="1371600" lvl="4" indent="-457200" algn="just">
              <a:buSzPct val="75000"/>
              <a:buFont typeface="Arial" panose="020B0604020202020204" pitchFamily="34" charset="0"/>
              <a:buChar char="•"/>
            </a:pPr>
            <a:r>
              <a:rPr lang="en-US" sz="3000" dirty="0"/>
              <a:t>Matplotlib – Graph plotting</a:t>
            </a:r>
          </a:p>
        </p:txBody>
      </p:sp>
      <p:sp>
        <p:nvSpPr>
          <p:cNvPr id="25" name="TextBox 24">
            <a:extLst>
              <a:ext uri="{FF2B5EF4-FFF2-40B4-BE49-F238E27FC236}">
                <a16:creationId xmlns:a16="http://schemas.microsoft.com/office/drawing/2014/main" id="{372C951C-269D-C6BC-5EA1-ED238DF495C8}"/>
              </a:ext>
            </a:extLst>
          </p:cNvPr>
          <p:cNvSpPr txBox="1"/>
          <p:nvPr/>
        </p:nvSpPr>
        <p:spPr>
          <a:xfrm>
            <a:off x="2400118" y="1294087"/>
            <a:ext cx="8436547" cy="907941"/>
          </a:xfrm>
          <a:prstGeom prst="rect">
            <a:avLst/>
          </a:prstGeom>
          <a:noFill/>
        </p:spPr>
        <p:txBody>
          <a:bodyPr wrap="square" rtlCol="0">
            <a:spAutoFit/>
          </a:bodyPr>
          <a:lstStyle/>
          <a:p>
            <a:r>
              <a:rPr lang="en-IN" sz="5300" dirty="0">
                <a:effectLst>
                  <a:outerShdw blurRad="38100" dist="38100" dir="2700000" algn="tl">
                    <a:srgbClr val="000000">
                      <a:alpha val="43137"/>
                    </a:srgbClr>
                  </a:outerShdw>
                </a:effectLst>
                <a:latin typeface="+mj-lt"/>
              </a:rPr>
              <a:t>Tools And Technologies</a:t>
            </a:r>
          </a:p>
        </p:txBody>
      </p:sp>
      <p:sp>
        <p:nvSpPr>
          <p:cNvPr id="13" name="TextBox 12">
            <a:extLst>
              <a:ext uri="{FF2B5EF4-FFF2-40B4-BE49-F238E27FC236}">
                <a16:creationId xmlns:a16="http://schemas.microsoft.com/office/drawing/2014/main" id="{829DB6A3-32F2-DB3E-4D9B-F6EAC2CA67B7}"/>
              </a:ext>
            </a:extLst>
          </p:cNvPr>
          <p:cNvSpPr txBox="1"/>
          <p:nvPr/>
        </p:nvSpPr>
        <p:spPr>
          <a:xfrm>
            <a:off x="8669121" y="8951267"/>
            <a:ext cx="495649" cy="461665"/>
          </a:xfrm>
          <a:prstGeom prst="rect">
            <a:avLst/>
          </a:prstGeom>
          <a:noFill/>
        </p:spPr>
        <p:txBody>
          <a:bodyPr wrap="none" rtlCol="0">
            <a:spAutoFit/>
          </a:bodyPr>
          <a:lstStyle/>
          <a:p>
            <a:r>
              <a:rPr lang="en-IN" sz="2400" dirty="0">
                <a:solidFill>
                  <a:schemeClr val="tx1">
                    <a:lumMod val="65000"/>
                    <a:lumOff val="35000"/>
                  </a:schemeClr>
                </a:solidFill>
              </a:rPr>
              <a:t>16</a:t>
            </a:r>
          </a:p>
        </p:txBody>
      </p:sp>
    </p:spTree>
    <p:extLst>
      <p:ext uri="{BB962C8B-B14F-4D97-AF65-F5344CB8AC3E}">
        <p14:creationId xmlns:p14="http://schemas.microsoft.com/office/powerpoint/2010/main" val="14533202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00BFEE-8E18-01DA-824B-A3E7626E3C62}"/>
            </a:ext>
          </a:extLst>
        </p:cNvPr>
        <p:cNvGrpSpPr/>
        <p:nvPr/>
      </p:nvGrpSpPr>
      <p:grpSpPr>
        <a:xfrm>
          <a:off x="0" y="0"/>
          <a:ext cx="0" cy="0"/>
          <a:chOff x="0" y="0"/>
          <a:chExt cx="0" cy="0"/>
        </a:xfrm>
      </p:grpSpPr>
      <p:grpSp>
        <p:nvGrpSpPr>
          <p:cNvPr id="19" name="Group 5">
            <a:extLst>
              <a:ext uri="{FF2B5EF4-FFF2-40B4-BE49-F238E27FC236}">
                <a16:creationId xmlns:a16="http://schemas.microsoft.com/office/drawing/2014/main" id="{68B3AB39-6F4E-BB1A-48A4-7577C5925DDF}"/>
              </a:ext>
            </a:extLst>
          </p:cNvPr>
          <p:cNvGrpSpPr/>
          <p:nvPr/>
        </p:nvGrpSpPr>
        <p:grpSpPr>
          <a:xfrm>
            <a:off x="18088875" y="-137537"/>
            <a:ext cx="1273129" cy="10562074"/>
            <a:chOff x="0" y="0"/>
            <a:chExt cx="335310" cy="2781781"/>
          </a:xfrm>
        </p:grpSpPr>
        <p:sp>
          <p:nvSpPr>
            <p:cNvPr id="20" name="Freeform 6">
              <a:extLst>
                <a:ext uri="{FF2B5EF4-FFF2-40B4-BE49-F238E27FC236}">
                  <a16:creationId xmlns:a16="http://schemas.microsoft.com/office/drawing/2014/main" id="{1EE5F920-83CE-A554-9A46-D38107C424D1}"/>
                </a:ext>
              </a:extLst>
            </p:cNvPr>
            <p:cNvSpPr/>
            <p:nvPr/>
          </p:nvSpPr>
          <p:spPr>
            <a:xfrm>
              <a:off x="0" y="0"/>
              <a:ext cx="335310" cy="2781781"/>
            </a:xfrm>
            <a:custGeom>
              <a:avLst/>
              <a:gdLst/>
              <a:ahLst/>
              <a:cxnLst/>
              <a:rect l="l" t="t" r="r" b="b"/>
              <a:pathLst>
                <a:path w="335310" h="2781781">
                  <a:moveTo>
                    <a:pt x="0" y="0"/>
                  </a:moveTo>
                  <a:lnTo>
                    <a:pt x="335310" y="0"/>
                  </a:lnTo>
                  <a:lnTo>
                    <a:pt x="335310" y="2781781"/>
                  </a:lnTo>
                  <a:lnTo>
                    <a:pt x="0" y="2781781"/>
                  </a:lnTo>
                  <a:close/>
                </a:path>
              </a:pathLst>
            </a:custGeom>
            <a:solidFill>
              <a:srgbClr val="F5DFDC"/>
            </a:solidFill>
            <a:ln cap="sq">
              <a:noFill/>
              <a:prstDash val="solid"/>
              <a:miter/>
            </a:ln>
          </p:spPr>
          <p:txBody>
            <a:bodyPr/>
            <a:lstStyle/>
            <a:p>
              <a:endParaRPr lang="en-IN"/>
            </a:p>
          </p:txBody>
        </p:sp>
        <p:sp>
          <p:nvSpPr>
            <p:cNvPr id="21" name="TextBox 7">
              <a:extLst>
                <a:ext uri="{FF2B5EF4-FFF2-40B4-BE49-F238E27FC236}">
                  <a16:creationId xmlns:a16="http://schemas.microsoft.com/office/drawing/2014/main" id="{A3C45014-E85D-3528-E8F5-E6F177777F31}"/>
                </a:ext>
              </a:extLst>
            </p:cNvPr>
            <p:cNvSpPr txBox="1"/>
            <p:nvPr/>
          </p:nvSpPr>
          <p:spPr>
            <a:xfrm>
              <a:off x="0" y="38100"/>
              <a:ext cx="335310" cy="2743681"/>
            </a:xfrm>
            <a:prstGeom prst="rect">
              <a:avLst/>
            </a:prstGeom>
          </p:spPr>
          <p:txBody>
            <a:bodyPr lIns="50800" tIns="50800" rIns="50800" bIns="50800" rtlCol="0" anchor="ctr"/>
            <a:lstStyle/>
            <a:p>
              <a:pPr algn="ctr">
                <a:lnSpc>
                  <a:spcPts val="2100"/>
                </a:lnSpc>
              </a:pPr>
              <a:endParaRPr/>
            </a:p>
          </p:txBody>
        </p:sp>
      </p:grpSp>
      <p:grpSp>
        <p:nvGrpSpPr>
          <p:cNvPr id="16" name="Group 2">
            <a:extLst>
              <a:ext uri="{FF2B5EF4-FFF2-40B4-BE49-F238E27FC236}">
                <a16:creationId xmlns:a16="http://schemas.microsoft.com/office/drawing/2014/main" id="{2A52778B-BAA3-422D-5BEE-A5A5CA1B47AF}"/>
              </a:ext>
            </a:extLst>
          </p:cNvPr>
          <p:cNvGrpSpPr/>
          <p:nvPr/>
        </p:nvGrpSpPr>
        <p:grpSpPr>
          <a:xfrm>
            <a:off x="-998214" y="24260"/>
            <a:ext cx="1273129" cy="10562074"/>
            <a:chOff x="0" y="0"/>
            <a:chExt cx="335310" cy="2781781"/>
          </a:xfrm>
        </p:grpSpPr>
        <p:sp>
          <p:nvSpPr>
            <p:cNvPr id="17" name="Freeform 3">
              <a:extLst>
                <a:ext uri="{FF2B5EF4-FFF2-40B4-BE49-F238E27FC236}">
                  <a16:creationId xmlns:a16="http://schemas.microsoft.com/office/drawing/2014/main" id="{0679F1CE-DF4A-EDBA-DDE7-7F3FCFBD8E34}"/>
                </a:ext>
              </a:extLst>
            </p:cNvPr>
            <p:cNvSpPr/>
            <p:nvPr/>
          </p:nvSpPr>
          <p:spPr>
            <a:xfrm>
              <a:off x="0" y="0"/>
              <a:ext cx="335310" cy="2781781"/>
            </a:xfrm>
            <a:custGeom>
              <a:avLst/>
              <a:gdLst/>
              <a:ahLst/>
              <a:cxnLst/>
              <a:rect l="l" t="t" r="r" b="b"/>
              <a:pathLst>
                <a:path w="335310" h="2781781">
                  <a:moveTo>
                    <a:pt x="0" y="0"/>
                  </a:moveTo>
                  <a:lnTo>
                    <a:pt x="335310" y="0"/>
                  </a:lnTo>
                  <a:lnTo>
                    <a:pt x="335310" y="2781781"/>
                  </a:lnTo>
                  <a:lnTo>
                    <a:pt x="0" y="2781781"/>
                  </a:lnTo>
                  <a:close/>
                </a:path>
              </a:pathLst>
            </a:custGeom>
            <a:solidFill>
              <a:srgbClr val="F5DFDC"/>
            </a:solidFill>
            <a:ln cap="sq">
              <a:noFill/>
              <a:prstDash val="solid"/>
              <a:miter/>
            </a:ln>
          </p:spPr>
          <p:txBody>
            <a:bodyPr/>
            <a:lstStyle/>
            <a:p>
              <a:endParaRPr lang="en-IN"/>
            </a:p>
          </p:txBody>
        </p:sp>
        <p:sp>
          <p:nvSpPr>
            <p:cNvPr id="18" name="TextBox 4">
              <a:extLst>
                <a:ext uri="{FF2B5EF4-FFF2-40B4-BE49-F238E27FC236}">
                  <a16:creationId xmlns:a16="http://schemas.microsoft.com/office/drawing/2014/main" id="{61D70BC8-8FA8-7ADC-3B49-AF024B361323}"/>
                </a:ext>
              </a:extLst>
            </p:cNvPr>
            <p:cNvSpPr txBox="1"/>
            <p:nvPr/>
          </p:nvSpPr>
          <p:spPr>
            <a:xfrm>
              <a:off x="0" y="38100"/>
              <a:ext cx="335310" cy="2743681"/>
            </a:xfrm>
            <a:prstGeom prst="rect">
              <a:avLst/>
            </a:prstGeom>
          </p:spPr>
          <p:txBody>
            <a:bodyPr lIns="50800" tIns="50800" rIns="50800" bIns="50800" rtlCol="0" anchor="ctr"/>
            <a:lstStyle/>
            <a:p>
              <a:pPr algn="ctr">
                <a:lnSpc>
                  <a:spcPts val="2100"/>
                </a:lnSpc>
              </a:pPr>
              <a:endParaRPr/>
            </a:p>
          </p:txBody>
        </p:sp>
      </p:grpSp>
      <p:sp>
        <p:nvSpPr>
          <p:cNvPr id="8" name="Freeform 8">
            <a:extLst>
              <a:ext uri="{FF2B5EF4-FFF2-40B4-BE49-F238E27FC236}">
                <a16:creationId xmlns:a16="http://schemas.microsoft.com/office/drawing/2014/main" id="{63D192A5-0E72-CA8C-8A1D-FE50ABFCFB2C}"/>
              </a:ext>
            </a:extLst>
          </p:cNvPr>
          <p:cNvSpPr/>
          <p:nvPr/>
        </p:nvSpPr>
        <p:spPr>
          <a:xfrm>
            <a:off x="14706600" y="-202510"/>
            <a:ext cx="4521184" cy="1528982"/>
          </a:xfrm>
          <a:custGeom>
            <a:avLst/>
            <a:gdLst/>
            <a:ahLst/>
            <a:cxnLst/>
            <a:rect l="l" t="t" r="r" b="b"/>
            <a:pathLst>
              <a:path w="4521184" h="1528982">
                <a:moveTo>
                  <a:pt x="0" y="0"/>
                </a:moveTo>
                <a:lnTo>
                  <a:pt x="4521184" y="0"/>
                </a:lnTo>
                <a:lnTo>
                  <a:pt x="4521184" y="1528982"/>
                </a:lnTo>
                <a:lnTo>
                  <a:pt x="0" y="152898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9" name="Freeform 9">
            <a:extLst>
              <a:ext uri="{FF2B5EF4-FFF2-40B4-BE49-F238E27FC236}">
                <a16:creationId xmlns:a16="http://schemas.microsoft.com/office/drawing/2014/main" id="{64816196-8810-1430-55C1-6AA57463F56A}"/>
              </a:ext>
            </a:extLst>
          </p:cNvPr>
          <p:cNvSpPr/>
          <p:nvPr/>
        </p:nvSpPr>
        <p:spPr>
          <a:xfrm flipH="1" flipV="1">
            <a:off x="-1128348" y="8895555"/>
            <a:ext cx="4521184" cy="1528982"/>
          </a:xfrm>
          <a:custGeom>
            <a:avLst/>
            <a:gdLst/>
            <a:ahLst/>
            <a:cxnLst/>
            <a:rect l="l" t="t" r="r" b="b"/>
            <a:pathLst>
              <a:path w="4521184" h="1528982">
                <a:moveTo>
                  <a:pt x="4521184" y="1528982"/>
                </a:moveTo>
                <a:lnTo>
                  <a:pt x="0" y="1528982"/>
                </a:lnTo>
                <a:lnTo>
                  <a:pt x="0" y="0"/>
                </a:lnTo>
                <a:lnTo>
                  <a:pt x="4521184" y="0"/>
                </a:lnTo>
                <a:lnTo>
                  <a:pt x="4521184" y="1528982"/>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10" name="Freeform 10">
            <a:extLst>
              <a:ext uri="{FF2B5EF4-FFF2-40B4-BE49-F238E27FC236}">
                <a16:creationId xmlns:a16="http://schemas.microsoft.com/office/drawing/2014/main" id="{3AD096B0-5A29-CF58-9672-FECECCEEFBA1}"/>
              </a:ext>
            </a:extLst>
          </p:cNvPr>
          <p:cNvSpPr/>
          <p:nvPr/>
        </p:nvSpPr>
        <p:spPr>
          <a:xfrm>
            <a:off x="16459200" y="9182100"/>
            <a:ext cx="2636110" cy="1524151"/>
          </a:xfrm>
          <a:custGeom>
            <a:avLst/>
            <a:gdLst/>
            <a:ahLst/>
            <a:cxnLst/>
            <a:rect l="l" t="t" r="r" b="b"/>
            <a:pathLst>
              <a:path w="2636110" h="1524151">
                <a:moveTo>
                  <a:pt x="0" y="0"/>
                </a:moveTo>
                <a:lnTo>
                  <a:pt x="2636110" y="0"/>
                </a:lnTo>
                <a:lnTo>
                  <a:pt x="2636110" y="1524151"/>
                </a:lnTo>
                <a:lnTo>
                  <a:pt x="0" y="152415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dirty="0"/>
          </a:p>
        </p:txBody>
      </p:sp>
      <p:sp>
        <p:nvSpPr>
          <p:cNvPr id="11" name="Freeform 11">
            <a:extLst>
              <a:ext uri="{FF2B5EF4-FFF2-40B4-BE49-F238E27FC236}">
                <a16:creationId xmlns:a16="http://schemas.microsoft.com/office/drawing/2014/main" id="{AA391B3C-898E-0263-C8DD-12C4675D619B}"/>
              </a:ext>
            </a:extLst>
          </p:cNvPr>
          <p:cNvSpPr/>
          <p:nvPr/>
        </p:nvSpPr>
        <p:spPr>
          <a:xfrm flipH="1" flipV="1">
            <a:off x="-762000" y="-428776"/>
            <a:ext cx="2636110" cy="1524151"/>
          </a:xfrm>
          <a:custGeom>
            <a:avLst/>
            <a:gdLst/>
            <a:ahLst/>
            <a:cxnLst/>
            <a:rect l="l" t="t" r="r" b="b"/>
            <a:pathLst>
              <a:path w="2636110" h="1524151">
                <a:moveTo>
                  <a:pt x="2636110" y="1524151"/>
                </a:moveTo>
                <a:lnTo>
                  <a:pt x="0" y="1524151"/>
                </a:lnTo>
                <a:lnTo>
                  <a:pt x="0" y="0"/>
                </a:lnTo>
                <a:lnTo>
                  <a:pt x="2636110" y="0"/>
                </a:lnTo>
                <a:lnTo>
                  <a:pt x="2636110" y="1524151"/>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dirty="0"/>
          </a:p>
        </p:txBody>
      </p:sp>
      <p:sp>
        <p:nvSpPr>
          <p:cNvPr id="24" name="TextBox 23">
            <a:extLst>
              <a:ext uri="{FF2B5EF4-FFF2-40B4-BE49-F238E27FC236}">
                <a16:creationId xmlns:a16="http://schemas.microsoft.com/office/drawing/2014/main" id="{70FA181E-6E2A-DFA1-F773-2F9AF832EFA4}"/>
              </a:ext>
            </a:extLst>
          </p:cNvPr>
          <p:cNvSpPr txBox="1"/>
          <p:nvPr/>
        </p:nvSpPr>
        <p:spPr>
          <a:xfrm>
            <a:off x="2057400" y="2486576"/>
            <a:ext cx="13960045" cy="5637441"/>
          </a:xfrm>
          <a:prstGeom prst="rect">
            <a:avLst/>
          </a:prstGeom>
          <a:noFill/>
        </p:spPr>
        <p:txBody>
          <a:bodyPr wrap="square" rtlCol="0">
            <a:spAutoFit/>
          </a:bodyPr>
          <a:lstStyle/>
          <a:p>
            <a:pPr marL="0" lvl="2" algn="just">
              <a:spcAft>
                <a:spcPts val="1200"/>
              </a:spcAft>
            </a:pPr>
            <a:r>
              <a:rPr lang="en-US" sz="3200" dirty="0">
                <a:effectLst>
                  <a:outerShdw blurRad="38100" dist="38100" dir="2700000" algn="tl">
                    <a:srgbClr val="000000">
                      <a:alpha val="43137"/>
                    </a:srgbClr>
                  </a:outerShdw>
                </a:effectLst>
              </a:rPr>
              <a:t>CNN-Based Tumor Detection :</a:t>
            </a:r>
            <a:endParaRPr lang="en-US" sz="3200" dirty="0"/>
          </a:p>
          <a:p>
            <a:pPr marL="457200" lvl="2" indent="-457200" algn="just">
              <a:buFont typeface="Arial" panose="020B0604020202020204" pitchFamily="34" charset="0"/>
              <a:buChar char="•"/>
            </a:pPr>
            <a:r>
              <a:rPr lang="en-US" sz="3200" dirty="0"/>
              <a:t>Dataset Preparation – Brain Tumor MRI dataset (7,200 images) with four classes: glioma, meningioma, pituitary, and no tumor; split into training (5,600) and testing (1,600).</a:t>
            </a:r>
          </a:p>
          <a:p>
            <a:pPr marL="457200" lvl="2" indent="-457200" algn="just">
              <a:buFont typeface="Arial" panose="020B0604020202020204" pitchFamily="34" charset="0"/>
              <a:buChar char="•"/>
            </a:pPr>
            <a:r>
              <a:rPr lang="en-US" sz="3200" dirty="0"/>
              <a:t>Image Preprocessing – Images resized to 128 × 128 and normalized.</a:t>
            </a:r>
          </a:p>
          <a:p>
            <a:pPr marL="457200" lvl="2" indent="-457200" algn="just">
              <a:buFont typeface="Arial" panose="020B0604020202020204" pitchFamily="34" charset="0"/>
              <a:buChar char="•"/>
            </a:pPr>
            <a:r>
              <a:rPr lang="en-US" sz="3200" dirty="0"/>
              <a:t>CNN Model – Convolution layers for feature extraction, </a:t>
            </a:r>
            <a:r>
              <a:rPr lang="en-US" sz="3200" dirty="0" err="1"/>
              <a:t>MaxPooling</a:t>
            </a:r>
            <a:r>
              <a:rPr lang="en-US" sz="3200" dirty="0"/>
              <a:t> for dimensionality reduction, Dropout to prevent overfitting, and Dense layers for classification.</a:t>
            </a:r>
          </a:p>
          <a:p>
            <a:pPr marL="457200" lvl="2" indent="-457200" algn="just">
              <a:buFont typeface="Arial" panose="020B0604020202020204" pitchFamily="34" charset="0"/>
              <a:buChar char="•"/>
            </a:pPr>
            <a:r>
              <a:rPr lang="en-US" sz="3200" dirty="0"/>
              <a:t>Model Training – Adam optimizer, learning rate 0.0001, 25 epochs, batch size 16.</a:t>
            </a:r>
          </a:p>
          <a:p>
            <a:pPr marL="457200" lvl="2" indent="-457200" algn="just">
              <a:buFont typeface="Arial" panose="020B0604020202020204" pitchFamily="34" charset="0"/>
              <a:buChar char="•"/>
            </a:pPr>
            <a:r>
              <a:rPr lang="en-US" sz="3200" dirty="0"/>
              <a:t>Evaluation – Accuracy and loss measured on test data, and training time recorded.</a:t>
            </a:r>
          </a:p>
        </p:txBody>
      </p:sp>
      <p:sp>
        <p:nvSpPr>
          <p:cNvPr id="25" name="TextBox 24">
            <a:extLst>
              <a:ext uri="{FF2B5EF4-FFF2-40B4-BE49-F238E27FC236}">
                <a16:creationId xmlns:a16="http://schemas.microsoft.com/office/drawing/2014/main" id="{7D872E26-B7E0-7E50-C121-CC717B06EED6}"/>
              </a:ext>
            </a:extLst>
          </p:cNvPr>
          <p:cNvSpPr txBox="1"/>
          <p:nvPr/>
        </p:nvSpPr>
        <p:spPr>
          <a:xfrm>
            <a:off x="2007393" y="1255042"/>
            <a:ext cx="4762681" cy="907941"/>
          </a:xfrm>
          <a:prstGeom prst="rect">
            <a:avLst/>
          </a:prstGeom>
          <a:noFill/>
        </p:spPr>
        <p:txBody>
          <a:bodyPr wrap="square" rtlCol="0">
            <a:spAutoFit/>
          </a:bodyPr>
          <a:lstStyle/>
          <a:p>
            <a:r>
              <a:rPr lang="en-IN" sz="5300" dirty="0">
                <a:effectLst>
                  <a:outerShdw blurRad="38100" dist="38100" dir="2700000" algn="tl">
                    <a:srgbClr val="000000">
                      <a:alpha val="43137"/>
                    </a:srgbClr>
                  </a:outerShdw>
                </a:effectLst>
                <a:latin typeface="+mj-lt"/>
              </a:rPr>
              <a:t>Implementation</a:t>
            </a:r>
          </a:p>
        </p:txBody>
      </p:sp>
      <p:sp>
        <p:nvSpPr>
          <p:cNvPr id="13" name="TextBox 12">
            <a:extLst>
              <a:ext uri="{FF2B5EF4-FFF2-40B4-BE49-F238E27FC236}">
                <a16:creationId xmlns:a16="http://schemas.microsoft.com/office/drawing/2014/main" id="{BC39F7DF-EF75-F638-E6BF-6337FEC5CC12}"/>
              </a:ext>
            </a:extLst>
          </p:cNvPr>
          <p:cNvSpPr txBox="1"/>
          <p:nvPr/>
        </p:nvSpPr>
        <p:spPr>
          <a:xfrm>
            <a:off x="8669121" y="8951267"/>
            <a:ext cx="495649" cy="461665"/>
          </a:xfrm>
          <a:prstGeom prst="rect">
            <a:avLst/>
          </a:prstGeom>
          <a:noFill/>
        </p:spPr>
        <p:txBody>
          <a:bodyPr wrap="none" rtlCol="0">
            <a:spAutoFit/>
          </a:bodyPr>
          <a:lstStyle/>
          <a:p>
            <a:r>
              <a:rPr lang="en-IN" sz="2400" dirty="0">
                <a:solidFill>
                  <a:schemeClr val="tx1">
                    <a:lumMod val="65000"/>
                    <a:lumOff val="35000"/>
                  </a:schemeClr>
                </a:solidFill>
              </a:rPr>
              <a:t>17</a:t>
            </a:r>
          </a:p>
        </p:txBody>
      </p:sp>
    </p:spTree>
    <p:extLst>
      <p:ext uri="{BB962C8B-B14F-4D97-AF65-F5344CB8AC3E}">
        <p14:creationId xmlns:p14="http://schemas.microsoft.com/office/powerpoint/2010/main" val="40390149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EA088F-E7D7-3F9D-D773-AB6FD22169CC}"/>
            </a:ext>
          </a:extLst>
        </p:cNvPr>
        <p:cNvGrpSpPr/>
        <p:nvPr/>
      </p:nvGrpSpPr>
      <p:grpSpPr>
        <a:xfrm>
          <a:off x="0" y="0"/>
          <a:ext cx="0" cy="0"/>
          <a:chOff x="0" y="0"/>
          <a:chExt cx="0" cy="0"/>
        </a:xfrm>
      </p:grpSpPr>
      <p:grpSp>
        <p:nvGrpSpPr>
          <p:cNvPr id="19" name="Group 5">
            <a:extLst>
              <a:ext uri="{FF2B5EF4-FFF2-40B4-BE49-F238E27FC236}">
                <a16:creationId xmlns:a16="http://schemas.microsoft.com/office/drawing/2014/main" id="{40AEE6CB-73E4-A5B5-D290-B05B10BD7AE7}"/>
              </a:ext>
            </a:extLst>
          </p:cNvPr>
          <p:cNvGrpSpPr/>
          <p:nvPr/>
        </p:nvGrpSpPr>
        <p:grpSpPr>
          <a:xfrm>
            <a:off x="18088875" y="-137537"/>
            <a:ext cx="1273129" cy="10562074"/>
            <a:chOff x="0" y="0"/>
            <a:chExt cx="335310" cy="2781781"/>
          </a:xfrm>
        </p:grpSpPr>
        <p:sp>
          <p:nvSpPr>
            <p:cNvPr id="20" name="Freeform 6">
              <a:extLst>
                <a:ext uri="{FF2B5EF4-FFF2-40B4-BE49-F238E27FC236}">
                  <a16:creationId xmlns:a16="http://schemas.microsoft.com/office/drawing/2014/main" id="{6052EE53-3CEF-33BD-244E-BE6788564160}"/>
                </a:ext>
              </a:extLst>
            </p:cNvPr>
            <p:cNvSpPr/>
            <p:nvPr/>
          </p:nvSpPr>
          <p:spPr>
            <a:xfrm>
              <a:off x="0" y="0"/>
              <a:ext cx="335310" cy="2781781"/>
            </a:xfrm>
            <a:custGeom>
              <a:avLst/>
              <a:gdLst/>
              <a:ahLst/>
              <a:cxnLst/>
              <a:rect l="l" t="t" r="r" b="b"/>
              <a:pathLst>
                <a:path w="335310" h="2781781">
                  <a:moveTo>
                    <a:pt x="0" y="0"/>
                  </a:moveTo>
                  <a:lnTo>
                    <a:pt x="335310" y="0"/>
                  </a:lnTo>
                  <a:lnTo>
                    <a:pt x="335310" y="2781781"/>
                  </a:lnTo>
                  <a:lnTo>
                    <a:pt x="0" y="2781781"/>
                  </a:lnTo>
                  <a:close/>
                </a:path>
              </a:pathLst>
            </a:custGeom>
            <a:solidFill>
              <a:srgbClr val="F5DFDC"/>
            </a:solidFill>
            <a:ln cap="sq">
              <a:noFill/>
              <a:prstDash val="solid"/>
              <a:miter/>
            </a:ln>
          </p:spPr>
          <p:txBody>
            <a:bodyPr/>
            <a:lstStyle/>
            <a:p>
              <a:endParaRPr lang="en-IN"/>
            </a:p>
          </p:txBody>
        </p:sp>
        <p:sp>
          <p:nvSpPr>
            <p:cNvPr id="21" name="TextBox 7">
              <a:extLst>
                <a:ext uri="{FF2B5EF4-FFF2-40B4-BE49-F238E27FC236}">
                  <a16:creationId xmlns:a16="http://schemas.microsoft.com/office/drawing/2014/main" id="{742CDD7E-A548-FE22-60EC-BC2A64CEEE13}"/>
                </a:ext>
              </a:extLst>
            </p:cNvPr>
            <p:cNvSpPr txBox="1"/>
            <p:nvPr/>
          </p:nvSpPr>
          <p:spPr>
            <a:xfrm>
              <a:off x="0" y="38100"/>
              <a:ext cx="335310" cy="2743681"/>
            </a:xfrm>
            <a:prstGeom prst="rect">
              <a:avLst/>
            </a:prstGeom>
          </p:spPr>
          <p:txBody>
            <a:bodyPr lIns="50800" tIns="50800" rIns="50800" bIns="50800" rtlCol="0" anchor="ctr"/>
            <a:lstStyle/>
            <a:p>
              <a:pPr algn="ctr">
                <a:lnSpc>
                  <a:spcPts val="2100"/>
                </a:lnSpc>
              </a:pPr>
              <a:endParaRPr/>
            </a:p>
          </p:txBody>
        </p:sp>
      </p:grpSp>
      <p:grpSp>
        <p:nvGrpSpPr>
          <p:cNvPr id="16" name="Group 2">
            <a:extLst>
              <a:ext uri="{FF2B5EF4-FFF2-40B4-BE49-F238E27FC236}">
                <a16:creationId xmlns:a16="http://schemas.microsoft.com/office/drawing/2014/main" id="{F2539C71-B958-2AF9-4BED-66AEB15F7294}"/>
              </a:ext>
            </a:extLst>
          </p:cNvPr>
          <p:cNvGrpSpPr/>
          <p:nvPr/>
        </p:nvGrpSpPr>
        <p:grpSpPr>
          <a:xfrm>
            <a:off x="-998214" y="24260"/>
            <a:ext cx="1273129" cy="10562074"/>
            <a:chOff x="0" y="0"/>
            <a:chExt cx="335310" cy="2781781"/>
          </a:xfrm>
        </p:grpSpPr>
        <p:sp>
          <p:nvSpPr>
            <p:cNvPr id="17" name="Freeform 3">
              <a:extLst>
                <a:ext uri="{FF2B5EF4-FFF2-40B4-BE49-F238E27FC236}">
                  <a16:creationId xmlns:a16="http://schemas.microsoft.com/office/drawing/2014/main" id="{940791BA-2A95-74DB-5545-3CBFFFDBACDA}"/>
                </a:ext>
              </a:extLst>
            </p:cNvPr>
            <p:cNvSpPr/>
            <p:nvPr/>
          </p:nvSpPr>
          <p:spPr>
            <a:xfrm>
              <a:off x="0" y="0"/>
              <a:ext cx="335310" cy="2781781"/>
            </a:xfrm>
            <a:custGeom>
              <a:avLst/>
              <a:gdLst/>
              <a:ahLst/>
              <a:cxnLst/>
              <a:rect l="l" t="t" r="r" b="b"/>
              <a:pathLst>
                <a:path w="335310" h="2781781">
                  <a:moveTo>
                    <a:pt x="0" y="0"/>
                  </a:moveTo>
                  <a:lnTo>
                    <a:pt x="335310" y="0"/>
                  </a:lnTo>
                  <a:lnTo>
                    <a:pt x="335310" y="2781781"/>
                  </a:lnTo>
                  <a:lnTo>
                    <a:pt x="0" y="2781781"/>
                  </a:lnTo>
                  <a:close/>
                </a:path>
              </a:pathLst>
            </a:custGeom>
            <a:solidFill>
              <a:srgbClr val="F5DFDC"/>
            </a:solidFill>
            <a:ln cap="sq">
              <a:noFill/>
              <a:prstDash val="solid"/>
              <a:miter/>
            </a:ln>
          </p:spPr>
          <p:txBody>
            <a:bodyPr/>
            <a:lstStyle/>
            <a:p>
              <a:endParaRPr lang="en-IN"/>
            </a:p>
          </p:txBody>
        </p:sp>
        <p:sp>
          <p:nvSpPr>
            <p:cNvPr id="18" name="TextBox 4">
              <a:extLst>
                <a:ext uri="{FF2B5EF4-FFF2-40B4-BE49-F238E27FC236}">
                  <a16:creationId xmlns:a16="http://schemas.microsoft.com/office/drawing/2014/main" id="{E7779AA1-8709-FC6A-EAAE-CF94A6C2CA61}"/>
                </a:ext>
              </a:extLst>
            </p:cNvPr>
            <p:cNvSpPr txBox="1"/>
            <p:nvPr/>
          </p:nvSpPr>
          <p:spPr>
            <a:xfrm>
              <a:off x="0" y="38100"/>
              <a:ext cx="335310" cy="2743681"/>
            </a:xfrm>
            <a:prstGeom prst="rect">
              <a:avLst/>
            </a:prstGeom>
          </p:spPr>
          <p:txBody>
            <a:bodyPr lIns="50800" tIns="50800" rIns="50800" bIns="50800" rtlCol="0" anchor="ctr"/>
            <a:lstStyle/>
            <a:p>
              <a:pPr algn="ctr">
                <a:lnSpc>
                  <a:spcPts val="2100"/>
                </a:lnSpc>
              </a:pPr>
              <a:endParaRPr/>
            </a:p>
          </p:txBody>
        </p:sp>
      </p:grpSp>
      <p:sp>
        <p:nvSpPr>
          <p:cNvPr id="8" name="Freeform 8">
            <a:extLst>
              <a:ext uri="{FF2B5EF4-FFF2-40B4-BE49-F238E27FC236}">
                <a16:creationId xmlns:a16="http://schemas.microsoft.com/office/drawing/2014/main" id="{3C7BC553-B781-28F7-A1B9-A6B3F499769B}"/>
              </a:ext>
            </a:extLst>
          </p:cNvPr>
          <p:cNvSpPr/>
          <p:nvPr/>
        </p:nvSpPr>
        <p:spPr>
          <a:xfrm>
            <a:off x="14706600" y="-202510"/>
            <a:ext cx="4521184" cy="1528982"/>
          </a:xfrm>
          <a:custGeom>
            <a:avLst/>
            <a:gdLst/>
            <a:ahLst/>
            <a:cxnLst/>
            <a:rect l="l" t="t" r="r" b="b"/>
            <a:pathLst>
              <a:path w="4521184" h="1528982">
                <a:moveTo>
                  <a:pt x="0" y="0"/>
                </a:moveTo>
                <a:lnTo>
                  <a:pt x="4521184" y="0"/>
                </a:lnTo>
                <a:lnTo>
                  <a:pt x="4521184" y="1528982"/>
                </a:lnTo>
                <a:lnTo>
                  <a:pt x="0" y="152898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9" name="Freeform 9">
            <a:extLst>
              <a:ext uri="{FF2B5EF4-FFF2-40B4-BE49-F238E27FC236}">
                <a16:creationId xmlns:a16="http://schemas.microsoft.com/office/drawing/2014/main" id="{779E89B7-27CC-F7D9-BCF8-3586CC66F457}"/>
              </a:ext>
            </a:extLst>
          </p:cNvPr>
          <p:cNvSpPr/>
          <p:nvPr/>
        </p:nvSpPr>
        <p:spPr>
          <a:xfrm flipH="1" flipV="1">
            <a:off x="-1128348" y="8895555"/>
            <a:ext cx="4521184" cy="1528982"/>
          </a:xfrm>
          <a:custGeom>
            <a:avLst/>
            <a:gdLst/>
            <a:ahLst/>
            <a:cxnLst/>
            <a:rect l="l" t="t" r="r" b="b"/>
            <a:pathLst>
              <a:path w="4521184" h="1528982">
                <a:moveTo>
                  <a:pt x="4521184" y="1528982"/>
                </a:moveTo>
                <a:lnTo>
                  <a:pt x="0" y="1528982"/>
                </a:lnTo>
                <a:lnTo>
                  <a:pt x="0" y="0"/>
                </a:lnTo>
                <a:lnTo>
                  <a:pt x="4521184" y="0"/>
                </a:lnTo>
                <a:lnTo>
                  <a:pt x="4521184" y="1528982"/>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10" name="Freeform 10">
            <a:extLst>
              <a:ext uri="{FF2B5EF4-FFF2-40B4-BE49-F238E27FC236}">
                <a16:creationId xmlns:a16="http://schemas.microsoft.com/office/drawing/2014/main" id="{B784357A-F328-2244-3EB0-FB1D8AA2A6FC}"/>
              </a:ext>
            </a:extLst>
          </p:cNvPr>
          <p:cNvSpPr/>
          <p:nvPr/>
        </p:nvSpPr>
        <p:spPr>
          <a:xfrm>
            <a:off x="16459200" y="9182100"/>
            <a:ext cx="2636110" cy="1524151"/>
          </a:xfrm>
          <a:custGeom>
            <a:avLst/>
            <a:gdLst/>
            <a:ahLst/>
            <a:cxnLst/>
            <a:rect l="l" t="t" r="r" b="b"/>
            <a:pathLst>
              <a:path w="2636110" h="1524151">
                <a:moveTo>
                  <a:pt x="0" y="0"/>
                </a:moveTo>
                <a:lnTo>
                  <a:pt x="2636110" y="0"/>
                </a:lnTo>
                <a:lnTo>
                  <a:pt x="2636110" y="1524151"/>
                </a:lnTo>
                <a:lnTo>
                  <a:pt x="0" y="152415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dirty="0"/>
          </a:p>
        </p:txBody>
      </p:sp>
      <p:sp>
        <p:nvSpPr>
          <p:cNvPr id="11" name="Freeform 11">
            <a:extLst>
              <a:ext uri="{FF2B5EF4-FFF2-40B4-BE49-F238E27FC236}">
                <a16:creationId xmlns:a16="http://schemas.microsoft.com/office/drawing/2014/main" id="{88510E0C-0940-D7E7-6F39-DF71F7584045}"/>
              </a:ext>
            </a:extLst>
          </p:cNvPr>
          <p:cNvSpPr/>
          <p:nvPr/>
        </p:nvSpPr>
        <p:spPr>
          <a:xfrm flipH="1" flipV="1">
            <a:off x="-762000" y="-428776"/>
            <a:ext cx="2636110" cy="1524151"/>
          </a:xfrm>
          <a:custGeom>
            <a:avLst/>
            <a:gdLst/>
            <a:ahLst/>
            <a:cxnLst/>
            <a:rect l="l" t="t" r="r" b="b"/>
            <a:pathLst>
              <a:path w="2636110" h="1524151">
                <a:moveTo>
                  <a:pt x="2636110" y="1524151"/>
                </a:moveTo>
                <a:lnTo>
                  <a:pt x="0" y="1524151"/>
                </a:lnTo>
                <a:lnTo>
                  <a:pt x="0" y="0"/>
                </a:lnTo>
                <a:lnTo>
                  <a:pt x="2636110" y="0"/>
                </a:lnTo>
                <a:lnTo>
                  <a:pt x="2636110" y="1524151"/>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dirty="0"/>
          </a:p>
        </p:txBody>
      </p:sp>
      <p:sp>
        <p:nvSpPr>
          <p:cNvPr id="24" name="TextBox 23">
            <a:extLst>
              <a:ext uri="{FF2B5EF4-FFF2-40B4-BE49-F238E27FC236}">
                <a16:creationId xmlns:a16="http://schemas.microsoft.com/office/drawing/2014/main" id="{AB60A5DF-1953-7951-AB15-5C5B6B6158C2}"/>
              </a:ext>
            </a:extLst>
          </p:cNvPr>
          <p:cNvSpPr txBox="1"/>
          <p:nvPr/>
        </p:nvSpPr>
        <p:spPr>
          <a:xfrm>
            <a:off x="1935070" y="1555857"/>
            <a:ext cx="13487400" cy="7232749"/>
          </a:xfrm>
          <a:prstGeom prst="rect">
            <a:avLst/>
          </a:prstGeom>
          <a:noFill/>
        </p:spPr>
        <p:txBody>
          <a:bodyPr wrap="square" rtlCol="0">
            <a:spAutoFit/>
          </a:bodyPr>
          <a:lstStyle/>
          <a:p>
            <a:pPr marL="0" lvl="2" algn="just">
              <a:spcAft>
                <a:spcPts val="1200"/>
              </a:spcAft>
            </a:pPr>
            <a:r>
              <a:rPr lang="en-US" sz="3000" dirty="0">
                <a:effectLst>
                  <a:outerShdw blurRad="38100" dist="38100" dir="2700000" algn="tl">
                    <a:srgbClr val="000000">
                      <a:alpha val="43137"/>
                    </a:srgbClr>
                  </a:outerShdw>
                </a:effectLst>
              </a:rPr>
              <a:t>Convolution Optimization Using HPC :</a:t>
            </a:r>
          </a:p>
          <a:p>
            <a:pPr marL="457200" lvl="2" indent="-457200" algn="just">
              <a:buFont typeface="Arial" panose="020B0604020202020204" pitchFamily="34" charset="0"/>
              <a:buChar char="•"/>
            </a:pPr>
            <a:r>
              <a:rPr lang="en-US" sz="3000" dirty="0"/>
              <a:t>Convolution implemented in C for performance benchmarking</a:t>
            </a:r>
          </a:p>
          <a:p>
            <a:pPr marL="457200" lvl="2" indent="-457200" algn="just">
              <a:buFont typeface="Arial" panose="020B0604020202020204" pitchFamily="34" charset="0"/>
              <a:buChar char="•"/>
            </a:pPr>
            <a:r>
              <a:rPr lang="en-US" sz="3000" dirty="0"/>
              <a:t>Methods used: Naive, Naïve + OpenMP, im2col (serial), im2col (OpenMP)</a:t>
            </a:r>
          </a:p>
          <a:p>
            <a:pPr marL="914400" lvl="3" indent="-457200" algn="just">
              <a:spcAft>
                <a:spcPts val="600"/>
              </a:spcAft>
              <a:buSzPct val="70000"/>
              <a:buFont typeface="Arial" panose="020B0604020202020204" pitchFamily="34" charset="0"/>
              <a:buChar char="•"/>
            </a:pPr>
            <a:r>
              <a:rPr lang="en-US" sz="3000" dirty="0">
                <a:effectLst>
                  <a:outerShdw blurRad="38100" dist="38100" dir="2700000" algn="tl">
                    <a:srgbClr val="000000">
                      <a:alpha val="43137"/>
                    </a:srgbClr>
                  </a:outerShdw>
                </a:effectLst>
              </a:rPr>
              <a:t>Naive Convolution: </a:t>
            </a:r>
            <a:r>
              <a:rPr lang="en-US" sz="3000" dirty="0"/>
              <a:t>Uses 6 nested loops (filters, height, width, channels, kernel height, kernel width) to compute each output element directly.</a:t>
            </a:r>
          </a:p>
          <a:p>
            <a:pPr marL="914400" lvl="3" indent="-457200" algn="just">
              <a:spcAft>
                <a:spcPts val="600"/>
              </a:spcAft>
              <a:buSzPct val="70000"/>
              <a:buFont typeface="Arial" panose="020B0604020202020204" pitchFamily="34" charset="0"/>
              <a:buChar char="•"/>
            </a:pPr>
            <a:r>
              <a:rPr lang="en-US" sz="3000" dirty="0">
                <a:effectLst>
                  <a:outerShdw blurRad="38100" dist="38100" dir="2700000" algn="tl">
                    <a:srgbClr val="000000">
                      <a:alpha val="43137"/>
                    </a:srgbClr>
                  </a:outerShdw>
                </a:effectLst>
              </a:rPr>
              <a:t>Naive + OpenMP: </a:t>
            </a:r>
            <a:r>
              <a:rPr lang="en-US" sz="3000" dirty="0"/>
              <a:t>Same 6-loop structure, but outer loops are parallelized using collapse() to distribute work across threads.</a:t>
            </a:r>
          </a:p>
          <a:p>
            <a:pPr marL="914400" lvl="3" indent="-457200" algn="just">
              <a:spcAft>
                <a:spcPts val="600"/>
              </a:spcAft>
              <a:buSzPct val="70000"/>
              <a:buFont typeface="Arial" panose="020B0604020202020204" pitchFamily="34" charset="0"/>
              <a:buChar char="•"/>
            </a:pPr>
            <a:r>
              <a:rPr lang="en-US" sz="3000" dirty="0">
                <a:effectLst>
                  <a:outerShdw blurRad="38100" dist="38100" dir="2700000" algn="tl">
                    <a:srgbClr val="000000">
                      <a:alpha val="43137"/>
                    </a:srgbClr>
                  </a:outerShdw>
                </a:effectLst>
              </a:rPr>
              <a:t>img2col (serial): </a:t>
            </a:r>
            <a:r>
              <a:rPr lang="en-US" sz="3000" dirty="0"/>
              <a:t>Converts input patches into a matrix (im2col) and kernels into another matrix, then performs matrix multiplication instead of nested loops.</a:t>
            </a:r>
          </a:p>
          <a:p>
            <a:pPr marL="914400" lvl="3" indent="-457200" algn="just">
              <a:spcAft>
                <a:spcPts val="600"/>
              </a:spcAft>
              <a:buSzPct val="70000"/>
              <a:buFont typeface="Arial" panose="020B0604020202020204" pitchFamily="34" charset="0"/>
              <a:buChar char="•"/>
            </a:pPr>
            <a:r>
              <a:rPr lang="en-US" sz="3000" dirty="0">
                <a:effectLst>
                  <a:outerShdw blurRad="38100" dist="38100" dir="2700000" algn="tl">
                    <a:srgbClr val="000000">
                      <a:alpha val="43137"/>
                    </a:srgbClr>
                  </a:outerShdw>
                </a:effectLst>
              </a:rPr>
              <a:t>img2col + OpenMP: </a:t>
            </a:r>
            <a:r>
              <a:rPr lang="en-US" sz="3000" dirty="0"/>
              <a:t>Matrix multiplication loops are parallelized using OpenMP for faster computation.</a:t>
            </a:r>
          </a:p>
          <a:p>
            <a:pPr marL="457200" lvl="2" indent="-457200" algn="just">
              <a:buFont typeface="Arial" panose="020B0604020202020204" pitchFamily="34" charset="0"/>
              <a:buChar char="•"/>
            </a:pPr>
            <a:r>
              <a:rPr lang="en-US" sz="3000" dirty="0"/>
              <a:t>OpenMP parallelization approaches used: </a:t>
            </a:r>
          </a:p>
          <a:p>
            <a:pPr marL="1428750" lvl="4" indent="-514350" algn="just">
              <a:buSzPct val="70000"/>
              <a:buFont typeface="+mj-lt"/>
              <a:buAutoNum type="arabicPeriod"/>
            </a:pPr>
            <a:r>
              <a:rPr lang="en-US" sz="3000" dirty="0"/>
              <a:t>collapse only </a:t>
            </a:r>
          </a:p>
          <a:p>
            <a:pPr marL="1428750" lvl="4" indent="-514350" algn="just">
              <a:buSzPct val="70000"/>
              <a:buFont typeface="+mj-lt"/>
              <a:buAutoNum type="arabicPeriod"/>
            </a:pPr>
            <a:r>
              <a:rPr lang="en-US" sz="3000" dirty="0"/>
              <a:t>collapse with scheduling</a:t>
            </a:r>
          </a:p>
        </p:txBody>
      </p:sp>
      <p:sp>
        <p:nvSpPr>
          <p:cNvPr id="13" name="TextBox 12">
            <a:extLst>
              <a:ext uri="{FF2B5EF4-FFF2-40B4-BE49-F238E27FC236}">
                <a16:creationId xmlns:a16="http://schemas.microsoft.com/office/drawing/2014/main" id="{80493D45-B0FB-DB7E-2210-A0718CDAC659}"/>
              </a:ext>
            </a:extLst>
          </p:cNvPr>
          <p:cNvSpPr txBox="1"/>
          <p:nvPr/>
        </p:nvSpPr>
        <p:spPr>
          <a:xfrm>
            <a:off x="8669121" y="8951267"/>
            <a:ext cx="495649" cy="461665"/>
          </a:xfrm>
          <a:prstGeom prst="rect">
            <a:avLst/>
          </a:prstGeom>
          <a:noFill/>
        </p:spPr>
        <p:txBody>
          <a:bodyPr wrap="none" rtlCol="0">
            <a:spAutoFit/>
          </a:bodyPr>
          <a:lstStyle/>
          <a:p>
            <a:r>
              <a:rPr lang="en-IN" sz="2400" dirty="0">
                <a:solidFill>
                  <a:schemeClr val="tx1">
                    <a:lumMod val="65000"/>
                    <a:lumOff val="35000"/>
                  </a:schemeClr>
                </a:solidFill>
              </a:rPr>
              <a:t>18</a:t>
            </a:r>
          </a:p>
        </p:txBody>
      </p:sp>
    </p:spTree>
    <p:extLst>
      <p:ext uri="{BB962C8B-B14F-4D97-AF65-F5344CB8AC3E}">
        <p14:creationId xmlns:p14="http://schemas.microsoft.com/office/powerpoint/2010/main" val="221723283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9234A1-526B-0BD4-1218-8BB9943BC44E}"/>
            </a:ext>
          </a:extLst>
        </p:cNvPr>
        <p:cNvGrpSpPr/>
        <p:nvPr/>
      </p:nvGrpSpPr>
      <p:grpSpPr>
        <a:xfrm>
          <a:off x="0" y="0"/>
          <a:ext cx="0" cy="0"/>
          <a:chOff x="0" y="0"/>
          <a:chExt cx="0" cy="0"/>
        </a:xfrm>
      </p:grpSpPr>
      <p:grpSp>
        <p:nvGrpSpPr>
          <p:cNvPr id="19" name="Group 5">
            <a:extLst>
              <a:ext uri="{FF2B5EF4-FFF2-40B4-BE49-F238E27FC236}">
                <a16:creationId xmlns:a16="http://schemas.microsoft.com/office/drawing/2014/main" id="{4FF3CB05-03DD-4081-53F5-9B6319BCA6EE}"/>
              </a:ext>
            </a:extLst>
          </p:cNvPr>
          <p:cNvGrpSpPr/>
          <p:nvPr/>
        </p:nvGrpSpPr>
        <p:grpSpPr>
          <a:xfrm>
            <a:off x="18088875" y="-137537"/>
            <a:ext cx="1273129" cy="10562074"/>
            <a:chOff x="0" y="0"/>
            <a:chExt cx="335310" cy="2781781"/>
          </a:xfrm>
        </p:grpSpPr>
        <p:sp>
          <p:nvSpPr>
            <p:cNvPr id="20" name="Freeform 6">
              <a:extLst>
                <a:ext uri="{FF2B5EF4-FFF2-40B4-BE49-F238E27FC236}">
                  <a16:creationId xmlns:a16="http://schemas.microsoft.com/office/drawing/2014/main" id="{FBA7018F-4F94-50E3-92F6-FB6C5C6D16EA}"/>
                </a:ext>
              </a:extLst>
            </p:cNvPr>
            <p:cNvSpPr/>
            <p:nvPr/>
          </p:nvSpPr>
          <p:spPr>
            <a:xfrm>
              <a:off x="0" y="0"/>
              <a:ext cx="335310" cy="2781781"/>
            </a:xfrm>
            <a:custGeom>
              <a:avLst/>
              <a:gdLst/>
              <a:ahLst/>
              <a:cxnLst/>
              <a:rect l="l" t="t" r="r" b="b"/>
              <a:pathLst>
                <a:path w="335310" h="2781781">
                  <a:moveTo>
                    <a:pt x="0" y="0"/>
                  </a:moveTo>
                  <a:lnTo>
                    <a:pt x="335310" y="0"/>
                  </a:lnTo>
                  <a:lnTo>
                    <a:pt x="335310" y="2781781"/>
                  </a:lnTo>
                  <a:lnTo>
                    <a:pt x="0" y="2781781"/>
                  </a:lnTo>
                  <a:close/>
                </a:path>
              </a:pathLst>
            </a:custGeom>
            <a:solidFill>
              <a:srgbClr val="F5DFDC"/>
            </a:solidFill>
            <a:ln cap="sq">
              <a:noFill/>
              <a:prstDash val="solid"/>
              <a:miter/>
            </a:ln>
          </p:spPr>
          <p:txBody>
            <a:bodyPr/>
            <a:lstStyle/>
            <a:p>
              <a:endParaRPr lang="en-IN"/>
            </a:p>
          </p:txBody>
        </p:sp>
        <p:sp>
          <p:nvSpPr>
            <p:cNvPr id="21" name="TextBox 7">
              <a:extLst>
                <a:ext uri="{FF2B5EF4-FFF2-40B4-BE49-F238E27FC236}">
                  <a16:creationId xmlns:a16="http://schemas.microsoft.com/office/drawing/2014/main" id="{BDAED825-2713-F47F-9EF1-B7C97CD3A986}"/>
                </a:ext>
              </a:extLst>
            </p:cNvPr>
            <p:cNvSpPr txBox="1"/>
            <p:nvPr/>
          </p:nvSpPr>
          <p:spPr>
            <a:xfrm>
              <a:off x="0" y="38100"/>
              <a:ext cx="335310" cy="2743681"/>
            </a:xfrm>
            <a:prstGeom prst="rect">
              <a:avLst/>
            </a:prstGeom>
          </p:spPr>
          <p:txBody>
            <a:bodyPr lIns="50800" tIns="50800" rIns="50800" bIns="50800" rtlCol="0" anchor="ctr"/>
            <a:lstStyle/>
            <a:p>
              <a:pPr algn="ctr">
                <a:lnSpc>
                  <a:spcPts val="2100"/>
                </a:lnSpc>
              </a:pPr>
              <a:endParaRPr/>
            </a:p>
          </p:txBody>
        </p:sp>
      </p:grpSp>
      <p:grpSp>
        <p:nvGrpSpPr>
          <p:cNvPr id="16" name="Group 2">
            <a:extLst>
              <a:ext uri="{FF2B5EF4-FFF2-40B4-BE49-F238E27FC236}">
                <a16:creationId xmlns:a16="http://schemas.microsoft.com/office/drawing/2014/main" id="{0F61C311-C074-9A5A-F174-BACBC813A8DF}"/>
              </a:ext>
            </a:extLst>
          </p:cNvPr>
          <p:cNvGrpSpPr/>
          <p:nvPr/>
        </p:nvGrpSpPr>
        <p:grpSpPr>
          <a:xfrm>
            <a:off x="-998214" y="24260"/>
            <a:ext cx="1273129" cy="10562074"/>
            <a:chOff x="0" y="0"/>
            <a:chExt cx="335310" cy="2781781"/>
          </a:xfrm>
        </p:grpSpPr>
        <p:sp>
          <p:nvSpPr>
            <p:cNvPr id="17" name="Freeform 3">
              <a:extLst>
                <a:ext uri="{FF2B5EF4-FFF2-40B4-BE49-F238E27FC236}">
                  <a16:creationId xmlns:a16="http://schemas.microsoft.com/office/drawing/2014/main" id="{EC74EE6B-82C3-16D1-8DAB-EDF2731CF136}"/>
                </a:ext>
              </a:extLst>
            </p:cNvPr>
            <p:cNvSpPr/>
            <p:nvPr/>
          </p:nvSpPr>
          <p:spPr>
            <a:xfrm>
              <a:off x="0" y="0"/>
              <a:ext cx="335310" cy="2781781"/>
            </a:xfrm>
            <a:custGeom>
              <a:avLst/>
              <a:gdLst/>
              <a:ahLst/>
              <a:cxnLst/>
              <a:rect l="l" t="t" r="r" b="b"/>
              <a:pathLst>
                <a:path w="335310" h="2781781">
                  <a:moveTo>
                    <a:pt x="0" y="0"/>
                  </a:moveTo>
                  <a:lnTo>
                    <a:pt x="335310" y="0"/>
                  </a:lnTo>
                  <a:lnTo>
                    <a:pt x="335310" y="2781781"/>
                  </a:lnTo>
                  <a:lnTo>
                    <a:pt x="0" y="2781781"/>
                  </a:lnTo>
                  <a:close/>
                </a:path>
              </a:pathLst>
            </a:custGeom>
            <a:solidFill>
              <a:srgbClr val="F5DFDC"/>
            </a:solidFill>
            <a:ln cap="sq">
              <a:noFill/>
              <a:prstDash val="solid"/>
              <a:miter/>
            </a:ln>
          </p:spPr>
          <p:txBody>
            <a:bodyPr/>
            <a:lstStyle/>
            <a:p>
              <a:endParaRPr lang="en-IN"/>
            </a:p>
          </p:txBody>
        </p:sp>
        <p:sp>
          <p:nvSpPr>
            <p:cNvPr id="18" name="TextBox 4">
              <a:extLst>
                <a:ext uri="{FF2B5EF4-FFF2-40B4-BE49-F238E27FC236}">
                  <a16:creationId xmlns:a16="http://schemas.microsoft.com/office/drawing/2014/main" id="{EA1D3AFE-0B82-2544-8F37-7F7A91E4AF84}"/>
                </a:ext>
              </a:extLst>
            </p:cNvPr>
            <p:cNvSpPr txBox="1"/>
            <p:nvPr/>
          </p:nvSpPr>
          <p:spPr>
            <a:xfrm>
              <a:off x="0" y="38100"/>
              <a:ext cx="335310" cy="2743681"/>
            </a:xfrm>
            <a:prstGeom prst="rect">
              <a:avLst/>
            </a:prstGeom>
          </p:spPr>
          <p:txBody>
            <a:bodyPr lIns="50800" tIns="50800" rIns="50800" bIns="50800" rtlCol="0" anchor="ctr"/>
            <a:lstStyle/>
            <a:p>
              <a:pPr algn="ctr">
                <a:lnSpc>
                  <a:spcPts val="2100"/>
                </a:lnSpc>
              </a:pPr>
              <a:endParaRPr/>
            </a:p>
          </p:txBody>
        </p:sp>
      </p:grpSp>
      <p:sp>
        <p:nvSpPr>
          <p:cNvPr id="8" name="Freeform 8">
            <a:extLst>
              <a:ext uri="{FF2B5EF4-FFF2-40B4-BE49-F238E27FC236}">
                <a16:creationId xmlns:a16="http://schemas.microsoft.com/office/drawing/2014/main" id="{952BD2B4-A134-51FE-8864-187D597837F1}"/>
              </a:ext>
            </a:extLst>
          </p:cNvPr>
          <p:cNvSpPr/>
          <p:nvPr/>
        </p:nvSpPr>
        <p:spPr>
          <a:xfrm>
            <a:off x="14706600" y="-202510"/>
            <a:ext cx="4521184" cy="1528982"/>
          </a:xfrm>
          <a:custGeom>
            <a:avLst/>
            <a:gdLst/>
            <a:ahLst/>
            <a:cxnLst/>
            <a:rect l="l" t="t" r="r" b="b"/>
            <a:pathLst>
              <a:path w="4521184" h="1528982">
                <a:moveTo>
                  <a:pt x="0" y="0"/>
                </a:moveTo>
                <a:lnTo>
                  <a:pt x="4521184" y="0"/>
                </a:lnTo>
                <a:lnTo>
                  <a:pt x="4521184" y="1528982"/>
                </a:lnTo>
                <a:lnTo>
                  <a:pt x="0" y="152898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9" name="Freeform 9">
            <a:extLst>
              <a:ext uri="{FF2B5EF4-FFF2-40B4-BE49-F238E27FC236}">
                <a16:creationId xmlns:a16="http://schemas.microsoft.com/office/drawing/2014/main" id="{38FCDA83-4EDC-84C3-187D-882868F846AB}"/>
              </a:ext>
            </a:extLst>
          </p:cNvPr>
          <p:cNvSpPr/>
          <p:nvPr/>
        </p:nvSpPr>
        <p:spPr>
          <a:xfrm flipH="1" flipV="1">
            <a:off x="-1128348" y="8895555"/>
            <a:ext cx="4521184" cy="1528982"/>
          </a:xfrm>
          <a:custGeom>
            <a:avLst/>
            <a:gdLst/>
            <a:ahLst/>
            <a:cxnLst/>
            <a:rect l="l" t="t" r="r" b="b"/>
            <a:pathLst>
              <a:path w="4521184" h="1528982">
                <a:moveTo>
                  <a:pt x="4521184" y="1528982"/>
                </a:moveTo>
                <a:lnTo>
                  <a:pt x="0" y="1528982"/>
                </a:lnTo>
                <a:lnTo>
                  <a:pt x="0" y="0"/>
                </a:lnTo>
                <a:lnTo>
                  <a:pt x="4521184" y="0"/>
                </a:lnTo>
                <a:lnTo>
                  <a:pt x="4521184" y="1528982"/>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10" name="Freeform 10">
            <a:extLst>
              <a:ext uri="{FF2B5EF4-FFF2-40B4-BE49-F238E27FC236}">
                <a16:creationId xmlns:a16="http://schemas.microsoft.com/office/drawing/2014/main" id="{A9B96848-6A8E-B052-251D-26842FCD7982}"/>
              </a:ext>
            </a:extLst>
          </p:cNvPr>
          <p:cNvSpPr/>
          <p:nvPr/>
        </p:nvSpPr>
        <p:spPr>
          <a:xfrm>
            <a:off x="16459200" y="9182100"/>
            <a:ext cx="2636110" cy="1524151"/>
          </a:xfrm>
          <a:custGeom>
            <a:avLst/>
            <a:gdLst/>
            <a:ahLst/>
            <a:cxnLst/>
            <a:rect l="l" t="t" r="r" b="b"/>
            <a:pathLst>
              <a:path w="2636110" h="1524151">
                <a:moveTo>
                  <a:pt x="0" y="0"/>
                </a:moveTo>
                <a:lnTo>
                  <a:pt x="2636110" y="0"/>
                </a:lnTo>
                <a:lnTo>
                  <a:pt x="2636110" y="1524151"/>
                </a:lnTo>
                <a:lnTo>
                  <a:pt x="0" y="152415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dirty="0"/>
          </a:p>
        </p:txBody>
      </p:sp>
      <p:sp>
        <p:nvSpPr>
          <p:cNvPr id="11" name="Freeform 11">
            <a:extLst>
              <a:ext uri="{FF2B5EF4-FFF2-40B4-BE49-F238E27FC236}">
                <a16:creationId xmlns:a16="http://schemas.microsoft.com/office/drawing/2014/main" id="{78B75324-558C-6DB3-EC61-0AA1F5763E4E}"/>
              </a:ext>
            </a:extLst>
          </p:cNvPr>
          <p:cNvSpPr/>
          <p:nvPr/>
        </p:nvSpPr>
        <p:spPr>
          <a:xfrm flipH="1" flipV="1">
            <a:off x="-762000" y="-428776"/>
            <a:ext cx="2636110" cy="1524151"/>
          </a:xfrm>
          <a:custGeom>
            <a:avLst/>
            <a:gdLst/>
            <a:ahLst/>
            <a:cxnLst/>
            <a:rect l="l" t="t" r="r" b="b"/>
            <a:pathLst>
              <a:path w="2636110" h="1524151">
                <a:moveTo>
                  <a:pt x="2636110" y="1524151"/>
                </a:moveTo>
                <a:lnTo>
                  <a:pt x="0" y="1524151"/>
                </a:lnTo>
                <a:lnTo>
                  <a:pt x="0" y="0"/>
                </a:lnTo>
                <a:lnTo>
                  <a:pt x="2636110" y="0"/>
                </a:lnTo>
                <a:lnTo>
                  <a:pt x="2636110" y="1524151"/>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dirty="0"/>
          </a:p>
        </p:txBody>
      </p:sp>
      <p:sp>
        <p:nvSpPr>
          <p:cNvPr id="24" name="TextBox 23">
            <a:extLst>
              <a:ext uri="{FF2B5EF4-FFF2-40B4-BE49-F238E27FC236}">
                <a16:creationId xmlns:a16="http://schemas.microsoft.com/office/drawing/2014/main" id="{3CD888C3-8C20-12BC-169A-984F4752642D}"/>
              </a:ext>
            </a:extLst>
          </p:cNvPr>
          <p:cNvSpPr txBox="1"/>
          <p:nvPr/>
        </p:nvSpPr>
        <p:spPr>
          <a:xfrm>
            <a:off x="2173245" y="1344466"/>
            <a:ext cx="13487400" cy="7301999"/>
          </a:xfrm>
          <a:prstGeom prst="rect">
            <a:avLst/>
          </a:prstGeom>
          <a:noFill/>
        </p:spPr>
        <p:txBody>
          <a:bodyPr wrap="square" rtlCol="0">
            <a:spAutoFit/>
          </a:bodyPr>
          <a:lstStyle/>
          <a:p>
            <a:pPr marL="0" lvl="2" indent="457200" algn="just">
              <a:spcBef>
                <a:spcPts val="700"/>
              </a:spcBef>
              <a:spcAft>
                <a:spcPts val="1200"/>
              </a:spcAft>
              <a:buSzPct val="80000"/>
              <a:buFont typeface="+mj-lt"/>
              <a:buAutoNum type="arabicPeriod"/>
            </a:pPr>
            <a:r>
              <a:rPr lang="en-US" sz="3200" dirty="0"/>
              <a:t>Collapse Only Method :</a:t>
            </a:r>
          </a:p>
          <a:p>
            <a:pPr marL="1371600" lvl="8" indent="-457200" algn="just">
              <a:buSzPct val="70000"/>
              <a:buFont typeface="Arial" panose="020B0604020202020204" pitchFamily="34" charset="0"/>
              <a:buChar char="•"/>
            </a:pPr>
            <a:r>
              <a:rPr lang="en-US" sz="3200" dirty="0"/>
              <a:t>Nested loops combined using collapse()</a:t>
            </a:r>
          </a:p>
          <a:p>
            <a:pPr marL="1371600" lvl="8" indent="-457200" algn="just">
              <a:buSzPct val="70000"/>
              <a:buFont typeface="Arial" panose="020B0604020202020204" pitchFamily="34" charset="0"/>
              <a:buChar char="•"/>
            </a:pPr>
            <a:r>
              <a:rPr lang="en-US" sz="3200" dirty="0"/>
              <a:t>Treated as a single iteration space</a:t>
            </a:r>
          </a:p>
          <a:p>
            <a:pPr marL="1371600" lvl="8" indent="-457200" algn="just">
              <a:buSzPct val="70000"/>
              <a:buFont typeface="Arial" panose="020B0604020202020204" pitchFamily="34" charset="0"/>
              <a:buChar char="•"/>
            </a:pPr>
            <a:r>
              <a:rPr lang="en-US" sz="3200" dirty="0"/>
              <a:t>Work divided among threads</a:t>
            </a:r>
          </a:p>
          <a:p>
            <a:pPr marL="1371600" lvl="8" indent="-457200" algn="just">
              <a:buSzPct val="70000"/>
              <a:buFont typeface="Arial" panose="020B0604020202020204" pitchFamily="34" charset="0"/>
              <a:buChar char="•"/>
            </a:pPr>
            <a:r>
              <a:rPr lang="en-US" sz="3200" dirty="0"/>
              <a:t>Each thread computes output elements in parallel</a:t>
            </a:r>
          </a:p>
          <a:p>
            <a:pPr marL="514350" lvl="2" indent="-514350" algn="just">
              <a:spcBef>
                <a:spcPts val="700"/>
              </a:spcBef>
              <a:spcAft>
                <a:spcPts val="1200"/>
              </a:spcAft>
              <a:buSzPct val="80000"/>
              <a:buFont typeface="+mj-lt"/>
              <a:buAutoNum type="arabicPeriod" startAt="2"/>
            </a:pPr>
            <a:r>
              <a:rPr lang="en-US" sz="3200" dirty="0"/>
              <a:t>Collapse + Scheduling Method –</a:t>
            </a:r>
          </a:p>
          <a:p>
            <a:pPr marL="1371600" lvl="4" indent="-457200" algn="just">
              <a:buSzPct val="70000"/>
              <a:buFont typeface="Arial" panose="020B0604020202020204" pitchFamily="34" charset="0"/>
              <a:buChar char="•"/>
            </a:pPr>
            <a:r>
              <a:rPr lang="en-US" sz="3200" dirty="0"/>
              <a:t>Loop collapsing combined with scheduling techniques</a:t>
            </a:r>
          </a:p>
          <a:p>
            <a:pPr marL="1371600" lvl="4" indent="-457200" algn="just">
              <a:buSzPct val="70000"/>
              <a:buFont typeface="Arial" panose="020B0604020202020204" pitchFamily="34" charset="0"/>
              <a:buChar char="•"/>
            </a:pPr>
            <a:r>
              <a:rPr lang="en-US" sz="3200" dirty="0"/>
              <a:t>Workload distributed dynamically among threads</a:t>
            </a:r>
          </a:p>
          <a:p>
            <a:pPr marL="1371600" lvl="4" indent="-457200" algn="just">
              <a:buSzPct val="70000"/>
              <a:buFont typeface="Arial" panose="020B0604020202020204" pitchFamily="34" charset="0"/>
              <a:buChar char="•"/>
            </a:pPr>
            <a:r>
              <a:rPr lang="en-US" sz="3200" dirty="0"/>
              <a:t>Improves load balancing and efficiency</a:t>
            </a:r>
          </a:p>
          <a:p>
            <a:pPr marL="914400" lvl="4" algn="just">
              <a:spcBef>
                <a:spcPts val="2000"/>
              </a:spcBef>
              <a:spcAft>
                <a:spcPts val="1200"/>
              </a:spcAft>
              <a:buSzPct val="80000"/>
            </a:pPr>
            <a:r>
              <a:rPr lang="en-US" sz="3200" dirty="0"/>
              <a:t>Scheduling Types :</a:t>
            </a:r>
          </a:p>
          <a:p>
            <a:pPr marL="1828800" lvl="5" indent="-457200" algn="just">
              <a:buSzPct val="80000"/>
              <a:buFont typeface="Arial" panose="020B0604020202020204" pitchFamily="34" charset="0"/>
              <a:buChar char="•"/>
            </a:pPr>
            <a:r>
              <a:rPr lang="en-US" sz="3200" dirty="0"/>
              <a:t>Static – Equal distribution with low overhead</a:t>
            </a:r>
          </a:p>
          <a:p>
            <a:pPr marL="1828800" lvl="5" indent="-457200" algn="just">
              <a:buSzPct val="80000"/>
              <a:buFont typeface="Arial" panose="020B0604020202020204" pitchFamily="34" charset="0"/>
              <a:buChar char="•"/>
            </a:pPr>
            <a:r>
              <a:rPr lang="en-US" sz="3200" dirty="0"/>
              <a:t>Dynamic – Assigned during execution for uneven workloads</a:t>
            </a:r>
          </a:p>
          <a:p>
            <a:pPr marL="1828800" lvl="5" indent="-457200" algn="just">
              <a:buSzPct val="80000"/>
              <a:buFont typeface="Arial" panose="020B0604020202020204" pitchFamily="34" charset="0"/>
              <a:buChar char="•"/>
            </a:pPr>
            <a:r>
              <a:rPr lang="en-US" sz="3200" dirty="0"/>
              <a:t>Guided – Large chunks first, smaller later for balance</a:t>
            </a:r>
          </a:p>
        </p:txBody>
      </p:sp>
      <p:sp>
        <p:nvSpPr>
          <p:cNvPr id="13" name="TextBox 12">
            <a:extLst>
              <a:ext uri="{FF2B5EF4-FFF2-40B4-BE49-F238E27FC236}">
                <a16:creationId xmlns:a16="http://schemas.microsoft.com/office/drawing/2014/main" id="{2801C519-D7F7-E4C9-882C-EA0F820EB61B}"/>
              </a:ext>
            </a:extLst>
          </p:cNvPr>
          <p:cNvSpPr txBox="1"/>
          <p:nvPr/>
        </p:nvSpPr>
        <p:spPr>
          <a:xfrm>
            <a:off x="8669121" y="8951267"/>
            <a:ext cx="495649" cy="461665"/>
          </a:xfrm>
          <a:prstGeom prst="rect">
            <a:avLst/>
          </a:prstGeom>
          <a:noFill/>
        </p:spPr>
        <p:txBody>
          <a:bodyPr wrap="none" rtlCol="0">
            <a:spAutoFit/>
          </a:bodyPr>
          <a:lstStyle/>
          <a:p>
            <a:r>
              <a:rPr lang="en-IN" sz="2400" dirty="0">
                <a:solidFill>
                  <a:schemeClr val="tx1">
                    <a:lumMod val="65000"/>
                    <a:lumOff val="35000"/>
                  </a:schemeClr>
                </a:solidFill>
              </a:rPr>
              <a:t>19</a:t>
            </a:r>
          </a:p>
        </p:txBody>
      </p:sp>
    </p:spTree>
    <p:extLst>
      <p:ext uri="{BB962C8B-B14F-4D97-AF65-F5344CB8AC3E}">
        <p14:creationId xmlns:p14="http://schemas.microsoft.com/office/powerpoint/2010/main" val="71888039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A045DF-C453-54E7-C591-8C034ECB0C34}"/>
            </a:ext>
          </a:extLst>
        </p:cNvPr>
        <p:cNvGrpSpPr/>
        <p:nvPr/>
      </p:nvGrpSpPr>
      <p:grpSpPr>
        <a:xfrm>
          <a:off x="0" y="0"/>
          <a:ext cx="0" cy="0"/>
          <a:chOff x="0" y="0"/>
          <a:chExt cx="0" cy="0"/>
        </a:xfrm>
      </p:grpSpPr>
      <p:grpSp>
        <p:nvGrpSpPr>
          <p:cNvPr id="19" name="Group 5">
            <a:extLst>
              <a:ext uri="{FF2B5EF4-FFF2-40B4-BE49-F238E27FC236}">
                <a16:creationId xmlns:a16="http://schemas.microsoft.com/office/drawing/2014/main" id="{D3C4F1BE-0399-A068-FFDE-5CC647856308}"/>
              </a:ext>
            </a:extLst>
          </p:cNvPr>
          <p:cNvGrpSpPr/>
          <p:nvPr/>
        </p:nvGrpSpPr>
        <p:grpSpPr>
          <a:xfrm>
            <a:off x="18088875" y="-137537"/>
            <a:ext cx="1273129" cy="10562074"/>
            <a:chOff x="0" y="0"/>
            <a:chExt cx="335310" cy="2781781"/>
          </a:xfrm>
        </p:grpSpPr>
        <p:sp>
          <p:nvSpPr>
            <p:cNvPr id="20" name="Freeform 6">
              <a:extLst>
                <a:ext uri="{FF2B5EF4-FFF2-40B4-BE49-F238E27FC236}">
                  <a16:creationId xmlns:a16="http://schemas.microsoft.com/office/drawing/2014/main" id="{D93C0512-F61B-4147-64FE-7FF7039EBD10}"/>
                </a:ext>
              </a:extLst>
            </p:cNvPr>
            <p:cNvSpPr/>
            <p:nvPr/>
          </p:nvSpPr>
          <p:spPr>
            <a:xfrm>
              <a:off x="0" y="0"/>
              <a:ext cx="335310" cy="2781781"/>
            </a:xfrm>
            <a:custGeom>
              <a:avLst/>
              <a:gdLst/>
              <a:ahLst/>
              <a:cxnLst/>
              <a:rect l="l" t="t" r="r" b="b"/>
              <a:pathLst>
                <a:path w="335310" h="2781781">
                  <a:moveTo>
                    <a:pt x="0" y="0"/>
                  </a:moveTo>
                  <a:lnTo>
                    <a:pt x="335310" y="0"/>
                  </a:lnTo>
                  <a:lnTo>
                    <a:pt x="335310" y="2781781"/>
                  </a:lnTo>
                  <a:lnTo>
                    <a:pt x="0" y="2781781"/>
                  </a:lnTo>
                  <a:close/>
                </a:path>
              </a:pathLst>
            </a:custGeom>
            <a:solidFill>
              <a:srgbClr val="F5DFDC"/>
            </a:solidFill>
            <a:ln cap="sq">
              <a:noFill/>
              <a:prstDash val="solid"/>
              <a:miter/>
            </a:ln>
          </p:spPr>
          <p:txBody>
            <a:bodyPr/>
            <a:lstStyle/>
            <a:p>
              <a:endParaRPr lang="en-IN"/>
            </a:p>
          </p:txBody>
        </p:sp>
        <p:sp>
          <p:nvSpPr>
            <p:cNvPr id="21" name="TextBox 7">
              <a:extLst>
                <a:ext uri="{FF2B5EF4-FFF2-40B4-BE49-F238E27FC236}">
                  <a16:creationId xmlns:a16="http://schemas.microsoft.com/office/drawing/2014/main" id="{4250E05D-A83F-06B4-186A-C57E61799417}"/>
                </a:ext>
              </a:extLst>
            </p:cNvPr>
            <p:cNvSpPr txBox="1"/>
            <p:nvPr/>
          </p:nvSpPr>
          <p:spPr>
            <a:xfrm>
              <a:off x="0" y="38100"/>
              <a:ext cx="335310" cy="2743681"/>
            </a:xfrm>
            <a:prstGeom prst="rect">
              <a:avLst/>
            </a:prstGeom>
          </p:spPr>
          <p:txBody>
            <a:bodyPr lIns="50800" tIns="50800" rIns="50800" bIns="50800" rtlCol="0" anchor="ctr"/>
            <a:lstStyle/>
            <a:p>
              <a:pPr algn="ctr">
                <a:lnSpc>
                  <a:spcPts val="2100"/>
                </a:lnSpc>
              </a:pPr>
              <a:endParaRPr/>
            </a:p>
          </p:txBody>
        </p:sp>
      </p:grpSp>
      <p:grpSp>
        <p:nvGrpSpPr>
          <p:cNvPr id="16" name="Group 2">
            <a:extLst>
              <a:ext uri="{FF2B5EF4-FFF2-40B4-BE49-F238E27FC236}">
                <a16:creationId xmlns:a16="http://schemas.microsoft.com/office/drawing/2014/main" id="{634D65E6-C175-9630-18EB-CD3B1B330A39}"/>
              </a:ext>
            </a:extLst>
          </p:cNvPr>
          <p:cNvGrpSpPr/>
          <p:nvPr/>
        </p:nvGrpSpPr>
        <p:grpSpPr>
          <a:xfrm>
            <a:off x="-998214" y="24260"/>
            <a:ext cx="1273129" cy="10562074"/>
            <a:chOff x="0" y="0"/>
            <a:chExt cx="335310" cy="2781781"/>
          </a:xfrm>
        </p:grpSpPr>
        <p:sp>
          <p:nvSpPr>
            <p:cNvPr id="17" name="Freeform 3">
              <a:extLst>
                <a:ext uri="{FF2B5EF4-FFF2-40B4-BE49-F238E27FC236}">
                  <a16:creationId xmlns:a16="http://schemas.microsoft.com/office/drawing/2014/main" id="{D6E8A106-A454-1626-77E7-D3176D87682A}"/>
                </a:ext>
              </a:extLst>
            </p:cNvPr>
            <p:cNvSpPr/>
            <p:nvPr/>
          </p:nvSpPr>
          <p:spPr>
            <a:xfrm>
              <a:off x="0" y="0"/>
              <a:ext cx="335310" cy="2781781"/>
            </a:xfrm>
            <a:custGeom>
              <a:avLst/>
              <a:gdLst/>
              <a:ahLst/>
              <a:cxnLst/>
              <a:rect l="l" t="t" r="r" b="b"/>
              <a:pathLst>
                <a:path w="335310" h="2781781">
                  <a:moveTo>
                    <a:pt x="0" y="0"/>
                  </a:moveTo>
                  <a:lnTo>
                    <a:pt x="335310" y="0"/>
                  </a:lnTo>
                  <a:lnTo>
                    <a:pt x="335310" y="2781781"/>
                  </a:lnTo>
                  <a:lnTo>
                    <a:pt x="0" y="2781781"/>
                  </a:lnTo>
                  <a:close/>
                </a:path>
              </a:pathLst>
            </a:custGeom>
            <a:solidFill>
              <a:srgbClr val="F5DFDC"/>
            </a:solidFill>
            <a:ln cap="sq">
              <a:noFill/>
              <a:prstDash val="solid"/>
              <a:miter/>
            </a:ln>
          </p:spPr>
          <p:txBody>
            <a:bodyPr/>
            <a:lstStyle/>
            <a:p>
              <a:endParaRPr lang="en-IN"/>
            </a:p>
          </p:txBody>
        </p:sp>
        <p:sp>
          <p:nvSpPr>
            <p:cNvPr id="18" name="TextBox 4">
              <a:extLst>
                <a:ext uri="{FF2B5EF4-FFF2-40B4-BE49-F238E27FC236}">
                  <a16:creationId xmlns:a16="http://schemas.microsoft.com/office/drawing/2014/main" id="{C0946EB4-2968-88EE-85AE-31F1A13050FB}"/>
                </a:ext>
              </a:extLst>
            </p:cNvPr>
            <p:cNvSpPr txBox="1"/>
            <p:nvPr/>
          </p:nvSpPr>
          <p:spPr>
            <a:xfrm>
              <a:off x="0" y="38100"/>
              <a:ext cx="335310" cy="2743681"/>
            </a:xfrm>
            <a:prstGeom prst="rect">
              <a:avLst/>
            </a:prstGeom>
          </p:spPr>
          <p:txBody>
            <a:bodyPr lIns="50800" tIns="50800" rIns="50800" bIns="50800" rtlCol="0" anchor="ctr"/>
            <a:lstStyle/>
            <a:p>
              <a:pPr algn="ctr">
                <a:lnSpc>
                  <a:spcPts val="2100"/>
                </a:lnSpc>
              </a:pPr>
              <a:endParaRPr/>
            </a:p>
          </p:txBody>
        </p:sp>
      </p:grpSp>
      <p:sp>
        <p:nvSpPr>
          <p:cNvPr id="8" name="Freeform 8">
            <a:extLst>
              <a:ext uri="{FF2B5EF4-FFF2-40B4-BE49-F238E27FC236}">
                <a16:creationId xmlns:a16="http://schemas.microsoft.com/office/drawing/2014/main" id="{3BBE3A85-9DCF-5945-0EDC-3619EC530BC6}"/>
              </a:ext>
            </a:extLst>
          </p:cNvPr>
          <p:cNvSpPr/>
          <p:nvPr/>
        </p:nvSpPr>
        <p:spPr>
          <a:xfrm>
            <a:off x="14706600" y="-202510"/>
            <a:ext cx="4521184" cy="1528982"/>
          </a:xfrm>
          <a:custGeom>
            <a:avLst/>
            <a:gdLst/>
            <a:ahLst/>
            <a:cxnLst/>
            <a:rect l="l" t="t" r="r" b="b"/>
            <a:pathLst>
              <a:path w="4521184" h="1528982">
                <a:moveTo>
                  <a:pt x="0" y="0"/>
                </a:moveTo>
                <a:lnTo>
                  <a:pt x="4521184" y="0"/>
                </a:lnTo>
                <a:lnTo>
                  <a:pt x="4521184" y="1528982"/>
                </a:lnTo>
                <a:lnTo>
                  <a:pt x="0" y="152898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9" name="Freeform 9">
            <a:extLst>
              <a:ext uri="{FF2B5EF4-FFF2-40B4-BE49-F238E27FC236}">
                <a16:creationId xmlns:a16="http://schemas.microsoft.com/office/drawing/2014/main" id="{4E0C946B-3BBD-5B5A-8E42-31F9051E5811}"/>
              </a:ext>
            </a:extLst>
          </p:cNvPr>
          <p:cNvSpPr/>
          <p:nvPr/>
        </p:nvSpPr>
        <p:spPr>
          <a:xfrm flipH="1" flipV="1">
            <a:off x="-1128348" y="8895555"/>
            <a:ext cx="4521184" cy="1528982"/>
          </a:xfrm>
          <a:custGeom>
            <a:avLst/>
            <a:gdLst/>
            <a:ahLst/>
            <a:cxnLst/>
            <a:rect l="l" t="t" r="r" b="b"/>
            <a:pathLst>
              <a:path w="4521184" h="1528982">
                <a:moveTo>
                  <a:pt x="4521184" y="1528982"/>
                </a:moveTo>
                <a:lnTo>
                  <a:pt x="0" y="1528982"/>
                </a:lnTo>
                <a:lnTo>
                  <a:pt x="0" y="0"/>
                </a:lnTo>
                <a:lnTo>
                  <a:pt x="4521184" y="0"/>
                </a:lnTo>
                <a:lnTo>
                  <a:pt x="4521184" y="1528982"/>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10" name="Freeform 10">
            <a:extLst>
              <a:ext uri="{FF2B5EF4-FFF2-40B4-BE49-F238E27FC236}">
                <a16:creationId xmlns:a16="http://schemas.microsoft.com/office/drawing/2014/main" id="{BFDEFD2C-6C34-50FF-D06F-ADED4BE6FB82}"/>
              </a:ext>
            </a:extLst>
          </p:cNvPr>
          <p:cNvSpPr/>
          <p:nvPr/>
        </p:nvSpPr>
        <p:spPr>
          <a:xfrm>
            <a:off x="16459200" y="9182100"/>
            <a:ext cx="2636110" cy="1524151"/>
          </a:xfrm>
          <a:custGeom>
            <a:avLst/>
            <a:gdLst/>
            <a:ahLst/>
            <a:cxnLst/>
            <a:rect l="l" t="t" r="r" b="b"/>
            <a:pathLst>
              <a:path w="2636110" h="1524151">
                <a:moveTo>
                  <a:pt x="0" y="0"/>
                </a:moveTo>
                <a:lnTo>
                  <a:pt x="2636110" y="0"/>
                </a:lnTo>
                <a:lnTo>
                  <a:pt x="2636110" y="1524151"/>
                </a:lnTo>
                <a:lnTo>
                  <a:pt x="0" y="152415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dirty="0"/>
          </a:p>
        </p:txBody>
      </p:sp>
      <p:sp>
        <p:nvSpPr>
          <p:cNvPr id="11" name="Freeform 11">
            <a:extLst>
              <a:ext uri="{FF2B5EF4-FFF2-40B4-BE49-F238E27FC236}">
                <a16:creationId xmlns:a16="http://schemas.microsoft.com/office/drawing/2014/main" id="{3F095362-5F18-E97A-EA51-1EB0C378BB2B}"/>
              </a:ext>
            </a:extLst>
          </p:cNvPr>
          <p:cNvSpPr/>
          <p:nvPr/>
        </p:nvSpPr>
        <p:spPr>
          <a:xfrm flipH="1" flipV="1">
            <a:off x="-762000" y="-428776"/>
            <a:ext cx="2636110" cy="1524151"/>
          </a:xfrm>
          <a:custGeom>
            <a:avLst/>
            <a:gdLst/>
            <a:ahLst/>
            <a:cxnLst/>
            <a:rect l="l" t="t" r="r" b="b"/>
            <a:pathLst>
              <a:path w="2636110" h="1524151">
                <a:moveTo>
                  <a:pt x="2636110" y="1524151"/>
                </a:moveTo>
                <a:lnTo>
                  <a:pt x="0" y="1524151"/>
                </a:lnTo>
                <a:lnTo>
                  <a:pt x="0" y="0"/>
                </a:lnTo>
                <a:lnTo>
                  <a:pt x="2636110" y="0"/>
                </a:lnTo>
                <a:lnTo>
                  <a:pt x="2636110" y="1524151"/>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dirty="0"/>
          </a:p>
        </p:txBody>
      </p:sp>
      <p:sp>
        <p:nvSpPr>
          <p:cNvPr id="24" name="TextBox 23">
            <a:extLst>
              <a:ext uri="{FF2B5EF4-FFF2-40B4-BE49-F238E27FC236}">
                <a16:creationId xmlns:a16="http://schemas.microsoft.com/office/drawing/2014/main" id="{4407F5F6-E7EC-D61A-67C4-58FA1D5A462A}"/>
              </a:ext>
            </a:extLst>
          </p:cNvPr>
          <p:cNvSpPr txBox="1"/>
          <p:nvPr/>
        </p:nvSpPr>
        <p:spPr>
          <a:xfrm>
            <a:off x="1874110" y="2664063"/>
            <a:ext cx="14280290" cy="5206554"/>
          </a:xfrm>
          <a:prstGeom prst="rect">
            <a:avLst/>
          </a:prstGeom>
          <a:noFill/>
        </p:spPr>
        <p:txBody>
          <a:bodyPr wrap="square" rtlCol="0">
            <a:spAutoFit/>
          </a:bodyPr>
          <a:lstStyle/>
          <a:p>
            <a:pPr lvl="2" algn="just">
              <a:spcAft>
                <a:spcPts val="1800"/>
              </a:spcAft>
            </a:pPr>
            <a:r>
              <a:rPr lang="en-US" sz="3600" dirty="0">
                <a:effectLst>
                  <a:outerShdw blurRad="38100" dist="38100" dir="2700000" algn="tl">
                    <a:srgbClr val="000000">
                      <a:alpha val="43137"/>
                    </a:srgbClr>
                  </a:outerShdw>
                </a:effectLst>
              </a:rPr>
              <a:t>CNN Model Performance :</a:t>
            </a:r>
          </a:p>
          <a:p>
            <a:pPr marL="2286000" lvl="4" indent="-457200" algn="just">
              <a:spcAft>
                <a:spcPts val="800"/>
              </a:spcAft>
              <a:buSzPct val="70000"/>
              <a:buFont typeface="Arial" panose="020B0604020202020204" pitchFamily="34" charset="0"/>
              <a:buChar char="•"/>
            </a:pPr>
            <a:r>
              <a:rPr lang="en-US" sz="3100" dirty="0"/>
              <a:t>Training Accuracy: 95.7%</a:t>
            </a:r>
          </a:p>
          <a:p>
            <a:pPr marL="2286000" lvl="4" indent="-457200" algn="just">
              <a:spcAft>
                <a:spcPts val="800"/>
              </a:spcAft>
              <a:buSzPct val="70000"/>
              <a:buFont typeface="Arial" panose="020B0604020202020204" pitchFamily="34" charset="0"/>
              <a:buChar char="•"/>
            </a:pPr>
            <a:r>
              <a:rPr lang="en-US" sz="3100" dirty="0"/>
              <a:t>Validation Accuracy: 89.06%</a:t>
            </a:r>
          </a:p>
          <a:p>
            <a:pPr marL="2286000" lvl="4" indent="-457200" algn="just">
              <a:spcAft>
                <a:spcPts val="800"/>
              </a:spcAft>
              <a:buSzPct val="70000"/>
              <a:buFont typeface="Arial" panose="020B0604020202020204" pitchFamily="34" charset="0"/>
              <a:buChar char="•"/>
            </a:pPr>
            <a:r>
              <a:rPr lang="en-US" sz="3100" dirty="0"/>
              <a:t>Test Accuracy: 89.06%</a:t>
            </a:r>
          </a:p>
          <a:p>
            <a:pPr marL="2286000" lvl="4" indent="-457200" algn="just">
              <a:spcAft>
                <a:spcPts val="800"/>
              </a:spcAft>
              <a:buSzPct val="70000"/>
              <a:buFont typeface="Arial" panose="020B0604020202020204" pitchFamily="34" charset="0"/>
              <a:buChar char="•"/>
            </a:pPr>
            <a:r>
              <a:rPr lang="en-US" sz="3100" dirty="0"/>
              <a:t>Training Time: ~6048 seconds (~100.8 minutes)</a:t>
            </a:r>
          </a:p>
          <a:p>
            <a:pPr marL="2286000" lvl="4" indent="-457200" algn="just">
              <a:spcAft>
                <a:spcPts val="800"/>
              </a:spcAft>
              <a:buSzPct val="70000"/>
              <a:buFont typeface="Arial" panose="020B0604020202020204" pitchFamily="34" charset="0"/>
              <a:buChar char="•"/>
            </a:pPr>
            <a:r>
              <a:rPr lang="en-US" sz="3100" dirty="0"/>
              <a:t>Number of Epochs: 25</a:t>
            </a:r>
          </a:p>
          <a:p>
            <a:pPr marL="1828800" lvl="3" indent="-457200" algn="just">
              <a:spcAft>
                <a:spcPts val="800"/>
              </a:spcAft>
              <a:buFont typeface="Arial" panose="020B0604020202020204" pitchFamily="34" charset="0"/>
              <a:buChar char="•"/>
            </a:pPr>
            <a:r>
              <a:rPr lang="en-US" sz="3100" dirty="0"/>
              <a:t>The model achieves good accuracy, but training time is high. In real-world scenarios with larger datasets, computation increases further, highlighting the need for efficient optimization of convolution operations.</a:t>
            </a:r>
            <a:endParaRPr lang="en-IN" sz="3100" dirty="0"/>
          </a:p>
        </p:txBody>
      </p:sp>
      <p:sp>
        <p:nvSpPr>
          <p:cNvPr id="25" name="TextBox 24">
            <a:extLst>
              <a:ext uri="{FF2B5EF4-FFF2-40B4-BE49-F238E27FC236}">
                <a16:creationId xmlns:a16="http://schemas.microsoft.com/office/drawing/2014/main" id="{90A3F33A-D108-5442-4AFB-885D5BD86E23}"/>
              </a:ext>
            </a:extLst>
          </p:cNvPr>
          <p:cNvSpPr txBox="1"/>
          <p:nvPr/>
        </p:nvSpPr>
        <p:spPr>
          <a:xfrm>
            <a:off x="2400118" y="1294087"/>
            <a:ext cx="6286682" cy="907941"/>
          </a:xfrm>
          <a:prstGeom prst="rect">
            <a:avLst/>
          </a:prstGeom>
          <a:noFill/>
        </p:spPr>
        <p:txBody>
          <a:bodyPr wrap="square" rtlCol="0">
            <a:spAutoFit/>
          </a:bodyPr>
          <a:lstStyle/>
          <a:p>
            <a:r>
              <a:rPr lang="en-IN" sz="5300" dirty="0">
                <a:effectLst>
                  <a:outerShdw blurRad="38100" dist="38100" dir="2700000" algn="tl">
                    <a:srgbClr val="000000">
                      <a:alpha val="43137"/>
                    </a:srgbClr>
                  </a:outerShdw>
                </a:effectLst>
                <a:latin typeface="+mj-lt"/>
              </a:rPr>
              <a:t>Analysis of Results</a:t>
            </a:r>
          </a:p>
        </p:txBody>
      </p:sp>
      <p:sp>
        <p:nvSpPr>
          <p:cNvPr id="12" name="TextBox 11">
            <a:extLst>
              <a:ext uri="{FF2B5EF4-FFF2-40B4-BE49-F238E27FC236}">
                <a16:creationId xmlns:a16="http://schemas.microsoft.com/office/drawing/2014/main" id="{9B6D4D7F-96A6-DF96-484C-32E59792DB49}"/>
              </a:ext>
            </a:extLst>
          </p:cNvPr>
          <p:cNvSpPr txBox="1"/>
          <p:nvPr/>
        </p:nvSpPr>
        <p:spPr>
          <a:xfrm>
            <a:off x="8669121" y="8951267"/>
            <a:ext cx="495649" cy="461665"/>
          </a:xfrm>
          <a:prstGeom prst="rect">
            <a:avLst/>
          </a:prstGeom>
          <a:noFill/>
        </p:spPr>
        <p:txBody>
          <a:bodyPr wrap="none" rtlCol="0">
            <a:spAutoFit/>
          </a:bodyPr>
          <a:lstStyle/>
          <a:p>
            <a:r>
              <a:rPr lang="en-IN" sz="2400" dirty="0">
                <a:solidFill>
                  <a:schemeClr val="tx1">
                    <a:lumMod val="65000"/>
                    <a:lumOff val="35000"/>
                  </a:schemeClr>
                </a:solidFill>
              </a:rPr>
              <a:t>20</a:t>
            </a:r>
          </a:p>
        </p:txBody>
      </p:sp>
    </p:spTree>
    <p:extLst>
      <p:ext uri="{BB962C8B-B14F-4D97-AF65-F5344CB8AC3E}">
        <p14:creationId xmlns:p14="http://schemas.microsoft.com/office/powerpoint/2010/main" val="87297675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7F22FB-6C8E-B3B4-A4A5-9BA8914B4F1F}"/>
            </a:ext>
          </a:extLst>
        </p:cNvPr>
        <p:cNvGrpSpPr/>
        <p:nvPr/>
      </p:nvGrpSpPr>
      <p:grpSpPr>
        <a:xfrm>
          <a:off x="0" y="0"/>
          <a:ext cx="0" cy="0"/>
          <a:chOff x="0" y="0"/>
          <a:chExt cx="0" cy="0"/>
        </a:xfrm>
      </p:grpSpPr>
      <p:grpSp>
        <p:nvGrpSpPr>
          <p:cNvPr id="19" name="Group 5">
            <a:extLst>
              <a:ext uri="{FF2B5EF4-FFF2-40B4-BE49-F238E27FC236}">
                <a16:creationId xmlns:a16="http://schemas.microsoft.com/office/drawing/2014/main" id="{7D0E4D9B-9532-A395-E735-6FE7AF757926}"/>
              </a:ext>
            </a:extLst>
          </p:cNvPr>
          <p:cNvGrpSpPr/>
          <p:nvPr/>
        </p:nvGrpSpPr>
        <p:grpSpPr>
          <a:xfrm>
            <a:off x="18088875" y="-137537"/>
            <a:ext cx="1273129" cy="10562074"/>
            <a:chOff x="0" y="0"/>
            <a:chExt cx="335310" cy="2781781"/>
          </a:xfrm>
        </p:grpSpPr>
        <p:sp>
          <p:nvSpPr>
            <p:cNvPr id="20" name="Freeform 6">
              <a:extLst>
                <a:ext uri="{FF2B5EF4-FFF2-40B4-BE49-F238E27FC236}">
                  <a16:creationId xmlns:a16="http://schemas.microsoft.com/office/drawing/2014/main" id="{EA85307E-0017-7E83-CB98-AB977DF7A751}"/>
                </a:ext>
              </a:extLst>
            </p:cNvPr>
            <p:cNvSpPr/>
            <p:nvPr/>
          </p:nvSpPr>
          <p:spPr>
            <a:xfrm>
              <a:off x="0" y="0"/>
              <a:ext cx="335310" cy="2781781"/>
            </a:xfrm>
            <a:custGeom>
              <a:avLst/>
              <a:gdLst/>
              <a:ahLst/>
              <a:cxnLst/>
              <a:rect l="l" t="t" r="r" b="b"/>
              <a:pathLst>
                <a:path w="335310" h="2781781">
                  <a:moveTo>
                    <a:pt x="0" y="0"/>
                  </a:moveTo>
                  <a:lnTo>
                    <a:pt x="335310" y="0"/>
                  </a:lnTo>
                  <a:lnTo>
                    <a:pt x="335310" y="2781781"/>
                  </a:lnTo>
                  <a:lnTo>
                    <a:pt x="0" y="2781781"/>
                  </a:lnTo>
                  <a:close/>
                </a:path>
              </a:pathLst>
            </a:custGeom>
            <a:solidFill>
              <a:srgbClr val="F5DFDC"/>
            </a:solidFill>
            <a:ln cap="sq">
              <a:noFill/>
              <a:prstDash val="solid"/>
              <a:miter/>
            </a:ln>
          </p:spPr>
          <p:txBody>
            <a:bodyPr/>
            <a:lstStyle/>
            <a:p>
              <a:endParaRPr lang="en-IN"/>
            </a:p>
          </p:txBody>
        </p:sp>
        <p:sp>
          <p:nvSpPr>
            <p:cNvPr id="21" name="TextBox 7">
              <a:extLst>
                <a:ext uri="{FF2B5EF4-FFF2-40B4-BE49-F238E27FC236}">
                  <a16:creationId xmlns:a16="http://schemas.microsoft.com/office/drawing/2014/main" id="{B8486EF4-B5F7-10F6-2CB8-0A01EE8707D0}"/>
                </a:ext>
              </a:extLst>
            </p:cNvPr>
            <p:cNvSpPr txBox="1"/>
            <p:nvPr/>
          </p:nvSpPr>
          <p:spPr>
            <a:xfrm>
              <a:off x="0" y="38100"/>
              <a:ext cx="335310" cy="2743681"/>
            </a:xfrm>
            <a:prstGeom prst="rect">
              <a:avLst/>
            </a:prstGeom>
          </p:spPr>
          <p:txBody>
            <a:bodyPr lIns="50800" tIns="50800" rIns="50800" bIns="50800" rtlCol="0" anchor="ctr"/>
            <a:lstStyle/>
            <a:p>
              <a:pPr algn="ctr">
                <a:lnSpc>
                  <a:spcPts val="2100"/>
                </a:lnSpc>
              </a:pPr>
              <a:endParaRPr/>
            </a:p>
          </p:txBody>
        </p:sp>
      </p:grpSp>
      <p:grpSp>
        <p:nvGrpSpPr>
          <p:cNvPr id="16" name="Group 2">
            <a:extLst>
              <a:ext uri="{FF2B5EF4-FFF2-40B4-BE49-F238E27FC236}">
                <a16:creationId xmlns:a16="http://schemas.microsoft.com/office/drawing/2014/main" id="{F2C08F2E-B734-6B6A-C696-4EDE71A19BDF}"/>
              </a:ext>
            </a:extLst>
          </p:cNvPr>
          <p:cNvGrpSpPr/>
          <p:nvPr/>
        </p:nvGrpSpPr>
        <p:grpSpPr>
          <a:xfrm>
            <a:off x="-998214" y="24260"/>
            <a:ext cx="1273129" cy="10562074"/>
            <a:chOff x="0" y="0"/>
            <a:chExt cx="335310" cy="2781781"/>
          </a:xfrm>
        </p:grpSpPr>
        <p:sp>
          <p:nvSpPr>
            <p:cNvPr id="17" name="Freeform 3">
              <a:extLst>
                <a:ext uri="{FF2B5EF4-FFF2-40B4-BE49-F238E27FC236}">
                  <a16:creationId xmlns:a16="http://schemas.microsoft.com/office/drawing/2014/main" id="{7980D012-858A-EFD4-CCA7-CBC0C44F600D}"/>
                </a:ext>
              </a:extLst>
            </p:cNvPr>
            <p:cNvSpPr/>
            <p:nvPr/>
          </p:nvSpPr>
          <p:spPr>
            <a:xfrm>
              <a:off x="0" y="0"/>
              <a:ext cx="335310" cy="2781781"/>
            </a:xfrm>
            <a:custGeom>
              <a:avLst/>
              <a:gdLst/>
              <a:ahLst/>
              <a:cxnLst/>
              <a:rect l="l" t="t" r="r" b="b"/>
              <a:pathLst>
                <a:path w="335310" h="2781781">
                  <a:moveTo>
                    <a:pt x="0" y="0"/>
                  </a:moveTo>
                  <a:lnTo>
                    <a:pt x="335310" y="0"/>
                  </a:lnTo>
                  <a:lnTo>
                    <a:pt x="335310" y="2781781"/>
                  </a:lnTo>
                  <a:lnTo>
                    <a:pt x="0" y="2781781"/>
                  </a:lnTo>
                  <a:close/>
                </a:path>
              </a:pathLst>
            </a:custGeom>
            <a:solidFill>
              <a:srgbClr val="F5DFDC"/>
            </a:solidFill>
            <a:ln cap="sq">
              <a:noFill/>
              <a:prstDash val="solid"/>
              <a:miter/>
            </a:ln>
          </p:spPr>
          <p:txBody>
            <a:bodyPr/>
            <a:lstStyle/>
            <a:p>
              <a:endParaRPr lang="en-IN"/>
            </a:p>
          </p:txBody>
        </p:sp>
        <p:sp>
          <p:nvSpPr>
            <p:cNvPr id="18" name="TextBox 4">
              <a:extLst>
                <a:ext uri="{FF2B5EF4-FFF2-40B4-BE49-F238E27FC236}">
                  <a16:creationId xmlns:a16="http://schemas.microsoft.com/office/drawing/2014/main" id="{549BB7B3-1DAB-E1A5-7E38-7CB6449D36E8}"/>
                </a:ext>
              </a:extLst>
            </p:cNvPr>
            <p:cNvSpPr txBox="1"/>
            <p:nvPr/>
          </p:nvSpPr>
          <p:spPr>
            <a:xfrm>
              <a:off x="0" y="38100"/>
              <a:ext cx="335310" cy="2743681"/>
            </a:xfrm>
            <a:prstGeom prst="rect">
              <a:avLst/>
            </a:prstGeom>
          </p:spPr>
          <p:txBody>
            <a:bodyPr lIns="50800" tIns="50800" rIns="50800" bIns="50800" rtlCol="0" anchor="ctr"/>
            <a:lstStyle/>
            <a:p>
              <a:pPr algn="ctr">
                <a:lnSpc>
                  <a:spcPts val="2100"/>
                </a:lnSpc>
              </a:pPr>
              <a:endParaRPr/>
            </a:p>
          </p:txBody>
        </p:sp>
      </p:grpSp>
      <p:sp>
        <p:nvSpPr>
          <p:cNvPr id="8" name="Freeform 8">
            <a:extLst>
              <a:ext uri="{FF2B5EF4-FFF2-40B4-BE49-F238E27FC236}">
                <a16:creationId xmlns:a16="http://schemas.microsoft.com/office/drawing/2014/main" id="{1E4DF997-F3C6-2050-E0E8-D711A9DE7AAB}"/>
              </a:ext>
            </a:extLst>
          </p:cNvPr>
          <p:cNvSpPr/>
          <p:nvPr/>
        </p:nvSpPr>
        <p:spPr>
          <a:xfrm>
            <a:off x="14706600" y="-202510"/>
            <a:ext cx="4521184" cy="1528982"/>
          </a:xfrm>
          <a:custGeom>
            <a:avLst/>
            <a:gdLst/>
            <a:ahLst/>
            <a:cxnLst/>
            <a:rect l="l" t="t" r="r" b="b"/>
            <a:pathLst>
              <a:path w="4521184" h="1528982">
                <a:moveTo>
                  <a:pt x="0" y="0"/>
                </a:moveTo>
                <a:lnTo>
                  <a:pt x="4521184" y="0"/>
                </a:lnTo>
                <a:lnTo>
                  <a:pt x="4521184" y="1528982"/>
                </a:lnTo>
                <a:lnTo>
                  <a:pt x="0" y="152898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9" name="Freeform 9">
            <a:extLst>
              <a:ext uri="{FF2B5EF4-FFF2-40B4-BE49-F238E27FC236}">
                <a16:creationId xmlns:a16="http://schemas.microsoft.com/office/drawing/2014/main" id="{10CDAF75-2BEA-F853-6EFF-3CAD28E56B1D}"/>
              </a:ext>
            </a:extLst>
          </p:cNvPr>
          <p:cNvSpPr/>
          <p:nvPr/>
        </p:nvSpPr>
        <p:spPr>
          <a:xfrm flipH="1" flipV="1">
            <a:off x="-1128348" y="8895555"/>
            <a:ext cx="4521184" cy="1528982"/>
          </a:xfrm>
          <a:custGeom>
            <a:avLst/>
            <a:gdLst/>
            <a:ahLst/>
            <a:cxnLst/>
            <a:rect l="l" t="t" r="r" b="b"/>
            <a:pathLst>
              <a:path w="4521184" h="1528982">
                <a:moveTo>
                  <a:pt x="4521184" y="1528982"/>
                </a:moveTo>
                <a:lnTo>
                  <a:pt x="0" y="1528982"/>
                </a:lnTo>
                <a:lnTo>
                  <a:pt x="0" y="0"/>
                </a:lnTo>
                <a:lnTo>
                  <a:pt x="4521184" y="0"/>
                </a:lnTo>
                <a:lnTo>
                  <a:pt x="4521184" y="1528982"/>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10" name="Freeform 10">
            <a:extLst>
              <a:ext uri="{FF2B5EF4-FFF2-40B4-BE49-F238E27FC236}">
                <a16:creationId xmlns:a16="http://schemas.microsoft.com/office/drawing/2014/main" id="{4DCAFDBD-556C-B57C-CF0A-B1D0DA9D70F7}"/>
              </a:ext>
            </a:extLst>
          </p:cNvPr>
          <p:cNvSpPr/>
          <p:nvPr/>
        </p:nvSpPr>
        <p:spPr>
          <a:xfrm>
            <a:off x="16459200" y="9182100"/>
            <a:ext cx="2636110" cy="1524151"/>
          </a:xfrm>
          <a:custGeom>
            <a:avLst/>
            <a:gdLst/>
            <a:ahLst/>
            <a:cxnLst/>
            <a:rect l="l" t="t" r="r" b="b"/>
            <a:pathLst>
              <a:path w="2636110" h="1524151">
                <a:moveTo>
                  <a:pt x="0" y="0"/>
                </a:moveTo>
                <a:lnTo>
                  <a:pt x="2636110" y="0"/>
                </a:lnTo>
                <a:lnTo>
                  <a:pt x="2636110" y="1524151"/>
                </a:lnTo>
                <a:lnTo>
                  <a:pt x="0" y="152415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dirty="0"/>
          </a:p>
        </p:txBody>
      </p:sp>
      <p:sp>
        <p:nvSpPr>
          <p:cNvPr id="11" name="Freeform 11">
            <a:extLst>
              <a:ext uri="{FF2B5EF4-FFF2-40B4-BE49-F238E27FC236}">
                <a16:creationId xmlns:a16="http://schemas.microsoft.com/office/drawing/2014/main" id="{E47B5F26-D3C7-3D40-1AB5-5CB5D438A72F}"/>
              </a:ext>
            </a:extLst>
          </p:cNvPr>
          <p:cNvSpPr/>
          <p:nvPr/>
        </p:nvSpPr>
        <p:spPr>
          <a:xfrm flipH="1" flipV="1">
            <a:off x="-762000" y="-428776"/>
            <a:ext cx="2636110" cy="1524151"/>
          </a:xfrm>
          <a:custGeom>
            <a:avLst/>
            <a:gdLst/>
            <a:ahLst/>
            <a:cxnLst/>
            <a:rect l="l" t="t" r="r" b="b"/>
            <a:pathLst>
              <a:path w="2636110" h="1524151">
                <a:moveTo>
                  <a:pt x="2636110" y="1524151"/>
                </a:moveTo>
                <a:lnTo>
                  <a:pt x="0" y="1524151"/>
                </a:lnTo>
                <a:lnTo>
                  <a:pt x="0" y="0"/>
                </a:lnTo>
                <a:lnTo>
                  <a:pt x="2636110" y="0"/>
                </a:lnTo>
                <a:lnTo>
                  <a:pt x="2636110" y="1524151"/>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dirty="0"/>
          </a:p>
        </p:txBody>
      </p:sp>
      <p:sp>
        <p:nvSpPr>
          <p:cNvPr id="7" name="TextBox 6">
            <a:extLst>
              <a:ext uri="{FF2B5EF4-FFF2-40B4-BE49-F238E27FC236}">
                <a16:creationId xmlns:a16="http://schemas.microsoft.com/office/drawing/2014/main" id="{47CE0AE7-5524-B560-9FCE-50E79A8B2633}"/>
              </a:ext>
            </a:extLst>
          </p:cNvPr>
          <p:cNvSpPr txBox="1"/>
          <p:nvPr/>
        </p:nvSpPr>
        <p:spPr>
          <a:xfrm>
            <a:off x="8669121" y="8951267"/>
            <a:ext cx="495649" cy="461665"/>
          </a:xfrm>
          <a:prstGeom prst="rect">
            <a:avLst/>
          </a:prstGeom>
          <a:noFill/>
        </p:spPr>
        <p:txBody>
          <a:bodyPr wrap="none" rtlCol="0">
            <a:spAutoFit/>
          </a:bodyPr>
          <a:lstStyle/>
          <a:p>
            <a:r>
              <a:rPr lang="en-IN" sz="2400" dirty="0">
                <a:solidFill>
                  <a:schemeClr val="tx1">
                    <a:lumMod val="65000"/>
                    <a:lumOff val="35000"/>
                  </a:schemeClr>
                </a:solidFill>
              </a:rPr>
              <a:t>21</a:t>
            </a:r>
          </a:p>
        </p:txBody>
      </p:sp>
      <p:pic>
        <p:nvPicPr>
          <p:cNvPr id="5" name="Picture 4">
            <a:extLst>
              <a:ext uri="{FF2B5EF4-FFF2-40B4-BE49-F238E27FC236}">
                <a16:creationId xmlns:a16="http://schemas.microsoft.com/office/drawing/2014/main" id="{5C1B755E-0BDD-4F41-E831-62F966ABB5FA}"/>
              </a:ext>
            </a:extLst>
          </p:cNvPr>
          <p:cNvPicPr>
            <a:picLocks noChangeAspect="1"/>
          </p:cNvPicPr>
          <p:nvPr/>
        </p:nvPicPr>
        <p:blipFill>
          <a:blip r:embed="rId6">
            <a:extLst>
              <a:ext uri="{28A0092B-C50C-407E-A947-70E740481C1C}">
                <a14:useLocalDpi xmlns:a14="http://schemas.microsoft.com/office/drawing/2010/main" val="0"/>
              </a:ext>
            </a:extLst>
          </a:blip>
          <a:srcRect l="52777"/>
          <a:stretch>
            <a:fillRect/>
          </a:stretch>
        </p:blipFill>
        <p:spPr>
          <a:xfrm>
            <a:off x="12496799" y="2149964"/>
            <a:ext cx="4725191" cy="3140547"/>
          </a:xfrm>
          <a:prstGeom prst="rect">
            <a:avLst/>
          </a:prstGeom>
        </p:spPr>
      </p:pic>
      <p:pic>
        <p:nvPicPr>
          <p:cNvPr id="13" name="Picture 12">
            <a:extLst>
              <a:ext uri="{FF2B5EF4-FFF2-40B4-BE49-F238E27FC236}">
                <a16:creationId xmlns:a16="http://schemas.microsoft.com/office/drawing/2014/main" id="{6221157D-6248-8EC0-8F9C-03909F39AFA3}"/>
              </a:ext>
            </a:extLst>
          </p:cNvPr>
          <p:cNvPicPr>
            <a:picLocks noChangeAspect="1"/>
          </p:cNvPicPr>
          <p:nvPr/>
        </p:nvPicPr>
        <p:blipFill>
          <a:blip r:embed="rId7">
            <a:extLst>
              <a:ext uri="{28A0092B-C50C-407E-A947-70E740481C1C}">
                <a14:useLocalDpi xmlns:a14="http://schemas.microsoft.com/office/drawing/2010/main" val="0"/>
              </a:ext>
            </a:extLst>
          </a:blip>
          <a:srcRect l="52777"/>
          <a:stretch>
            <a:fillRect/>
          </a:stretch>
        </p:blipFill>
        <p:spPr>
          <a:xfrm>
            <a:off x="7581504" y="2247900"/>
            <a:ext cx="4725191" cy="3042611"/>
          </a:xfrm>
          <a:prstGeom prst="rect">
            <a:avLst/>
          </a:prstGeom>
        </p:spPr>
      </p:pic>
      <p:pic>
        <p:nvPicPr>
          <p:cNvPr id="22" name="Picture 21">
            <a:extLst>
              <a:ext uri="{FF2B5EF4-FFF2-40B4-BE49-F238E27FC236}">
                <a16:creationId xmlns:a16="http://schemas.microsoft.com/office/drawing/2014/main" id="{A97B28DC-B46E-6CCC-F2A2-83B9A5CC9B96}"/>
              </a:ext>
            </a:extLst>
          </p:cNvPr>
          <p:cNvPicPr>
            <a:picLocks noChangeAspect="1"/>
          </p:cNvPicPr>
          <p:nvPr/>
        </p:nvPicPr>
        <p:blipFill>
          <a:blip r:embed="rId8">
            <a:extLst>
              <a:ext uri="{28A0092B-C50C-407E-A947-70E740481C1C}">
                <a14:useLocalDpi xmlns:a14="http://schemas.microsoft.com/office/drawing/2010/main" val="0"/>
              </a:ext>
            </a:extLst>
          </a:blip>
          <a:srcRect l="52083"/>
          <a:stretch>
            <a:fillRect/>
          </a:stretch>
        </p:blipFill>
        <p:spPr>
          <a:xfrm>
            <a:off x="7581503" y="5305297"/>
            <a:ext cx="4725191" cy="3358189"/>
          </a:xfrm>
          <a:prstGeom prst="rect">
            <a:avLst/>
          </a:prstGeom>
        </p:spPr>
      </p:pic>
      <p:pic>
        <p:nvPicPr>
          <p:cNvPr id="25" name="Picture 24">
            <a:extLst>
              <a:ext uri="{FF2B5EF4-FFF2-40B4-BE49-F238E27FC236}">
                <a16:creationId xmlns:a16="http://schemas.microsoft.com/office/drawing/2014/main" id="{5E528790-1E40-1E7D-23D8-D74AB89BE2F6}"/>
              </a:ext>
            </a:extLst>
          </p:cNvPr>
          <p:cNvPicPr>
            <a:picLocks noChangeAspect="1"/>
          </p:cNvPicPr>
          <p:nvPr/>
        </p:nvPicPr>
        <p:blipFill>
          <a:blip r:embed="rId9">
            <a:extLst>
              <a:ext uri="{28A0092B-C50C-407E-A947-70E740481C1C}">
                <a14:useLocalDpi xmlns:a14="http://schemas.microsoft.com/office/drawing/2010/main" val="0"/>
              </a:ext>
            </a:extLst>
          </a:blip>
          <a:srcRect l="52083"/>
          <a:stretch>
            <a:fillRect/>
          </a:stretch>
        </p:blipFill>
        <p:spPr>
          <a:xfrm>
            <a:off x="12344399" y="5339527"/>
            <a:ext cx="4877592" cy="3309173"/>
          </a:xfrm>
          <a:prstGeom prst="rect">
            <a:avLst/>
          </a:prstGeom>
        </p:spPr>
      </p:pic>
      <p:sp>
        <p:nvSpPr>
          <p:cNvPr id="27" name="TextBox 26">
            <a:extLst>
              <a:ext uri="{FF2B5EF4-FFF2-40B4-BE49-F238E27FC236}">
                <a16:creationId xmlns:a16="http://schemas.microsoft.com/office/drawing/2014/main" id="{04E817B3-E2BA-84C7-AF43-B77562F71562}"/>
              </a:ext>
            </a:extLst>
          </p:cNvPr>
          <p:cNvSpPr txBox="1"/>
          <p:nvPr/>
        </p:nvSpPr>
        <p:spPr>
          <a:xfrm>
            <a:off x="1326274" y="1240844"/>
            <a:ext cx="10241280" cy="584775"/>
          </a:xfrm>
          <a:prstGeom prst="rect">
            <a:avLst/>
          </a:prstGeom>
          <a:noFill/>
        </p:spPr>
        <p:txBody>
          <a:bodyPr wrap="square">
            <a:spAutoFit/>
          </a:bodyPr>
          <a:lstStyle/>
          <a:p>
            <a:r>
              <a:rPr lang="en-IN" sz="3200" dirty="0">
                <a:effectLst>
                  <a:outerShdw blurRad="38100" dist="38100" dir="2700000" algn="tl">
                    <a:srgbClr val="000000">
                      <a:alpha val="43137"/>
                    </a:srgbClr>
                  </a:outerShdw>
                </a:effectLst>
              </a:rPr>
              <a:t>Convolution Optimization using OpenMP (Collapse)</a:t>
            </a:r>
          </a:p>
        </p:txBody>
      </p:sp>
      <p:sp>
        <p:nvSpPr>
          <p:cNvPr id="29" name="TextBox 28">
            <a:extLst>
              <a:ext uri="{FF2B5EF4-FFF2-40B4-BE49-F238E27FC236}">
                <a16:creationId xmlns:a16="http://schemas.microsoft.com/office/drawing/2014/main" id="{B3C707F0-8A7F-D737-D5E2-0175E8D96A49}"/>
              </a:ext>
            </a:extLst>
          </p:cNvPr>
          <p:cNvSpPr txBox="1"/>
          <p:nvPr/>
        </p:nvSpPr>
        <p:spPr>
          <a:xfrm>
            <a:off x="1326274" y="2355942"/>
            <a:ext cx="6065125" cy="6278642"/>
          </a:xfrm>
          <a:prstGeom prst="rect">
            <a:avLst/>
          </a:prstGeom>
          <a:noFill/>
        </p:spPr>
        <p:txBody>
          <a:bodyPr wrap="square">
            <a:spAutoFit/>
          </a:bodyPr>
          <a:lstStyle/>
          <a:p>
            <a:pPr marL="457200" indent="-457200" algn="just">
              <a:spcAft>
                <a:spcPts val="1200"/>
              </a:spcAft>
              <a:buFont typeface="Arial" panose="020B0604020202020204" pitchFamily="34" charset="0"/>
              <a:buChar char="•"/>
            </a:pPr>
            <a:r>
              <a:rPr lang="en-IN" sz="2600" dirty="0"/>
              <a:t>Experiments are conducted using image sizes (128, 256, 512, 1024), filters (32, 64, 128, 512), threads (1, 2, 4, 8, 12), and for scheduling, chunk sizes (2, 4, 8, 16, 32) with static, dynamic, and guided methods.</a:t>
            </a:r>
          </a:p>
          <a:p>
            <a:pPr marL="457200" indent="-457200">
              <a:spcAft>
                <a:spcPts val="1200"/>
              </a:spcAft>
              <a:buFont typeface="Arial" panose="020B0604020202020204" pitchFamily="34" charset="0"/>
              <a:buChar char="•"/>
            </a:pPr>
            <a:r>
              <a:rPr lang="en-IN" sz="2700" dirty="0"/>
              <a:t>With size = 256, filters = 64, and threads = 8 fixed, execution time is compared across different convolution methods.</a:t>
            </a:r>
          </a:p>
          <a:p>
            <a:pPr marL="457200" indent="-457200">
              <a:spcAft>
                <a:spcPts val="1200"/>
              </a:spcAft>
              <a:buFont typeface="Arial" panose="020B0604020202020204" pitchFamily="34" charset="0"/>
              <a:buChar char="•"/>
            </a:pPr>
            <a:r>
              <a:rPr lang="en-IN" sz="2700" dirty="0"/>
              <a:t>Execution time increases with image size and number of filters.</a:t>
            </a:r>
          </a:p>
          <a:p>
            <a:pPr marL="457200" indent="-457200">
              <a:spcAft>
                <a:spcPts val="1200"/>
              </a:spcAft>
              <a:buFont typeface="Arial" panose="020B0604020202020204" pitchFamily="34" charset="0"/>
              <a:buChar char="•"/>
            </a:pPr>
            <a:r>
              <a:rPr lang="en-IN" sz="2700" dirty="0"/>
              <a:t>At Thread = 8, execution time is significantly lower than Thread = 1.</a:t>
            </a:r>
          </a:p>
        </p:txBody>
      </p:sp>
    </p:spTree>
    <p:extLst>
      <p:ext uri="{BB962C8B-B14F-4D97-AF65-F5344CB8AC3E}">
        <p14:creationId xmlns:p14="http://schemas.microsoft.com/office/powerpoint/2010/main" val="186759626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5FE9D9-0D89-59F7-D8AA-9419C6737408}"/>
            </a:ext>
          </a:extLst>
        </p:cNvPr>
        <p:cNvGrpSpPr/>
        <p:nvPr/>
      </p:nvGrpSpPr>
      <p:grpSpPr>
        <a:xfrm>
          <a:off x="0" y="0"/>
          <a:ext cx="0" cy="0"/>
          <a:chOff x="0" y="0"/>
          <a:chExt cx="0" cy="0"/>
        </a:xfrm>
      </p:grpSpPr>
      <p:grpSp>
        <p:nvGrpSpPr>
          <p:cNvPr id="19" name="Group 5">
            <a:extLst>
              <a:ext uri="{FF2B5EF4-FFF2-40B4-BE49-F238E27FC236}">
                <a16:creationId xmlns:a16="http://schemas.microsoft.com/office/drawing/2014/main" id="{805A1633-B839-A359-F6B7-5107FE35D4AB}"/>
              </a:ext>
            </a:extLst>
          </p:cNvPr>
          <p:cNvGrpSpPr/>
          <p:nvPr/>
        </p:nvGrpSpPr>
        <p:grpSpPr>
          <a:xfrm>
            <a:off x="18088875" y="-137537"/>
            <a:ext cx="1273129" cy="10562074"/>
            <a:chOff x="0" y="0"/>
            <a:chExt cx="335310" cy="2781781"/>
          </a:xfrm>
        </p:grpSpPr>
        <p:sp>
          <p:nvSpPr>
            <p:cNvPr id="20" name="Freeform 6">
              <a:extLst>
                <a:ext uri="{FF2B5EF4-FFF2-40B4-BE49-F238E27FC236}">
                  <a16:creationId xmlns:a16="http://schemas.microsoft.com/office/drawing/2014/main" id="{04F24497-BA71-2D48-07A7-7209F3E7BD8E}"/>
                </a:ext>
              </a:extLst>
            </p:cNvPr>
            <p:cNvSpPr/>
            <p:nvPr/>
          </p:nvSpPr>
          <p:spPr>
            <a:xfrm>
              <a:off x="0" y="0"/>
              <a:ext cx="335310" cy="2781781"/>
            </a:xfrm>
            <a:custGeom>
              <a:avLst/>
              <a:gdLst/>
              <a:ahLst/>
              <a:cxnLst/>
              <a:rect l="l" t="t" r="r" b="b"/>
              <a:pathLst>
                <a:path w="335310" h="2781781">
                  <a:moveTo>
                    <a:pt x="0" y="0"/>
                  </a:moveTo>
                  <a:lnTo>
                    <a:pt x="335310" y="0"/>
                  </a:lnTo>
                  <a:lnTo>
                    <a:pt x="335310" y="2781781"/>
                  </a:lnTo>
                  <a:lnTo>
                    <a:pt x="0" y="2781781"/>
                  </a:lnTo>
                  <a:close/>
                </a:path>
              </a:pathLst>
            </a:custGeom>
            <a:solidFill>
              <a:srgbClr val="F5DFDC"/>
            </a:solidFill>
            <a:ln cap="sq">
              <a:noFill/>
              <a:prstDash val="solid"/>
              <a:miter/>
            </a:ln>
          </p:spPr>
          <p:txBody>
            <a:bodyPr/>
            <a:lstStyle/>
            <a:p>
              <a:endParaRPr lang="en-IN"/>
            </a:p>
          </p:txBody>
        </p:sp>
        <p:sp>
          <p:nvSpPr>
            <p:cNvPr id="21" name="TextBox 7">
              <a:extLst>
                <a:ext uri="{FF2B5EF4-FFF2-40B4-BE49-F238E27FC236}">
                  <a16:creationId xmlns:a16="http://schemas.microsoft.com/office/drawing/2014/main" id="{5784ECAF-28AC-2BD7-5696-698CE31B2F4E}"/>
                </a:ext>
              </a:extLst>
            </p:cNvPr>
            <p:cNvSpPr txBox="1"/>
            <p:nvPr/>
          </p:nvSpPr>
          <p:spPr>
            <a:xfrm>
              <a:off x="0" y="38100"/>
              <a:ext cx="335310" cy="2743681"/>
            </a:xfrm>
            <a:prstGeom prst="rect">
              <a:avLst/>
            </a:prstGeom>
          </p:spPr>
          <p:txBody>
            <a:bodyPr lIns="50800" tIns="50800" rIns="50800" bIns="50800" rtlCol="0" anchor="ctr"/>
            <a:lstStyle/>
            <a:p>
              <a:pPr algn="ctr">
                <a:lnSpc>
                  <a:spcPts val="2100"/>
                </a:lnSpc>
              </a:pPr>
              <a:endParaRPr/>
            </a:p>
          </p:txBody>
        </p:sp>
      </p:grpSp>
      <p:grpSp>
        <p:nvGrpSpPr>
          <p:cNvPr id="16" name="Group 2">
            <a:extLst>
              <a:ext uri="{FF2B5EF4-FFF2-40B4-BE49-F238E27FC236}">
                <a16:creationId xmlns:a16="http://schemas.microsoft.com/office/drawing/2014/main" id="{D44AAED7-6319-0156-991E-48E1C7C9C3BC}"/>
              </a:ext>
            </a:extLst>
          </p:cNvPr>
          <p:cNvGrpSpPr/>
          <p:nvPr/>
        </p:nvGrpSpPr>
        <p:grpSpPr>
          <a:xfrm>
            <a:off x="-998214" y="24260"/>
            <a:ext cx="1273129" cy="10562074"/>
            <a:chOff x="0" y="0"/>
            <a:chExt cx="335310" cy="2781781"/>
          </a:xfrm>
        </p:grpSpPr>
        <p:sp>
          <p:nvSpPr>
            <p:cNvPr id="17" name="Freeform 3">
              <a:extLst>
                <a:ext uri="{FF2B5EF4-FFF2-40B4-BE49-F238E27FC236}">
                  <a16:creationId xmlns:a16="http://schemas.microsoft.com/office/drawing/2014/main" id="{B383E7A4-B755-9D40-3FE6-1408226DDFB2}"/>
                </a:ext>
              </a:extLst>
            </p:cNvPr>
            <p:cNvSpPr/>
            <p:nvPr/>
          </p:nvSpPr>
          <p:spPr>
            <a:xfrm>
              <a:off x="0" y="0"/>
              <a:ext cx="335310" cy="2781781"/>
            </a:xfrm>
            <a:custGeom>
              <a:avLst/>
              <a:gdLst/>
              <a:ahLst/>
              <a:cxnLst/>
              <a:rect l="l" t="t" r="r" b="b"/>
              <a:pathLst>
                <a:path w="335310" h="2781781">
                  <a:moveTo>
                    <a:pt x="0" y="0"/>
                  </a:moveTo>
                  <a:lnTo>
                    <a:pt x="335310" y="0"/>
                  </a:lnTo>
                  <a:lnTo>
                    <a:pt x="335310" y="2781781"/>
                  </a:lnTo>
                  <a:lnTo>
                    <a:pt x="0" y="2781781"/>
                  </a:lnTo>
                  <a:close/>
                </a:path>
              </a:pathLst>
            </a:custGeom>
            <a:solidFill>
              <a:srgbClr val="F5DFDC"/>
            </a:solidFill>
            <a:ln cap="sq">
              <a:noFill/>
              <a:prstDash val="solid"/>
              <a:miter/>
            </a:ln>
          </p:spPr>
          <p:txBody>
            <a:bodyPr/>
            <a:lstStyle/>
            <a:p>
              <a:endParaRPr lang="en-IN"/>
            </a:p>
          </p:txBody>
        </p:sp>
        <p:sp>
          <p:nvSpPr>
            <p:cNvPr id="18" name="TextBox 4">
              <a:extLst>
                <a:ext uri="{FF2B5EF4-FFF2-40B4-BE49-F238E27FC236}">
                  <a16:creationId xmlns:a16="http://schemas.microsoft.com/office/drawing/2014/main" id="{8B291C8A-019C-E00E-1331-F8CEFF9C9E4B}"/>
                </a:ext>
              </a:extLst>
            </p:cNvPr>
            <p:cNvSpPr txBox="1"/>
            <p:nvPr/>
          </p:nvSpPr>
          <p:spPr>
            <a:xfrm>
              <a:off x="0" y="38100"/>
              <a:ext cx="335310" cy="2743681"/>
            </a:xfrm>
            <a:prstGeom prst="rect">
              <a:avLst/>
            </a:prstGeom>
          </p:spPr>
          <p:txBody>
            <a:bodyPr lIns="50800" tIns="50800" rIns="50800" bIns="50800" rtlCol="0" anchor="ctr"/>
            <a:lstStyle/>
            <a:p>
              <a:pPr algn="ctr">
                <a:lnSpc>
                  <a:spcPts val="2100"/>
                </a:lnSpc>
              </a:pPr>
              <a:endParaRPr/>
            </a:p>
          </p:txBody>
        </p:sp>
      </p:grpSp>
      <p:sp>
        <p:nvSpPr>
          <p:cNvPr id="8" name="Freeform 8">
            <a:extLst>
              <a:ext uri="{FF2B5EF4-FFF2-40B4-BE49-F238E27FC236}">
                <a16:creationId xmlns:a16="http://schemas.microsoft.com/office/drawing/2014/main" id="{66249711-E6AE-B046-65AA-71F57AB88EAA}"/>
              </a:ext>
            </a:extLst>
          </p:cNvPr>
          <p:cNvSpPr/>
          <p:nvPr/>
        </p:nvSpPr>
        <p:spPr>
          <a:xfrm>
            <a:off x="14706600" y="-202510"/>
            <a:ext cx="4521184" cy="1528982"/>
          </a:xfrm>
          <a:custGeom>
            <a:avLst/>
            <a:gdLst/>
            <a:ahLst/>
            <a:cxnLst/>
            <a:rect l="l" t="t" r="r" b="b"/>
            <a:pathLst>
              <a:path w="4521184" h="1528982">
                <a:moveTo>
                  <a:pt x="0" y="0"/>
                </a:moveTo>
                <a:lnTo>
                  <a:pt x="4521184" y="0"/>
                </a:lnTo>
                <a:lnTo>
                  <a:pt x="4521184" y="1528982"/>
                </a:lnTo>
                <a:lnTo>
                  <a:pt x="0" y="152898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9" name="Freeform 9">
            <a:extLst>
              <a:ext uri="{FF2B5EF4-FFF2-40B4-BE49-F238E27FC236}">
                <a16:creationId xmlns:a16="http://schemas.microsoft.com/office/drawing/2014/main" id="{DD5EF1EF-7053-B594-F246-1C32F6650728}"/>
              </a:ext>
            </a:extLst>
          </p:cNvPr>
          <p:cNvSpPr/>
          <p:nvPr/>
        </p:nvSpPr>
        <p:spPr>
          <a:xfrm flipH="1" flipV="1">
            <a:off x="-1128348" y="8895555"/>
            <a:ext cx="4521184" cy="1528982"/>
          </a:xfrm>
          <a:custGeom>
            <a:avLst/>
            <a:gdLst/>
            <a:ahLst/>
            <a:cxnLst/>
            <a:rect l="l" t="t" r="r" b="b"/>
            <a:pathLst>
              <a:path w="4521184" h="1528982">
                <a:moveTo>
                  <a:pt x="4521184" y="1528982"/>
                </a:moveTo>
                <a:lnTo>
                  <a:pt x="0" y="1528982"/>
                </a:lnTo>
                <a:lnTo>
                  <a:pt x="0" y="0"/>
                </a:lnTo>
                <a:lnTo>
                  <a:pt x="4521184" y="0"/>
                </a:lnTo>
                <a:lnTo>
                  <a:pt x="4521184" y="1528982"/>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10" name="Freeform 10">
            <a:extLst>
              <a:ext uri="{FF2B5EF4-FFF2-40B4-BE49-F238E27FC236}">
                <a16:creationId xmlns:a16="http://schemas.microsoft.com/office/drawing/2014/main" id="{420E4847-3B8C-7ED6-3665-E1A020940FE5}"/>
              </a:ext>
            </a:extLst>
          </p:cNvPr>
          <p:cNvSpPr/>
          <p:nvPr/>
        </p:nvSpPr>
        <p:spPr>
          <a:xfrm>
            <a:off x="16459200" y="9182100"/>
            <a:ext cx="2636110" cy="1524151"/>
          </a:xfrm>
          <a:custGeom>
            <a:avLst/>
            <a:gdLst/>
            <a:ahLst/>
            <a:cxnLst/>
            <a:rect l="l" t="t" r="r" b="b"/>
            <a:pathLst>
              <a:path w="2636110" h="1524151">
                <a:moveTo>
                  <a:pt x="0" y="0"/>
                </a:moveTo>
                <a:lnTo>
                  <a:pt x="2636110" y="0"/>
                </a:lnTo>
                <a:lnTo>
                  <a:pt x="2636110" y="1524151"/>
                </a:lnTo>
                <a:lnTo>
                  <a:pt x="0" y="152415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dirty="0"/>
          </a:p>
        </p:txBody>
      </p:sp>
      <p:sp>
        <p:nvSpPr>
          <p:cNvPr id="11" name="Freeform 11">
            <a:extLst>
              <a:ext uri="{FF2B5EF4-FFF2-40B4-BE49-F238E27FC236}">
                <a16:creationId xmlns:a16="http://schemas.microsoft.com/office/drawing/2014/main" id="{26D7115D-EDEE-FA8F-A3E7-AAF74F66D912}"/>
              </a:ext>
            </a:extLst>
          </p:cNvPr>
          <p:cNvSpPr/>
          <p:nvPr/>
        </p:nvSpPr>
        <p:spPr>
          <a:xfrm flipH="1" flipV="1">
            <a:off x="-762000" y="-428776"/>
            <a:ext cx="2636110" cy="1524151"/>
          </a:xfrm>
          <a:custGeom>
            <a:avLst/>
            <a:gdLst/>
            <a:ahLst/>
            <a:cxnLst/>
            <a:rect l="l" t="t" r="r" b="b"/>
            <a:pathLst>
              <a:path w="2636110" h="1524151">
                <a:moveTo>
                  <a:pt x="2636110" y="1524151"/>
                </a:moveTo>
                <a:lnTo>
                  <a:pt x="0" y="1524151"/>
                </a:lnTo>
                <a:lnTo>
                  <a:pt x="0" y="0"/>
                </a:lnTo>
                <a:lnTo>
                  <a:pt x="2636110" y="0"/>
                </a:lnTo>
                <a:lnTo>
                  <a:pt x="2636110" y="1524151"/>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dirty="0"/>
          </a:p>
        </p:txBody>
      </p:sp>
      <p:sp>
        <p:nvSpPr>
          <p:cNvPr id="7" name="TextBox 6">
            <a:extLst>
              <a:ext uri="{FF2B5EF4-FFF2-40B4-BE49-F238E27FC236}">
                <a16:creationId xmlns:a16="http://schemas.microsoft.com/office/drawing/2014/main" id="{C9F032A3-9C15-C8F6-3A51-325CB1D345DB}"/>
              </a:ext>
            </a:extLst>
          </p:cNvPr>
          <p:cNvSpPr txBox="1"/>
          <p:nvPr/>
        </p:nvSpPr>
        <p:spPr>
          <a:xfrm>
            <a:off x="8669121" y="8951267"/>
            <a:ext cx="495649" cy="461665"/>
          </a:xfrm>
          <a:prstGeom prst="rect">
            <a:avLst/>
          </a:prstGeom>
          <a:noFill/>
        </p:spPr>
        <p:txBody>
          <a:bodyPr wrap="none" rtlCol="0">
            <a:spAutoFit/>
          </a:bodyPr>
          <a:lstStyle/>
          <a:p>
            <a:r>
              <a:rPr lang="en-IN" sz="2400" dirty="0">
                <a:solidFill>
                  <a:schemeClr val="tx1">
                    <a:lumMod val="65000"/>
                    <a:lumOff val="35000"/>
                  </a:schemeClr>
                </a:solidFill>
              </a:rPr>
              <a:t>22</a:t>
            </a:r>
          </a:p>
        </p:txBody>
      </p:sp>
      <p:pic>
        <p:nvPicPr>
          <p:cNvPr id="3" name="Picture 2">
            <a:extLst>
              <a:ext uri="{FF2B5EF4-FFF2-40B4-BE49-F238E27FC236}">
                <a16:creationId xmlns:a16="http://schemas.microsoft.com/office/drawing/2014/main" id="{B66B3A08-12CA-C786-8D3B-BBD399154FC3}"/>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210335" y="1280635"/>
            <a:ext cx="5723866" cy="4091465"/>
          </a:xfrm>
          <a:prstGeom prst="rect">
            <a:avLst/>
          </a:prstGeom>
        </p:spPr>
      </p:pic>
      <p:pic>
        <p:nvPicPr>
          <p:cNvPr id="6" name="Picture 5">
            <a:extLst>
              <a:ext uri="{FF2B5EF4-FFF2-40B4-BE49-F238E27FC236}">
                <a16:creationId xmlns:a16="http://schemas.microsoft.com/office/drawing/2014/main" id="{B263FAA9-E5F1-70AD-ECCB-78976C243BA2}"/>
              </a:ext>
            </a:extLst>
          </p:cNvPr>
          <p:cNvPicPr>
            <a:picLocks noChangeAspect="1"/>
          </p:cNvPicPr>
          <p:nvPr/>
        </p:nvPicPr>
        <p:blipFill>
          <a:blip r:embed="rId7">
            <a:extLst>
              <a:ext uri="{28A0092B-C50C-407E-A947-70E740481C1C}">
                <a14:useLocalDpi xmlns:a14="http://schemas.microsoft.com/office/drawing/2010/main" val="0"/>
              </a:ext>
            </a:extLst>
          </a:blip>
          <a:srcRect l="52083"/>
          <a:stretch>
            <a:fillRect/>
          </a:stretch>
        </p:blipFill>
        <p:spPr>
          <a:xfrm>
            <a:off x="6710283" y="1364572"/>
            <a:ext cx="5024518" cy="4091466"/>
          </a:xfrm>
          <a:prstGeom prst="rect">
            <a:avLst/>
          </a:prstGeom>
        </p:spPr>
      </p:pic>
      <p:pic>
        <p:nvPicPr>
          <p:cNvPr id="14" name="Picture 13">
            <a:extLst>
              <a:ext uri="{FF2B5EF4-FFF2-40B4-BE49-F238E27FC236}">
                <a16:creationId xmlns:a16="http://schemas.microsoft.com/office/drawing/2014/main" id="{10B08DBA-9CDD-C1D4-CAA1-189D4A1517B5}"/>
              </a:ext>
            </a:extLst>
          </p:cNvPr>
          <p:cNvPicPr>
            <a:picLocks noChangeAspect="1"/>
          </p:cNvPicPr>
          <p:nvPr/>
        </p:nvPicPr>
        <p:blipFill>
          <a:blip r:embed="rId8">
            <a:extLst>
              <a:ext uri="{28A0092B-C50C-407E-A947-70E740481C1C}">
                <a14:useLocalDpi xmlns:a14="http://schemas.microsoft.com/office/drawing/2010/main" val="0"/>
              </a:ext>
            </a:extLst>
          </a:blip>
          <a:srcRect l="50602"/>
          <a:stretch>
            <a:fillRect/>
          </a:stretch>
        </p:blipFill>
        <p:spPr>
          <a:xfrm>
            <a:off x="12115801" y="1303495"/>
            <a:ext cx="4903880" cy="4068605"/>
          </a:xfrm>
          <a:prstGeom prst="rect">
            <a:avLst/>
          </a:prstGeom>
        </p:spPr>
      </p:pic>
      <p:sp>
        <p:nvSpPr>
          <p:cNvPr id="23" name="TextBox 22">
            <a:extLst>
              <a:ext uri="{FF2B5EF4-FFF2-40B4-BE49-F238E27FC236}">
                <a16:creationId xmlns:a16="http://schemas.microsoft.com/office/drawing/2014/main" id="{6BB590CF-619F-AE63-D18D-C246C4F75317}"/>
              </a:ext>
            </a:extLst>
          </p:cNvPr>
          <p:cNvSpPr txBox="1"/>
          <p:nvPr/>
        </p:nvSpPr>
        <p:spPr>
          <a:xfrm>
            <a:off x="2057400" y="5981700"/>
            <a:ext cx="13716000" cy="2893100"/>
          </a:xfrm>
          <a:prstGeom prst="rect">
            <a:avLst/>
          </a:prstGeom>
          <a:noFill/>
        </p:spPr>
        <p:txBody>
          <a:bodyPr wrap="square">
            <a:spAutoFit/>
          </a:bodyPr>
          <a:lstStyle/>
          <a:p>
            <a:pPr marL="457200" indent="-457200">
              <a:buFont typeface="Arial" panose="020B0604020202020204" pitchFamily="34" charset="0"/>
              <a:buChar char="•"/>
            </a:pPr>
            <a:r>
              <a:rPr lang="en-IN" sz="3200" dirty="0"/>
              <a:t>Performance improvement is more noticeable for larger sizes and higher filters.</a:t>
            </a:r>
            <a:endParaRPr lang="en-IN" sz="3000" dirty="0"/>
          </a:p>
          <a:p>
            <a:pPr marL="457200" indent="-457200">
              <a:buFont typeface="Arial" panose="020B0604020202020204" pitchFamily="34" charset="0"/>
              <a:buChar char="•"/>
            </a:pPr>
            <a:r>
              <a:rPr lang="en-IN" sz="3000" dirty="0"/>
              <a:t>Execution time decreases as the number of threads increases.</a:t>
            </a:r>
          </a:p>
          <a:p>
            <a:pPr marL="457200" indent="-457200">
              <a:buFont typeface="Arial" panose="020B0604020202020204" pitchFamily="34" charset="0"/>
              <a:buChar char="•"/>
            </a:pPr>
            <a:r>
              <a:rPr lang="en-IN" sz="3000" dirty="0"/>
              <a:t>Significant improvement is observed from 1 to 8 threads, with smaller gains at 12 threads.</a:t>
            </a:r>
          </a:p>
          <a:p>
            <a:pPr marL="457200" indent="-457200">
              <a:buFont typeface="Arial" panose="020B0604020202020204" pitchFamily="34" charset="0"/>
              <a:buChar char="•"/>
            </a:pPr>
            <a:r>
              <a:rPr lang="en-IN" sz="3000" dirty="0"/>
              <a:t>Parallel methods outperform naive implementation.</a:t>
            </a:r>
          </a:p>
          <a:p>
            <a:pPr marL="457200" indent="-457200">
              <a:buFont typeface="Arial" panose="020B0604020202020204" pitchFamily="34" charset="0"/>
              <a:buChar char="•"/>
            </a:pPr>
            <a:r>
              <a:rPr lang="en-IN" sz="3000" dirty="0"/>
              <a:t>img2col + OpenMP achieves the best performance and highest speedup.</a:t>
            </a:r>
          </a:p>
        </p:txBody>
      </p:sp>
    </p:spTree>
    <p:extLst>
      <p:ext uri="{BB962C8B-B14F-4D97-AF65-F5344CB8AC3E}">
        <p14:creationId xmlns:p14="http://schemas.microsoft.com/office/powerpoint/2010/main" val="32846671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74E564-8982-4E54-5B45-5617771DD39B}"/>
            </a:ext>
          </a:extLst>
        </p:cNvPr>
        <p:cNvGrpSpPr/>
        <p:nvPr/>
      </p:nvGrpSpPr>
      <p:grpSpPr>
        <a:xfrm>
          <a:off x="0" y="0"/>
          <a:ext cx="0" cy="0"/>
          <a:chOff x="0" y="0"/>
          <a:chExt cx="0" cy="0"/>
        </a:xfrm>
      </p:grpSpPr>
      <p:grpSp>
        <p:nvGrpSpPr>
          <p:cNvPr id="19" name="Group 5">
            <a:extLst>
              <a:ext uri="{FF2B5EF4-FFF2-40B4-BE49-F238E27FC236}">
                <a16:creationId xmlns:a16="http://schemas.microsoft.com/office/drawing/2014/main" id="{9CCE1363-AF2E-C6CA-D114-E108224E98B1}"/>
              </a:ext>
            </a:extLst>
          </p:cNvPr>
          <p:cNvGrpSpPr/>
          <p:nvPr/>
        </p:nvGrpSpPr>
        <p:grpSpPr>
          <a:xfrm>
            <a:off x="18088875" y="-137537"/>
            <a:ext cx="1273129" cy="10562074"/>
            <a:chOff x="0" y="0"/>
            <a:chExt cx="335310" cy="2781781"/>
          </a:xfrm>
        </p:grpSpPr>
        <p:sp>
          <p:nvSpPr>
            <p:cNvPr id="20" name="Freeform 6">
              <a:extLst>
                <a:ext uri="{FF2B5EF4-FFF2-40B4-BE49-F238E27FC236}">
                  <a16:creationId xmlns:a16="http://schemas.microsoft.com/office/drawing/2014/main" id="{E95338B3-7792-7C19-C384-597320F10470}"/>
                </a:ext>
              </a:extLst>
            </p:cNvPr>
            <p:cNvSpPr/>
            <p:nvPr/>
          </p:nvSpPr>
          <p:spPr>
            <a:xfrm>
              <a:off x="0" y="0"/>
              <a:ext cx="335310" cy="2781781"/>
            </a:xfrm>
            <a:custGeom>
              <a:avLst/>
              <a:gdLst/>
              <a:ahLst/>
              <a:cxnLst/>
              <a:rect l="l" t="t" r="r" b="b"/>
              <a:pathLst>
                <a:path w="335310" h="2781781">
                  <a:moveTo>
                    <a:pt x="0" y="0"/>
                  </a:moveTo>
                  <a:lnTo>
                    <a:pt x="335310" y="0"/>
                  </a:lnTo>
                  <a:lnTo>
                    <a:pt x="335310" y="2781781"/>
                  </a:lnTo>
                  <a:lnTo>
                    <a:pt x="0" y="2781781"/>
                  </a:lnTo>
                  <a:close/>
                </a:path>
              </a:pathLst>
            </a:custGeom>
            <a:solidFill>
              <a:srgbClr val="F5DFDC"/>
            </a:solidFill>
            <a:ln cap="sq">
              <a:noFill/>
              <a:prstDash val="solid"/>
              <a:miter/>
            </a:ln>
          </p:spPr>
          <p:txBody>
            <a:bodyPr/>
            <a:lstStyle/>
            <a:p>
              <a:endParaRPr lang="en-IN"/>
            </a:p>
          </p:txBody>
        </p:sp>
        <p:sp>
          <p:nvSpPr>
            <p:cNvPr id="21" name="TextBox 7">
              <a:extLst>
                <a:ext uri="{FF2B5EF4-FFF2-40B4-BE49-F238E27FC236}">
                  <a16:creationId xmlns:a16="http://schemas.microsoft.com/office/drawing/2014/main" id="{B6C972C9-08AB-035D-D496-C4A931F109F4}"/>
                </a:ext>
              </a:extLst>
            </p:cNvPr>
            <p:cNvSpPr txBox="1"/>
            <p:nvPr/>
          </p:nvSpPr>
          <p:spPr>
            <a:xfrm>
              <a:off x="0" y="38100"/>
              <a:ext cx="335310" cy="2743681"/>
            </a:xfrm>
            <a:prstGeom prst="rect">
              <a:avLst/>
            </a:prstGeom>
          </p:spPr>
          <p:txBody>
            <a:bodyPr lIns="50800" tIns="50800" rIns="50800" bIns="50800" rtlCol="0" anchor="ctr"/>
            <a:lstStyle/>
            <a:p>
              <a:pPr algn="ctr">
                <a:lnSpc>
                  <a:spcPts val="2100"/>
                </a:lnSpc>
              </a:pPr>
              <a:endParaRPr/>
            </a:p>
          </p:txBody>
        </p:sp>
      </p:grpSp>
      <p:grpSp>
        <p:nvGrpSpPr>
          <p:cNvPr id="16" name="Group 2">
            <a:extLst>
              <a:ext uri="{FF2B5EF4-FFF2-40B4-BE49-F238E27FC236}">
                <a16:creationId xmlns:a16="http://schemas.microsoft.com/office/drawing/2014/main" id="{2B833E84-B6F5-66AA-844F-192663189238}"/>
              </a:ext>
            </a:extLst>
          </p:cNvPr>
          <p:cNvGrpSpPr/>
          <p:nvPr/>
        </p:nvGrpSpPr>
        <p:grpSpPr>
          <a:xfrm>
            <a:off x="-998214" y="24260"/>
            <a:ext cx="1273129" cy="10562074"/>
            <a:chOff x="0" y="0"/>
            <a:chExt cx="335310" cy="2781781"/>
          </a:xfrm>
        </p:grpSpPr>
        <p:sp>
          <p:nvSpPr>
            <p:cNvPr id="17" name="Freeform 3">
              <a:extLst>
                <a:ext uri="{FF2B5EF4-FFF2-40B4-BE49-F238E27FC236}">
                  <a16:creationId xmlns:a16="http://schemas.microsoft.com/office/drawing/2014/main" id="{CD564A5D-CEB6-E0F5-7B2D-BE43E74AB81B}"/>
                </a:ext>
              </a:extLst>
            </p:cNvPr>
            <p:cNvSpPr/>
            <p:nvPr/>
          </p:nvSpPr>
          <p:spPr>
            <a:xfrm>
              <a:off x="0" y="0"/>
              <a:ext cx="335310" cy="2781781"/>
            </a:xfrm>
            <a:custGeom>
              <a:avLst/>
              <a:gdLst/>
              <a:ahLst/>
              <a:cxnLst/>
              <a:rect l="l" t="t" r="r" b="b"/>
              <a:pathLst>
                <a:path w="335310" h="2781781">
                  <a:moveTo>
                    <a:pt x="0" y="0"/>
                  </a:moveTo>
                  <a:lnTo>
                    <a:pt x="335310" y="0"/>
                  </a:lnTo>
                  <a:lnTo>
                    <a:pt x="335310" y="2781781"/>
                  </a:lnTo>
                  <a:lnTo>
                    <a:pt x="0" y="2781781"/>
                  </a:lnTo>
                  <a:close/>
                </a:path>
              </a:pathLst>
            </a:custGeom>
            <a:solidFill>
              <a:srgbClr val="F5DFDC"/>
            </a:solidFill>
            <a:ln cap="sq">
              <a:noFill/>
              <a:prstDash val="solid"/>
              <a:miter/>
            </a:ln>
          </p:spPr>
          <p:txBody>
            <a:bodyPr/>
            <a:lstStyle/>
            <a:p>
              <a:endParaRPr lang="en-IN"/>
            </a:p>
          </p:txBody>
        </p:sp>
        <p:sp>
          <p:nvSpPr>
            <p:cNvPr id="18" name="TextBox 4">
              <a:extLst>
                <a:ext uri="{FF2B5EF4-FFF2-40B4-BE49-F238E27FC236}">
                  <a16:creationId xmlns:a16="http://schemas.microsoft.com/office/drawing/2014/main" id="{A45BFA34-51E8-1BA2-AC46-0F9CCCBB8A1F}"/>
                </a:ext>
              </a:extLst>
            </p:cNvPr>
            <p:cNvSpPr txBox="1"/>
            <p:nvPr/>
          </p:nvSpPr>
          <p:spPr>
            <a:xfrm>
              <a:off x="0" y="38100"/>
              <a:ext cx="335310" cy="2743681"/>
            </a:xfrm>
            <a:prstGeom prst="rect">
              <a:avLst/>
            </a:prstGeom>
          </p:spPr>
          <p:txBody>
            <a:bodyPr lIns="50800" tIns="50800" rIns="50800" bIns="50800" rtlCol="0" anchor="ctr"/>
            <a:lstStyle/>
            <a:p>
              <a:pPr algn="ctr">
                <a:lnSpc>
                  <a:spcPts val="2100"/>
                </a:lnSpc>
              </a:pPr>
              <a:endParaRPr/>
            </a:p>
          </p:txBody>
        </p:sp>
      </p:grpSp>
      <p:sp>
        <p:nvSpPr>
          <p:cNvPr id="8" name="Freeform 8">
            <a:extLst>
              <a:ext uri="{FF2B5EF4-FFF2-40B4-BE49-F238E27FC236}">
                <a16:creationId xmlns:a16="http://schemas.microsoft.com/office/drawing/2014/main" id="{2A601435-88B3-9F8E-666B-8ADBC02B2397}"/>
              </a:ext>
            </a:extLst>
          </p:cNvPr>
          <p:cNvSpPr/>
          <p:nvPr/>
        </p:nvSpPr>
        <p:spPr>
          <a:xfrm>
            <a:off x="14706600" y="-202510"/>
            <a:ext cx="4521184" cy="1528982"/>
          </a:xfrm>
          <a:custGeom>
            <a:avLst/>
            <a:gdLst/>
            <a:ahLst/>
            <a:cxnLst/>
            <a:rect l="l" t="t" r="r" b="b"/>
            <a:pathLst>
              <a:path w="4521184" h="1528982">
                <a:moveTo>
                  <a:pt x="0" y="0"/>
                </a:moveTo>
                <a:lnTo>
                  <a:pt x="4521184" y="0"/>
                </a:lnTo>
                <a:lnTo>
                  <a:pt x="4521184" y="1528982"/>
                </a:lnTo>
                <a:lnTo>
                  <a:pt x="0" y="152898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9" name="Freeform 9">
            <a:extLst>
              <a:ext uri="{FF2B5EF4-FFF2-40B4-BE49-F238E27FC236}">
                <a16:creationId xmlns:a16="http://schemas.microsoft.com/office/drawing/2014/main" id="{F164DD09-AB3B-6765-8AC7-8F8773C55E90}"/>
              </a:ext>
            </a:extLst>
          </p:cNvPr>
          <p:cNvSpPr/>
          <p:nvPr/>
        </p:nvSpPr>
        <p:spPr>
          <a:xfrm flipH="1" flipV="1">
            <a:off x="-1128348" y="8895555"/>
            <a:ext cx="4521184" cy="1528982"/>
          </a:xfrm>
          <a:custGeom>
            <a:avLst/>
            <a:gdLst/>
            <a:ahLst/>
            <a:cxnLst/>
            <a:rect l="l" t="t" r="r" b="b"/>
            <a:pathLst>
              <a:path w="4521184" h="1528982">
                <a:moveTo>
                  <a:pt x="4521184" y="1528982"/>
                </a:moveTo>
                <a:lnTo>
                  <a:pt x="0" y="1528982"/>
                </a:lnTo>
                <a:lnTo>
                  <a:pt x="0" y="0"/>
                </a:lnTo>
                <a:lnTo>
                  <a:pt x="4521184" y="0"/>
                </a:lnTo>
                <a:lnTo>
                  <a:pt x="4521184" y="1528982"/>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10" name="Freeform 10">
            <a:extLst>
              <a:ext uri="{FF2B5EF4-FFF2-40B4-BE49-F238E27FC236}">
                <a16:creationId xmlns:a16="http://schemas.microsoft.com/office/drawing/2014/main" id="{7F77ECCF-F095-0289-814F-E6974D65982D}"/>
              </a:ext>
            </a:extLst>
          </p:cNvPr>
          <p:cNvSpPr/>
          <p:nvPr/>
        </p:nvSpPr>
        <p:spPr>
          <a:xfrm>
            <a:off x="16459200" y="9182100"/>
            <a:ext cx="2636110" cy="1524151"/>
          </a:xfrm>
          <a:custGeom>
            <a:avLst/>
            <a:gdLst/>
            <a:ahLst/>
            <a:cxnLst/>
            <a:rect l="l" t="t" r="r" b="b"/>
            <a:pathLst>
              <a:path w="2636110" h="1524151">
                <a:moveTo>
                  <a:pt x="0" y="0"/>
                </a:moveTo>
                <a:lnTo>
                  <a:pt x="2636110" y="0"/>
                </a:lnTo>
                <a:lnTo>
                  <a:pt x="2636110" y="1524151"/>
                </a:lnTo>
                <a:lnTo>
                  <a:pt x="0" y="152415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dirty="0"/>
          </a:p>
        </p:txBody>
      </p:sp>
      <p:sp>
        <p:nvSpPr>
          <p:cNvPr id="11" name="Freeform 11">
            <a:extLst>
              <a:ext uri="{FF2B5EF4-FFF2-40B4-BE49-F238E27FC236}">
                <a16:creationId xmlns:a16="http://schemas.microsoft.com/office/drawing/2014/main" id="{56D632F1-807A-3CD8-3920-8C4399E57532}"/>
              </a:ext>
            </a:extLst>
          </p:cNvPr>
          <p:cNvSpPr/>
          <p:nvPr/>
        </p:nvSpPr>
        <p:spPr>
          <a:xfrm flipH="1" flipV="1">
            <a:off x="-762000" y="-428776"/>
            <a:ext cx="2636110" cy="1524151"/>
          </a:xfrm>
          <a:custGeom>
            <a:avLst/>
            <a:gdLst/>
            <a:ahLst/>
            <a:cxnLst/>
            <a:rect l="l" t="t" r="r" b="b"/>
            <a:pathLst>
              <a:path w="2636110" h="1524151">
                <a:moveTo>
                  <a:pt x="2636110" y="1524151"/>
                </a:moveTo>
                <a:lnTo>
                  <a:pt x="0" y="1524151"/>
                </a:lnTo>
                <a:lnTo>
                  <a:pt x="0" y="0"/>
                </a:lnTo>
                <a:lnTo>
                  <a:pt x="2636110" y="0"/>
                </a:lnTo>
                <a:lnTo>
                  <a:pt x="2636110" y="1524151"/>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dirty="0"/>
          </a:p>
        </p:txBody>
      </p:sp>
      <p:sp>
        <p:nvSpPr>
          <p:cNvPr id="7" name="TextBox 6">
            <a:extLst>
              <a:ext uri="{FF2B5EF4-FFF2-40B4-BE49-F238E27FC236}">
                <a16:creationId xmlns:a16="http://schemas.microsoft.com/office/drawing/2014/main" id="{9FE54A05-DA70-40F7-AC83-E9C1A2AF82E5}"/>
              </a:ext>
            </a:extLst>
          </p:cNvPr>
          <p:cNvSpPr txBox="1"/>
          <p:nvPr/>
        </p:nvSpPr>
        <p:spPr>
          <a:xfrm>
            <a:off x="8669121" y="8951267"/>
            <a:ext cx="495649" cy="461665"/>
          </a:xfrm>
          <a:prstGeom prst="rect">
            <a:avLst/>
          </a:prstGeom>
          <a:noFill/>
        </p:spPr>
        <p:txBody>
          <a:bodyPr wrap="none" rtlCol="0">
            <a:spAutoFit/>
          </a:bodyPr>
          <a:lstStyle/>
          <a:p>
            <a:r>
              <a:rPr lang="en-IN" sz="2400" dirty="0">
                <a:solidFill>
                  <a:schemeClr val="tx1">
                    <a:lumMod val="65000"/>
                    <a:lumOff val="35000"/>
                  </a:schemeClr>
                </a:solidFill>
              </a:rPr>
              <a:t>23</a:t>
            </a:r>
          </a:p>
        </p:txBody>
      </p:sp>
      <p:sp>
        <p:nvSpPr>
          <p:cNvPr id="27" name="TextBox 26">
            <a:extLst>
              <a:ext uri="{FF2B5EF4-FFF2-40B4-BE49-F238E27FC236}">
                <a16:creationId xmlns:a16="http://schemas.microsoft.com/office/drawing/2014/main" id="{C2C90B2B-B730-CC5D-8B18-888C37221872}"/>
              </a:ext>
            </a:extLst>
          </p:cNvPr>
          <p:cNvSpPr txBox="1"/>
          <p:nvPr/>
        </p:nvSpPr>
        <p:spPr>
          <a:xfrm>
            <a:off x="1814338" y="1218607"/>
            <a:ext cx="11063459" cy="584775"/>
          </a:xfrm>
          <a:prstGeom prst="rect">
            <a:avLst/>
          </a:prstGeom>
          <a:noFill/>
        </p:spPr>
        <p:txBody>
          <a:bodyPr wrap="square">
            <a:spAutoFit/>
          </a:bodyPr>
          <a:lstStyle/>
          <a:p>
            <a:r>
              <a:rPr lang="en-IN" sz="3200" dirty="0">
                <a:effectLst>
                  <a:outerShdw blurRad="38100" dist="38100" dir="2700000" algn="tl">
                    <a:srgbClr val="000000">
                      <a:alpha val="43137"/>
                    </a:srgbClr>
                  </a:outerShdw>
                </a:effectLst>
              </a:rPr>
              <a:t>Convolution Optimization using OpenMP (Collapse +  Scheduling)</a:t>
            </a:r>
          </a:p>
        </p:txBody>
      </p:sp>
      <p:pic>
        <p:nvPicPr>
          <p:cNvPr id="3" name="Picture 2">
            <a:extLst>
              <a:ext uri="{FF2B5EF4-FFF2-40B4-BE49-F238E27FC236}">
                <a16:creationId xmlns:a16="http://schemas.microsoft.com/office/drawing/2014/main" id="{02A02C73-27D3-899E-7EED-4300E0A5756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023259" y="1998817"/>
            <a:ext cx="5486411" cy="3209393"/>
          </a:xfrm>
          <a:prstGeom prst="rect">
            <a:avLst/>
          </a:prstGeom>
        </p:spPr>
      </p:pic>
      <p:pic>
        <p:nvPicPr>
          <p:cNvPr id="6" name="Picture 5">
            <a:extLst>
              <a:ext uri="{FF2B5EF4-FFF2-40B4-BE49-F238E27FC236}">
                <a16:creationId xmlns:a16="http://schemas.microsoft.com/office/drawing/2014/main" id="{B73D986C-47FA-EBE9-B11F-BFAC0036B081}"/>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509670" y="1926615"/>
            <a:ext cx="5715007" cy="3281596"/>
          </a:xfrm>
          <a:prstGeom prst="rect">
            <a:avLst/>
          </a:prstGeom>
        </p:spPr>
      </p:pic>
      <p:sp>
        <p:nvSpPr>
          <p:cNvPr id="14" name="TextBox 13">
            <a:extLst>
              <a:ext uri="{FF2B5EF4-FFF2-40B4-BE49-F238E27FC236}">
                <a16:creationId xmlns:a16="http://schemas.microsoft.com/office/drawing/2014/main" id="{AD0B4148-EC61-793C-EE3A-853436366102}"/>
              </a:ext>
            </a:extLst>
          </p:cNvPr>
          <p:cNvSpPr txBox="1"/>
          <p:nvPr/>
        </p:nvSpPr>
        <p:spPr>
          <a:xfrm>
            <a:off x="3169593" y="5770254"/>
            <a:ext cx="12558087" cy="2862322"/>
          </a:xfrm>
          <a:prstGeom prst="rect">
            <a:avLst/>
          </a:prstGeom>
          <a:noFill/>
        </p:spPr>
        <p:txBody>
          <a:bodyPr wrap="square">
            <a:spAutoFit/>
          </a:bodyPr>
          <a:lstStyle/>
          <a:p>
            <a:pPr marL="457200" indent="-457200">
              <a:buFont typeface="Arial" panose="020B0604020202020204" pitchFamily="34" charset="0"/>
              <a:buChar char="•"/>
            </a:pPr>
            <a:r>
              <a:rPr lang="en-IN" sz="3000" dirty="0"/>
              <a:t>Size (256), Filters (64), and Threads (8) are fixed, while schedule type (Static, Dynamic, Guided) and chunk size (2–32) are changed.</a:t>
            </a:r>
          </a:p>
          <a:p>
            <a:pPr marL="457200" indent="-457200">
              <a:buFont typeface="Arial" panose="020B0604020202020204" pitchFamily="34" charset="0"/>
              <a:buChar char="•"/>
            </a:pPr>
            <a:r>
              <a:rPr lang="en-IN" sz="3000" dirty="0"/>
              <a:t>Guided scheduling gives the lowest time, so it performs the best.</a:t>
            </a:r>
          </a:p>
          <a:p>
            <a:pPr marL="457200" indent="-457200">
              <a:buFont typeface="Arial" panose="020B0604020202020204" pitchFamily="34" charset="0"/>
              <a:buChar char="•"/>
            </a:pPr>
            <a:r>
              <a:rPr lang="en-IN" sz="3000" dirty="0"/>
              <a:t>Dynamic scheduling becomes faster when chunk size increases.</a:t>
            </a:r>
          </a:p>
          <a:p>
            <a:pPr marL="457200" indent="-457200">
              <a:buFont typeface="Arial" panose="020B0604020202020204" pitchFamily="34" charset="0"/>
              <a:buChar char="•"/>
            </a:pPr>
            <a:r>
              <a:rPr lang="en-IN" sz="3000" dirty="0"/>
              <a:t>Static scheduling stays almost the same but is less efficient.</a:t>
            </a:r>
          </a:p>
          <a:p>
            <a:pPr marL="457200" indent="-457200">
              <a:buFont typeface="Arial" panose="020B0604020202020204" pitchFamily="34" charset="0"/>
              <a:buChar char="•"/>
            </a:pPr>
            <a:r>
              <a:rPr lang="en-IN" sz="3000" dirty="0"/>
              <a:t>Chunk size affects how work is divided and impacts performance.</a:t>
            </a:r>
          </a:p>
        </p:txBody>
      </p:sp>
    </p:spTree>
    <p:extLst>
      <p:ext uri="{BB962C8B-B14F-4D97-AF65-F5344CB8AC3E}">
        <p14:creationId xmlns:p14="http://schemas.microsoft.com/office/powerpoint/2010/main" val="152936278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E8BF91-A0A3-7753-A632-0572C7F49C5A}"/>
            </a:ext>
          </a:extLst>
        </p:cNvPr>
        <p:cNvGrpSpPr/>
        <p:nvPr/>
      </p:nvGrpSpPr>
      <p:grpSpPr>
        <a:xfrm>
          <a:off x="0" y="0"/>
          <a:ext cx="0" cy="0"/>
          <a:chOff x="0" y="0"/>
          <a:chExt cx="0" cy="0"/>
        </a:xfrm>
      </p:grpSpPr>
      <p:grpSp>
        <p:nvGrpSpPr>
          <p:cNvPr id="19" name="Group 5">
            <a:extLst>
              <a:ext uri="{FF2B5EF4-FFF2-40B4-BE49-F238E27FC236}">
                <a16:creationId xmlns:a16="http://schemas.microsoft.com/office/drawing/2014/main" id="{BA65FF9E-54A7-E9C1-C2EB-97430CFB621D}"/>
              </a:ext>
            </a:extLst>
          </p:cNvPr>
          <p:cNvGrpSpPr/>
          <p:nvPr/>
        </p:nvGrpSpPr>
        <p:grpSpPr>
          <a:xfrm>
            <a:off x="18088875" y="-137537"/>
            <a:ext cx="1273129" cy="10562074"/>
            <a:chOff x="0" y="0"/>
            <a:chExt cx="335310" cy="2781781"/>
          </a:xfrm>
        </p:grpSpPr>
        <p:sp>
          <p:nvSpPr>
            <p:cNvPr id="20" name="Freeform 6">
              <a:extLst>
                <a:ext uri="{FF2B5EF4-FFF2-40B4-BE49-F238E27FC236}">
                  <a16:creationId xmlns:a16="http://schemas.microsoft.com/office/drawing/2014/main" id="{05E91D90-A908-D6CB-C866-259F575DBFB0}"/>
                </a:ext>
              </a:extLst>
            </p:cNvPr>
            <p:cNvSpPr/>
            <p:nvPr/>
          </p:nvSpPr>
          <p:spPr>
            <a:xfrm>
              <a:off x="0" y="0"/>
              <a:ext cx="335310" cy="2781781"/>
            </a:xfrm>
            <a:custGeom>
              <a:avLst/>
              <a:gdLst/>
              <a:ahLst/>
              <a:cxnLst/>
              <a:rect l="l" t="t" r="r" b="b"/>
              <a:pathLst>
                <a:path w="335310" h="2781781">
                  <a:moveTo>
                    <a:pt x="0" y="0"/>
                  </a:moveTo>
                  <a:lnTo>
                    <a:pt x="335310" y="0"/>
                  </a:lnTo>
                  <a:lnTo>
                    <a:pt x="335310" y="2781781"/>
                  </a:lnTo>
                  <a:lnTo>
                    <a:pt x="0" y="2781781"/>
                  </a:lnTo>
                  <a:close/>
                </a:path>
              </a:pathLst>
            </a:custGeom>
            <a:solidFill>
              <a:srgbClr val="F5DFDC"/>
            </a:solidFill>
            <a:ln cap="sq">
              <a:noFill/>
              <a:prstDash val="solid"/>
              <a:miter/>
            </a:ln>
          </p:spPr>
          <p:txBody>
            <a:bodyPr/>
            <a:lstStyle/>
            <a:p>
              <a:endParaRPr lang="en-IN"/>
            </a:p>
          </p:txBody>
        </p:sp>
        <p:sp>
          <p:nvSpPr>
            <p:cNvPr id="21" name="TextBox 7">
              <a:extLst>
                <a:ext uri="{FF2B5EF4-FFF2-40B4-BE49-F238E27FC236}">
                  <a16:creationId xmlns:a16="http://schemas.microsoft.com/office/drawing/2014/main" id="{ADBB30F6-5CB3-0FE2-C8E7-EFD25964B03E}"/>
                </a:ext>
              </a:extLst>
            </p:cNvPr>
            <p:cNvSpPr txBox="1"/>
            <p:nvPr/>
          </p:nvSpPr>
          <p:spPr>
            <a:xfrm>
              <a:off x="0" y="38100"/>
              <a:ext cx="335310" cy="2743681"/>
            </a:xfrm>
            <a:prstGeom prst="rect">
              <a:avLst/>
            </a:prstGeom>
          </p:spPr>
          <p:txBody>
            <a:bodyPr lIns="50800" tIns="50800" rIns="50800" bIns="50800" rtlCol="0" anchor="ctr"/>
            <a:lstStyle/>
            <a:p>
              <a:pPr algn="ctr">
                <a:lnSpc>
                  <a:spcPts val="2100"/>
                </a:lnSpc>
              </a:pPr>
              <a:endParaRPr/>
            </a:p>
          </p:txBody>
        </p:sp>
      </p:grpSp>
      <p:grpSp>
        <p:nvGrpSpPr>
          <p:cNvPr id="16" name="Group 2">
            <a:extLst>
              <a:ext uri="{FF2B5EF4-FFF2-40B4-BE49-F238E27FC236}">
                <a16:creationId xmlns:a16="http://schemas.microsoft.com/office/drawing/2014/main" id="{2E0DC117-8A23-CDB4-EA36-85EC30362968}"/>
              </a:ext>
            </a:extLst>
          </p:cNvPr>
          <p:cNvGrpSpPr/>
          <p:nvPr/>
        </p:nvGrpSpPr>
        <p:grpSpPr>
          <a:xfrm>
            <a:off x="-998214" y="24260"/>
            <a:ext cx="1273129" cy="10562074"/>
            <a:chOff x="0" y="0"/>
            <a:chExt cx="335310" cy="2781781"/>
          </a:xfrm>
        </p:grpSpPr>
        <p:sp>
          <p:nvSpPr>
            <p:cNvPr id="17" name="Freeform 3">
              <a:extLst>
                <a:ext uri="{FF2B5EF4-FFF2-40B4-BE49-F238E27FC236}">
                  <a16:creationId xmlns:a16="http://schemas.microsoft.com/office/drawing/2014/main" id="{FD60D979-1604-2F7E-164E-8CCDFE7961B7}"/>
                </a:ext>
              </a:extLst>
            </p:cNvPr>
            <p:cNvSpPr/>
            <p:nvPr/>
          </p:nvSpPr>
          <p:spPr>
            <a:xfrm>
              <a:off x="0" y="0"/>
              <a:ext cx="335310" cy="2781781"/>
            </a:xfrm>
            <a:custGeom>
              <a:avLst/>
              <a:gdLst/>
              <a:ahLst/>
              <a:cxnLst/>
              <a:rect l="l" t="t" r="r" b="b"/>
              <a:pathLst>
                <a:path w="335310" h="2781781">
                  <a:moveTo>
                    <a:pt x="0" y="0"/>
                  </a:moveTo>
                  <a:lnTo>
                    <a:pt x="335310" y="0"/>
                  </a:lnTo>
                  <a:lnTo>
                    <a:pt x="335310" y="2781781"/>
                  </a:lnTo>
                  <a:lnTo>
                    <a:pt x="0" y="2781781"/>
                  </a:lnTo>
                  <a:close/>
                </a:path>
              </a:pathLst>
            </a:custGeom>
            <a:solidFill>
              <a:srgbClr val="F5DFDC"/>
            </a:solidFill>
            <a:ln cap="sq">
              <a:noFill/>
              <a:prstDash val="solid"/>
              <a:miter/>
            </a:ln>
          </p:spPr>
          <p:txBody>
            <a:bodyPr/>
            <a:lstStyle/>
            <a:p>
              <a:endParaRPr lang="en-IN"/>
            </a:p>
          </p:txBody>
        </p:sp>
        <p:sp>
          <p:nvSpPr>
            <p:cNvPr id="18" name="TextBox 4">
              <a:extLst>
                <a:ext uri="{FF2B5EF4-FFF2-40B4-BE49-F238E27FC236}">
                  <a16:creationId xmlns:a16="http://schemas.microsoft.com/office/drawing/2014/main" id="{1F56C564-4049-394C-6B57-F0CC87A5BA77}"/>
                </a:ext>
              </a:extLst>
            </p:cNvPr>
            <p:cNvSpPr txBox="1"/>
            <p:nvPr/>
          </p:nvSpPr>
          <p:spPr>
            <a:xfrm>
              <a:off x="0" y="38100"/>
              <a:ext cx="335310" cy="2743681"/>
            </a:xfrm>
            <a:prstGeom prst="rect">
              <a:avLst/>
            </a:prstGeom>
          </p:spPr>
          <p:txBody>
            <a:bodyPr lIns="50800" tIns="50800" rIns="50800" bIns="50800" rtlCol="0" anchor="ctr"/>
            <a:lstStyle/>
            <a:p>
              <a:pPr algn="ctr">
                <a:lnSpc>
                  <a:spcPts val="2100"/>
                </a:lnSpc>
              </a:pPr>
              <a:endParaRPr/>
            </a:p>
          </p:txBody>
        </p:sp>
      </p:grpSp>
      <p:sp>
        <p:nvSpPr>
          <p:cNvPr id="8" name="Freeform 8">
            <a:extLst>
              <a:ext uri="{FF2B5EF4-FFF2-40B4-BE49-F238E27FC236}">
                <a16:creationId xmlns:a16="http://schemas.microsoft.com/office/drawing/2014/main" id="{1F664A00-95A7-0808-B83D-747C808DBF3C}"/>
              </a:ext>
            </a:extLst>
          </p:cNvPr>
          <p:cNvSpPr/>
          <p:nvPr/>
        </p:nvSpPr>
        <p:spPr>
          <a:xfrm>
            <a:off x="14706600" y="-202510"/>
            <a:ext cx="4521184" cy="1528982"/>
          </a:xfrm>
          <a:custGeom>
            <a:avLst/>
            <a:gdLst/>
            <a:ahLst/>
            <a:cxnLst/>
            <a:rect l="l" t="t" r="r" b="b"/>
            <a:pathLst>
              <a:path w="4521184" h="1528982">
                <a:moveTo>
                  <a:pt x="0" y="0"/>
                </a:moveTo>
                <a:lnTo>
                  <a:pt x="4521184" y="0"/>
                </a:lnTo>
                <a:lnTo>
                  <a:pt x="4521184" y="1528982"/>
                </a:lnTo>
                <a:lnTo>
                  <a:pt x="0" y="152898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9" name="Freeform 9">
            <a:extLst>
              <a:ext uri="{FF2B5EF4-FFF2-40B4-BE49-F238E27FC236}">
                <a16:creationId xmlns:a16="http://schemas.microsoft.com/office/drawing/2014/main" id="{4B116D12-CD0A-C6EC-44F7-942DBB44159C}"/>
              </a:ext>
            </a:extLst>
          </p:cNvPr>
          <p:cNvSpPr/>
          <p:nvPr/>
        </p:nvSpPr>
        <p:spPr>
          <a:xfrm flipH="1" flipV="1">
            <a:off x="-1128348" y="8895555"/>
            <a:ext cx="4521184" cy="1528982"/>
          </a:xfrm>
          <a:custGeom>
            <a:avLst/>
            <a:gdLst/>
            <a:ahLst/>
            <a:cxnLst/>
            <a:rect l="l" t="t" r="r" b="b"/>
            <a:pathLst>
              <a:path w="4521184" h="1528982">
                <a:moveTo>
                  <a:pt x="4521184" y="1528982"/>
                </a:moveTo>
                <a:lnTo>
                  <a:pt x="0" y="1528982"/>
                </a:lnTo>
                <a:lnTo>
                  <a:pt x="0" y="0"/>
                </a:lnTo>
                <a:lnTo>
                  <a:pt x="4521184" y="0"/>
                </a:lnTo>
                <a:lnTo>
                  <a:pt x="4521184" y="1528982"/>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10" name="Freeform 10">
            <a:extLst>
              <a:ext uri="{FF2B5EF4-FFF2-40B4-BE49-F238E27FC236}">
                <a16:creationId xmlns:a16="http://schemas.microsoft.com/office/drawing/2014/main" id="{7009AFD6-6136-EDA7-7FE4-D722A0D90975}"/>
              </a:ext>
            </a:extLst>
          </p:cNvPr>
          <p:cNvSpPr/>
          <p:nvPr/>
        </p:nvSpPr>
        <p:spPr>
          <a:xfrm>
            <a:off x="16459200" y="9182100"/>
            <a:ext cx="2636110" cy="1524151"/>
          </a:xfrm>
          <a:custGeom>
            <a:avLst/>
            <a:gdLst/>
            <a:ahLst/>
            <a:cxnLst/>
            <a:rect l="l" t="t" r="r" b="b"/>
            <a:pathLst>
              <a:path w="2636110" h="1524151">
                <a:moveTo>
                  <a:pt x="0" y="0"/>
                </a:moveTo>
                <a:lnTo>
                  <a:pt x="2636110" y="0"/>
                </a:lnTo>
                <a:lnTo>
                  <a:pt x="2636110" y="1524151"/>
                </a:lnTo>
                <a:lnTo>
                  <a:pt x="0" y="152415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dirty="0"/>
          </a:p>
        </p:txBody>
      </p:sp>
      <p:sp>
        <p:nvSpPr>
          <p:cNvPr id="11" name="Freeform 11">
            <a:extLst>
              <a:ext uri="{FF2B5EF4-FFF2-40B4-BE49-F238E27FC236}">
                <a16:creationId xmlns:a16="http://schemas.microsoft.com/office/drawing/2014/main" id="{4254B7CD-63D5-29AB-F986-5B5243321E17}"/>
              </a:ext>
            </a:extLst>
          </p:cNvPr>
          <p:cNvSpPr/>
          <p:nvPr/>
        </p:nvSpPr>
        <p:spPr>
          <a:xfrm flipH="1" flipV="1">
            <a:off x="-762000" y="-428776"/>
            <a:ext cx="2636110" cy="1524151"/>
          </a:xfrm>
          <a:custGeom>
            <a:avLst/>
            <a:gdLst/>
            <a:ahLst/>
            <a:cxnLst/>
            <a:rect l="l" t="t" r="r" b="b"/>
            <a:pathLst>
              <a:path w="2636110" h="1524151">
                <a:moveTo>
                  <a:pt x="2636110" y="1524151"/>
                </a:moveTo>
                <a:lnTo>
                  <a:pt x="0" y="1524151"/>
                </a:lnTo>
                <a:lnTo>
                  <a:pt x="0" y="0"/>
                </a:lnTo>
                <a:lnTo>
                  <a:pt x="2636110" y="0"/>
                </a:lnTo>
                <a:lnTo>
                  <a:pt x="2636110" y="1524151"/>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dirty="0"/>
          </a:p>
        </p:txBody>
      </p:sp>
      <p:sp>
        <p:nvSpPr>
          <p:cNvPr id="7" name="TextBox 6">
            <a:extLst>
              <a:ext uri="{FF2B5EF4-FFF2-40B4-BE49-F238E27FC236}">
                <a16:creationId xmlns:a16="http://schemas.microsoft.com/office/drawing/2014/main" id="{7E538F1C-AB83-5163-0F36-05A5C29BD012}"/>
              </a:ext>
            </a:extLst>
          </p:cNvPr>
          <p:cNvSpPr txBox="1"/>
          <p:nvPr/>
        </p:nvSpPr>
        <p:spPr>
          <a:xfrm>
            <a:off x="8669121" y="8951267"/>
            <a:ext cx="495649" cy="461665"/>
          </a:xfrm>
          <a:prstGeom prst="rect">
            <a:avLst/>
          </a:prstGeom>
          <a:noFill/>
        </p:spPr>
        <p:txBody>
          <a:bodyPr wrap="none" rtlCol="0">
            <a:spAutoFit/>
          </a:bodyPr>
          <a:lstStyle/>
          <a:p>
            <a:r>
              <a:rPr lang="en-IN" sz="2400" dirty="0">
                <a:solidFill>
                  <a:schemeClr val="tx1">
                    <a:lumMod val="65000"/>
                    <a:lumOff val="35000"/>
                  </a:schemeClr>
                </a:solidFill>
              </a:rPr>
              <a:t>24</a:t>
            </a:r>
          </a:p>
        </p:txBody>
      </p:sp>
      <p:pic>
        <p:nvPicPr>
          <p:cNvPr id="3" name="Picture 2">
            <a:extLst>
              <a:ext uri="{FF2B5EF4-FFF2-40B4-BE49-F238E27FC236}">
                <a16:creationId xmlns:a16="http://schemas.microsoft.com/office/drawing/2014/main" id="{1617A050-FB41-9FA8-84AC-176A2E0CB180}"/>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996924" y="2324100"/>
            <a:ext cx="6400813" cy="4572009"/>
          </a:xfrm>
          <a:prstGeom prst="rect">
            <a:avLst/>
          </a:prstGeom>
        </p:spPr>
      </p:pic>
      <p:sp>
        <p:nvSpPr>
          <p:cNvPr id="5" name="TextBox 4">
            <a:extLst>
              <a:ext uri="{FF2B5EF4-FFF2-40B4-BE49-F238E27FC236}">
                <a16:creationId xmlns:a16="http://schemas.microsoft.com/office/drawing/2014/main" id="{FFB0E161-B2BC-0DD1-97DC-BC1CC9E59A54}"/>
              </a:ext>
            </a:extLst>
          </p:cNvPr>
          <p:cNvSpPr txBox="1"/>
          <p:nvPr/>
        </p:nvSpPr>
        <p:spPr>
          <a:xfrm>
            <a:off x="1853923" y="2346960"/>
            <a:ext cx="7594877" cy="5509200"/>
          </a:xfrm>
          <a:prstGeom prst="rect">
            <a:avLst/>
          </a:prstGeom>
          <a:noFill/>
        </p:spPr>
        <p:txBody>
          <a:bodyPr wrap="square">
            <a:spAutoFit/>
          </a:bodyPr>
          <a:lstStyle/>
          <a:p>
            <a:pPr marL="457200" indent="-457200" algn="just">
              <a:buFont typeface="Arial" panose="020B0604020202020204" pitchFamily="34" charset="0"/>
              <a:buChar char="•"/>
            </a:pPr>
            <a:r>
              <a:rPr lang="en-IN" sz="3200" dirty="0"/>
              <a:t>Size (256) and Filters (64) are fixed, while number of threads (1–12) and schedule type are changed.</a:t>
            </a:r>
          </a:p>
          <a:p>
            <a:pPr marL="457200" indent="-457200" algn="just">
              <a:buFont typeface="Arial" panose="020B0604020202020204" pitchFamily="34" charset="0"/>
              <a:buChar char="•"/>
            </a:pPr>
            <a:r>
              <a:rPr lang="en-IN" sz="3200" dirty="0"/>
              <a:t>Execution time decreases when the number of threads increases.</a:t>
            </a:r>
          </a:p>
          <a:p>
            <a:pPr marL="457200" indent="-457200" algn="just">
              <a:buFont typeface="Arial" panose="020B0604020202020204" pitchFamily="34" charset="0"/>
              <a:buChar char="•"/>
            </a:pPr>
            <a:r>
              <a:rPr lang="en-IN" sz="3200" dirty="0"/>
              <a:t>Big improvement is seen from 1 to 8 threads.</a:t>
            </a:r>
          </a:p>
          <a:p>
            <a:pPr marL="457200" indent="-457200" algn="just">
              <a:buFont typeface="Arial" panose="020B0604020202020204" pitchFamily="34" charset="0"/>
              <a:buChar char="•"/>
            </a:pPr>
            <a:r>
              <a:rPr lang="en-IN" sz="3200" dirty="0"/>
              <a:t>Guided scheduling performs better compared to others.</a:t>
            </a:r>
          </a:p>
          <a:p>
            <a:pPr marL="457200" indent="-457200" algn="just">
              <a:buFont typeface="Arial" panose="020B0604020202020204" pitchFamily="34" charset="0"/>
              <a:buChar char="•"/>
            </a:pPr>
            <a:r>
              <a:rPr lang="en-IN" sz="3200" dirty="0"/>
              <a:t>Slight variation at higher threads happens due to overhead.</a:t>
            </a:r>
          </a:p>
        </p:txBody>
      </p:sp>
    </p:spTree>
    <p:extLst>
      <p:ext uri="{BB962C8B-B14F-4D97-AF65-F5344CB8AC3E}">
        <p14:creationId xmlns:p14="http://schemas.microsoft.com/office/powerpoint/2010/main" val="156386201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6D5D6C-49B3-DB16-7AB3-614CCB40148B}"/>
            </a:ext>
          </a:extLst>
        </p:cNvPr>
        <p:cNvGrpSpPr/>
        <p:nvPr/>
      </p:nvGrpSpPr>
      <p:grpSpPr>
        <a:xfrm>
          <a:off x="0" y="0"/>
          <a:ext cx="0" cy="0"/>
          <a:chOff x="0" y="0"/>
          <a:chExt cx="0" cy="0"/>
        </a:xfrm>
      </p:grpSpPr>
      <p:grpSp>
        <p:nvGrpSpPr>
          <p:cNvPr id="19" name="Group 5">
            <a:extLst>
              <a:ext uri="{FF2B5EF4-FFF2-40B4-BE49-F238E27FC236}">
                <a16:creationId xmlns:a16="http://schemas.microsoft.com/office/drawing/2014/main" id="{D6B79CA3-DE42-2239-DDD9-7D48BDC731E7}"/>
              </a:ext>
            </a:extLst>
          </p:cNvPr>
          <p:cNvGrpSpPr/>
          <p:nvPr/>
        </p:nvGrpSpPr>
        <p:grpSpPr>
          <a:xfrm>
            <a:off x="18088875" y="-137537"/>
            <a:ext cx="1273129" cy="10562074"/>
            <a:chOff x="0" y="0"/>
            <a:chExt cx="335310" cy="2781781"/>
          </a:xfrm>
        </p:grpSpPr>
        <p:sp>
          <p:nvSpPr>
            <p:cNvPr id="20" name="Freeform 6">
              <a:extLst>
                <a:ext uri="{FF2B5EF4-FFF2-40B4-BE49-F238E27FC236}">
                  <a16:creationId xmlns:a16="http://schemas.microsoft.com/office/drawing/2014/main" id="{C9FC35C0-0D25-4CE3-48D7-930B338F5F89}"/>
                </a:ext>
              </a:extLst>
            </p:cNvPr>
            <p:cNvSpPr/>
            <p:nvPr/>
          </p:nvSpPr>
          <p:spPr>
            <a:xfrm>
              <a:off x="0" y="0"/>
              <a:ext cx="335310" cy="2781781"/>
            </a:xfrm>
            <a:custGeom>
              <a:avLst/>
              <a:gdLst/>
              <a:ahLst/>
              <a:cxnLst/>
              <a:rect l="l" t="t" r="r" b="b"/>
              <a:pathLst>
                <a:path w="335310" h="2781781">
                  <a:moveTo>
                    <a:pt x="0" y="0"/>
                  </a:moveTo>
                  <a:lnTo>
                    <a:pt x="335310" y="0"/>
                  </a:lnTo>
                  <a:lnTo>
                    <a:pt x="335310" y="2781781"/>
                  </a:lnTo>
                  <a:lnTo>
                    <a:pt x="0" y="2781781"/>
                  </a:lnTo>
                  <a:close/>
                </a:path>
              </a:pathLst>
            </a:custGeom>
            <a:solidFill>
              <a:srgbClr val="F5DFDC"/>
            </a:solidFill>
            <a:ln cap="sq">
              <a:noFill/>
              <a:prstDash val="solid"/>
              <a:miter/>
            </a:ln>
          </p:spPr>
          <p:txBody>
            <a:bodyPr/>
            <a:lstStyle/>
            <a:p>
              <a:endParaRPr lang="en-IN"/>
            </a:p>
          </p:txBody>
        </p:sp>
        <p:sp>
          <p:nvSpPr>
            <p:cNvPr id="21" name="TextBox 7">
              <a:extLst>
                <a:ext uri="{FF2B5EF4-FFF2-40B4-BE49-F238E27FC236}">
                  <a16:creationId xmlns:a16="http://schemas.microsoft.com/office/drawing/2014/main" id="{D4C9C49A-28FE-BA17-254A-56EDA25E3CE6}"/>
                </a:ext>
              </a:extLst>
            </p:cNvPr>
            <p:cNvSpPr txBox="1"/>
            <p:nvPr/>
          </p:nvSpPr>
          <p:spPr>
            <a:xfrm>
              <a:off x="0" y="38100"/>
              <a:ext cx="335310" cy="2743681"/>
            </a:xfrm>
            <a:prstGeom prst="rect">
              <a:avLst/>
            </a:prstGeom>
          </p:spPr>
          <p:txBody>
            <a:bodyPr lIns="50800" tIns="50800" rIns="50800" bIns="50800" rtlCol="0" anchor="ctr"/>
            <a:lstStyle/>
            <a:p>
              <a:pPr algn="ctr">
                <a:lnSpc>
                  <a:spcPts val="2100"/>
                </a:lnSpc>
              </a:pPr>
              <a:endParaRPr/>
            </a:p>
          </p:txBody>
        </p:sp>
      </p:grpSp>
      <p:grpSp>
        <p:nvGrpSpPr>
          <p:cNvPr id="16" name="Group 2">
            <a:extLst>
              <a:ext uri="{FF2B5EF4-FFF2-40B4-BE49-F238E27FC236}">
                <a16:creationId xmlns:a16="http://schemas.microsoft.com/office/drawing/2014/main" id="{66B4F94F-F663-AA06-4291-A61DE4534B97}"/>
              </a:ext>
            </a:extLst>
          </p:cNvPr>
          <p:cNvGrpSpPr/>
          <p:nvPr/>
        </p:nvGrpSpPr>
        <p:grpSpPr>
          <a:xfrm>
            <a:off x="-998214" y="24260"/>
            <a:ext cx="1273129" cy="10562074"/>
            <a:chOff x="0" y="0"/>
            <a:chExt cx="335310" cy="2781781"/>
          </a:xfrm>
        </p:grpSpPr>
        <p:sp>
          <p:nvSpPr>
            <p:cNvPr id="17" name="Freeform 3">
              <a:extLst>
                <a:ext uri="{FF2B5EF4-FFF2-40B4-BE49-F238E27FC236}">
                  <a16:creationId xmlns:a16="http://schemas.microsoft.com/office/drawing/2014/main" id="{D537D5BB-DD5F-F56E-3593-D3E9D8E98189}"/>
                </a:ext>
              </a:extLst>
            </p:cNvPr>
            <p:cNvSpPr/>
            <p:nvPr/>
          </p:nvSpPr>
          <p:spPr>
            <a:xfrm>
              <a:off x="0" y="0"/>
              <a:ext cx="335310" cy="2781781"/>
            </a:xfrm>
            <a:custGeom>
              <a:avLst/>
              <a:gdLst/>
              <a:ahLst/>
              <a:cxnLst/>
              <a:rect l="l" t="t" r="r" b="b"/>
              <a:pathLst>
                <a:path w="335310" h="2781781">
                  <a:moveTo>
                    <a:pt x="0" y="0"/>
                  </a:moveTo>
                  <a:lnTo>
                    <a:pt x="335310" y="0"/>
                  </a:lnTo>
                  <a:lnTo>
                    <a:pt x="335310" y="2781781"/>
                  </a:lnTo>
                  <a:lnTo>
                    <a:pt x="0" y="2781781"/>
                  </a:lnTo>
                  <a:close/>
                </a:path>
              </a:pathLst>
            </a:custGeom>
            <a:solidFill>
              <a:srgbClr val="F5DFDC"/>
            </a:solidFill>
            <a:ln cap="sq">
              <a:noFill/>
              <a:prstDash val="solid"/>
              <a:miter/>
            </a:ln>
          </p:spPr>
          <p:txBody>
            <a:bodyPr/>
            <a:lstStyle/>
            <a:p>
              <a:endParaRPr lang="en-IN"/>
            </a:p>
          </p:txBody>
        </p:sp>
        <p:sp>
          <p:nvSpPr>
            <p:cNvPr id="18" name="TextBox 4">
              <a:extLst>
                <a:ext uri="{FF2B5EF4-FFF2-40B4-BE49-F238E27FC236}">
                  <a16:creationId xmlns:a16="http://schemas.microsoft.com/office/drawing/2014/main" id="{54959F5A-276E-9C24-FDA4-8BA50E737D4B}"/>
                </a:ext>
              </a:extLst>
            </p:cNvPr>
            <p:cNvSpPr txBox="1"/>
            <p:nvPr/>
          </p:nvSpPr>
          <p:spPr>
            <a:xfrm>
              <a:off x="0" y="38100"/>
              <a:ext cx="335310" cy="2743681"/>
            </a:xfrm>
            <a:prstGeom prst="rect">
              <a:avLst/>
            </a:prstGeom>
          </p:spPr>
          <p:txBody>
            <a:bodyPr lIns="50800" tIns="50800" rIns="50800" bIns="50800" rtlCol="0" anchor="ctr"/>
            <a:lstStyle/>
            <a:p>
              <a:pPr algn="ctr">
                <a:lnSpc>
                  <a:spcPts val="2100"/>
                </a:lnSpc>
              </a:pPr>
              <a:endParaRPr/>
            </a:p>
          </p:txBody>
        </p:sp>
      </p:grpSp>
      <p:sp>
        <p:nvSpPr>
          <p:cNvPr id="8" name="Freeform 8">
            <a:extLst>
              <a:ext uri="{FF2B5EF4-FFF2-40B4-BE49-F238E27FC236}">
                <a16:creationId xmlns:a16="http://schemas.microsoft.com/office/drawing/2014/main" id="{11154B24-6C1B-CBEA-FAA3-BABEE201EC0D}"/>
              </a:ext>
            </a:extLst>
          </p:cNvPr>
          <p:cNvSpPr/>
          <p:nvPr/>
        </p:nvSpPr>
        <p:spPr>
          <a:xfrm>
            <a:off x="14706600" y="-202510"/>
            <a:ext cx="4521184" cy="1528982"/>
          </a:xfrm>
          <a:custGeom>
            <a:avLst/>
            <a:gdLst/>
            <a:ahLst/>
            <a:cxnLst/>
            <a:rect l="l" t="t" r="r" b="b"/>
            <a:pathLst>
              <a:path w="4521184" h="1528982">
                <a:moveTo>
                  <a:pt x="0" y="0"/>
                </a:moveTo>
                <a:lnTo>
                  <a:pt x="4521184" y="0"/>
                </a:lnTo>
                <a:lnTo>
                  <a:pt x="4521184" y="1528982"/>
                </a:lnTo>
                <a:lnTo>
                  <a:pt x="0" y="152898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9" name="Freeform 9">
            <a:extLst>
              <a:ext uri="{FF2B5EF4-FFF2-40B4-BE49-F238E27FC236}">
                <a16:creationId xmlns:a16="http://schemas.microsoft.com/office/drawing/2014/main" id="{1FA82C21-62BF-F84E-8985-4C6F4AB27003}"/>
              </a:ext>
            </a:extLst>
          </p:cNvPr>
          <p:cNvSpPr/>
          <p:nvPr/>
        </p:nvSpPr>
        <p:spPr>
          <a:xfrm flipH="1" flipV="1">
            <a:off x="-1128348" y="8895555"/>
            <a:ext cx="4521184" cy="1528982"/>
          </a:xfrm>
          <a:custGeom>
            <a:avLst/>
            <a:gdLst/>
            <a:ahLst/>
            <a:cxnLst/>
            <a:rect l="l" t="t" r="r" b="b"/>
            <a:pathLst>
              <a:path w="4521184" h="1528982">
                <a:moveTo>
                  <a:pt x="4521184" y="1528982"/>
                </a:moveTo>
                <a:lnTo>
                  <a:pt x="0" y="1528982"/>
                </a:lnTo>
                <a:lnTo>
                  <a:pt x="0" y="0"/>
                </a:lnTo>
                <a:lnTo>
                  <a:pt x="4521184" y="0"/>
                </a:lnTo>
                <a:lnTo>
                  <a:pt x="4521184" y="1528982"/>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10" name="Freeform 10">
            <a:extLst>
              <a:ext uri="{FF2B5EF4-FFF2-40B4-BE49-F238E27FC236}">
                <a16:creationId xmlns:a16="http://schemas.microsoft.com/office/drawing/2014/main" id="{DC424953-08AF-03F7-9B6E-4A18BCF515D3}"/>
              </a:ext>
            </a:extLst>
          </p:cNvPr>
          <p:cNvSpPr/>
          <p:nvPr/>
        </p:nvSpPr>
        <p:spPr>
          <a:xfrm>
            <a:off x="16459200" y="9182100"/>
            <a:ext cx="2636110" cy="1524151"/>
          </a:xfrm>
          <a:custGeom>
            <a:avLst/>
            <a:gdLst/>
            <a:ahLst/>
            <a:cxnLst/>
            <a:rect l="l" t="t" r="r" b="b"/>
            <a:pathLst>
              <a:path w="2636110" h="1524151">
                <a:moveTo>
                  <a:pt x="0" y="0"/>
                </a:moveTo>
                <a:lnTo>
                  <a:pt x="2636110" y="0"/>
                </a:lnTo>
                <a:lnTo>
                  <a:pt x="2636110" y="1524151"/>
                </a:lnTo>
                <a:lnTo>
                  <a:pt x="0" y="152415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dirty="0"/>
          </a:p>
        </p:txBody>
      </p:sp>
      <p:sp>
        <p:nvSpPr>
          <p:cNvPr id="11" name="Freeform 11">
            <a:extLst>
              <a:ext uri="{FF2B5EF4-FFF2-40B4-BE49-F238E27FC236}">
                <a16:creationId xmlns:a16="http://schemas.microsoft.com/office/drawing/2014/main" id="{E32F05CC-6283-EAB8-B162-978CA744F9BD}"/>
              </a:ext>
            </a:extLst>
          </p:cNvPr>
          <p:cNvSpPr/>
          <p:nvPr/>
        </p:nvSpPr>
        <p:spPr>
          <a:xfrm flipH="1" flipV="1">
            <a:off x="-762000" y="-428776"/>
            <a:ext cx="2636110" cy="1524151"/>
          </a:xfrm>
          <a:custGeom>
            <a:avLst/>
            <a:gdLst/>
            <a:ahLst/>
            <a:cxnLst/>
            <a:rect l="l" t="t" r="r" b="b"/>
            <a:pathLst>
              <a:path w="2636110" h="1524151">
                <a:moveTo>
                  <a:pt x="2636110" y="1524151"/>
                </a:moveTo>
                <a:lnTo>
                  <a:pt x="0" y="1524151"/>
                </a:lnTo>
                <a:lnTo>
                  <a:pt x="0" y="0"/>
                </a:lnTo>
                <a:lnTo>
                  <a:pt x="2636110" y="0"/>
                </a:lnTo>
                <a:lnTo>
                  <a:pt x="2636110" y="1524151"/>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dirty="0"/>
          </a:p>
        </p:txBody>
      </p:sp>
      <p:sp>
        <p:nvSpPr>
          <p:cNvPr id="25" name="TextBox 24">
            <a:extLst>
              <a:ext uri="{FF2B5EF4-FFF2-40B4-BE49-F238E27FC236}">
                <a16:creationId xmlns:a16="http://schemas.microsoft.com/office/drawing/2014/main" id="{2BE7E086-B859-EE11-69F1-CE4451B234D6}"/>
              </a:ext>
            </a:extLst>
          </p:cNvPr>
          <p:cNvSpPr txBox="1"/>
          <p:nvPr/>
        </p:nvSpPr>
        <p:spPr>
          <a:xfrm>
            <a:off x="2362200" y="1327064"/>
            <a:ext cx="6286682" cy="784830"/>
          </a:xfrm>
          <a:prstGeom prst="rect">
            <a:avLst/>
          </a:prstGeom>
          <a:noFill/>
        </p:spPr>
        <p:txBody>
          <a:bodyPr wrap="square" rtlCol="0">
            <a:spAutoFit/>
          </a:bodyPr>
          <a:lstStyle/>
          <a:p>
            <a:r>
              <a:rPr lang="en-IN" sz="4500" dirty="0">
                <a:effectLst>
                  <a:outerShdw blurRad="38100" dist="38100" dir="2700000" algn="tl">
                    <a:srgbClr val="000000">
                      <a:alpha val="43137"/>
                    </a:srgbClr>
                  </a:outerShdw>
                </a:effectLst>
                <a:latin typeface="+mj-lt"/>
              </a:rPr>
              <a:t>Applications</a:t>
            </a:r>
          </a:p>
        </p:txBody>
      </p:sp>
      <p:sp>
        <p:nvSpPr>
          <p:cNvPr id="7" name="TextBox 6">
            <a:extLst>
              <a:ext uri="{FF2B5EF4-FFF2-40B4-BE49-F238E27FC236}">
                <a16:creationId xmlns:a16="http://schemas.microsoft.com/office/drawing/2014/main" id="{AA30363C-087A-A34E-D4A1-8176A13E7F28}"/>
              </a:ext>
            </a:extLst>
          </p:cNvPr>
          <p:cNvSpPr txBox="1"/>
          <p:nvPr/>
        </p:nvSpPr>
        <p:spPr>
          <a:xfrm>
            <a:off x="8669121" y="8951267"/>
            <a:ext cx="495649" cy="461665"/>
          </a:xfrm>
          <a:prstGeom prst="rect">
            <a:avLst/>
          </a:prstGeom>
          <a:noFill/>
        </p:spPr>
        <p:txBody>
          <a:bodyPr wrap="none" rtlCol="0">
            <a:spAutoFit/>
          </a:bodyPr>
          <a:lstStyle/>
          <a:p>
            <a:r>
              <a:rPr lang="en-IN" sz="2400" dirty="0">
                <a:solidFill>
                  <a:schemeClr val="tx1">
                    <a:lumMod val="65000"/>
                    <a:lumOff val="35000"/>
                  </a:schemeClr>
                </a:solidFill>
              </a:rPr>
              <a:t>25</a:t>
            </a:r>
          </a:p>
        </p:txBody>
      </p:sp>
      <p:sp>
        <p:nvSpPr>
          <p:cNvPr id="2" name="TextBox 1">
            <a:extLst>
              <a:ext uri="{FF2B5EF4-FFF2-40B4-BE49-F238E27FC236}">
                <a16:creationId xmlns:a16="http://schemas.microsoft.com/office/drawing/2014/main" id="{AE14BABA-0F72-26DB-F092-FAFB82AAA6BE}"/>
              </a:ext>
            </a:extLst>
          </p:cNvPr>
          <p:cNvSpPr txBox="1"/>
          <p:nvPr/>
        </p:nvSpPr>
        <p:spPr>
          <a:xfrm>
            <a:off x="2382439" y="4823415"/>
            <a:ext cx="6286682" cy="784830"/>
          </a:xfrm>
          <a:prstGeom prst="rect">
            <a:avLst/>
          </a:prstGeom>
          <a:noFill/>
        </p:spPr>
        <p:txBody>
          <a:bodyPr wrap="square" rtlCol="0">
            <a:spAutoFit/>
          </a:bodyPr>
          <a:lstStyle/>
          <a:p>
            <a:r>
              <a:rPr lang="en-IN" sz="4500" dirty="0">
                <a:effectLst>
                  <a:outerShdw blurRad="38100" dist="38100" dir="2700000" algn="tl">
                    <a:srgbClr val="000000">
                      <a:alpha val="43137"/>
                    </a:srgbClr>
                  </a:outerShdw>
                </a:effectLst>
                <a:latin typeface="+mj-lt"/>
              </a:rPr>
              <a:t>Advantages</a:t>
            </a:r>
          </a:p>
        </p:txBody>
      </p:sp>
      <p:sp>
        <p:nvSpPr>
          <p:cNvPr id="4" name="TextBox 3">
            <a:extLst>
              <a:ext uri="{FF2B5EF4-FFF2-40B4-BE49-F238E27FC236}">
                <a16:creationId xmlns:a16="http://schemas.microsoft.com/office/drawing/2014/main" id="{90B7988A-DC78-8B69-F754-52A9DFE78AAB}"/>
              </a:ext>
            </a:extLst>
          </p:cNvPr>
          <p:cNvSpPr txBox="1"/>
          <p:nvPr/>
        </p:nvSpPr>
        <p:spPr>
          <a:xfrm>
            <a:off x="2658960" y="2377578"/>
            <a:ext cx="11426601" cy="2062103"/>
          </a:xfrm>
          <a:prstGeom prst="rect">
            <a:avLst/>
          </a:prstGeom>
          <a:noFill/>
        </p:spPr>
        <p:txBody>
          <a:bodyPr wrap="square">
            <a:spAutoFit/>
          </a:bodyPr>
          <a:lstStyle/>
          <a:p>
            <a:pPr marL="457200" indent="-457200">
              <a:buFont typeface="Arial" panose="020B0604020202020204" pitchFamily="34" charset="0"/>
              <a:buChar char="•"/>
            </a:pPr>
            <a:r>
              <a:rPr lang="en-IN" sz="3200" dirty="0"/>
              <a:t>Brain </a:t>
            </a:r>
            <a:r>
              <a:rPr lang="en-IN" sz="3200" dirty="0" err="1"/>
              <a:t>tumor</a:t>
            </a:r>
            <a:r>
              <a:rPr lang="en-IN" sz="3200" dirty="0"/>
              <a:t> detection from MRI images using CNN for faster and automated medical diagnosis.</a:t>
            </a:r>
          </a:p>
          <a:p>
            <a:pPr marL="457200" indent="-457200">
              <a:buFont typeface="Arial" panose="020B0604020202020204" pitchFamily="34" charset="0"/>
              <a:buChar char="•"/>
            </a:pPr>
            <a:r>
              <a:rPr lang="en-IN" sz="3200" dirty="0"/>
              <a:t>High-performance optimization of CNN-based image processing tasks such as detection, classification, and segmentation.</a:t>
            </a:r>
          </a:p>
        </p:txBody>
      </p:sp>
      <p:sp>
        <p:nvSpPr>
          <p:cNvPr id="6" name="TextBox 5">
            <a:extLst>
              <a:ext uri="{FF2B5EF4-FFF2-40B4-BE49-F238E27FC236}">
                <a16:creationId xmlns:a16="http://schemas.microsoft.com/office/drawing/2014/main" id="{E5D54146-F479-B849-B89E-200AA2A79129}"/>
              </a:ext>
            </a:extLst>
          </p:cNvPr>
          <p:cNvSpPr txBox="1"/>
          <p:nvPr/>
        </p:nvSpPr>
        <p:spPr>
          <a:xfrm>
            <a:off x="2689440" y="5710096"/>
            <a:ext cx="12931560" cy="1569660"/>
          </a:xfrm>
          <a:prstGeom prst="rect">
            <a:avLst/>
          </a:prstGeom>
          <a:noFill/>
        </p:spPr>
        <p:txBody>
          <a:bodyPr wrap="square">
            <a:spAutoFit/>
          </a:bodyPr>
          <a:lstStyle/>
          <a:p>
            <a:pPr marL="457200" indent="-457200">
              <a:buFont typeface="Arial" panose="020B0604020202020204" pitchFamily="34" charset="0"/>
              <a:buChar char="•"/>
            </a:pPr>
            <a:r>
              <a:rPr lang="en-IN" sz="3200" dirty="0"/>
              <a:t>Reduces execution time significantly using parallel computing techniques.</a:t>
            </a:r>
          </a:p>
          <a:p>
            <a:pPr marL="457200" indent="-457200">
              <a:buFont typeface="Arial" panose="020B0604020202020204" pitchFamily="34" charset="0"/>
              <a:buChar char="•"/>
            </a:pPr>
            <a:r>
              <a:rPr lang="en-IN" sz="3200" dirty="0"/>
              <a:t>Improves scalability and efficiency for handling large images and complex CNN models.</a:t>
            </a:r>
          </a:p>
        </p:txBody>
      </p:sp>
    </p:spTree>
    <p:extLst>
      <p:ext uri="{BB962C8B-B14F-4D97-AF65-F5344CB8AC3E}">
        <p14:creationId xmlns:p14="http://schemas.microsoft.com/office/powerpoint/2010/main" val="159310603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7334BC-92A4-4A35-4C58-16E3BEEC639B}"/>
            </a:ext>
          </a:extLst>
        </p:cNvPr>
        <p:cNvGrpSpPr/>
        <p:nvPr/>
      </p:nvGrpSpPr>
      <p:grpSpPr>
        <a:xfrm>
          <a:off x="0" y="0"/>
          <a:ext cx="0" cy="0"/>
          <a:chOff x="0" y="0"/>
          <a:chExt cx="0" cy="0"/>
        </a:xfrm>
      </p:grpSpPr>
      <p:grpSp>
        <p:nvGrpSpPr>
          <p:cNvPr id="19" name="Group 5">
            <a:extLst>
              <a:ext uri="{FF2B5EF4-FFF2-40B4-BE49-F238E27FC236}">
                <a16:creationId xmlns:a16="http://schemas.microsoft.com/office/drawing/2014/main" id="{84A919E4-FBB8-DF60-A297-7E4F753C10A3}"/>
              </a:ext>
            </a:extLst>
          </p:cNvPr>
          <p:cNvGrpSpPr/>
          <p:nvPr/>
        </p:nvGrpSpPr>
        <p:grpSpPr>
          <a:xfrm>
            <a:off x="18088875" y="-137537"/>
            <a:ext cx="1273129" cy="10562074"/>
            <a:chOff x="0" y="0"/>
            <a:chExt cx="335310" cy="2781781"/>
          </a:xfrm>
        </p:grpSpPr>
        <p:sp>
          <p:nvSpPr>
            <p:cNvPr id="20" name="Freeform 6">
              <a:extLst>
                <a:ext uri="{FF2B5EF4-FFF2-40B4-BE49-F238E27FC236}">
                  <a16:creationId xmlns:a16="http://schemas.microsoft.com/office/drawing/2014/main" id="{AB32502E-2F1F-70BF-3914-8D4EF40B5763}"/>
                </a:ext>
              </a:extLst>
            </p:cNvPr>
            <p:cNvSpPr/>
            <p:nvPr/>
          </p:nvSpPr>
          <p:spPr>
            <a:xfrm>
              <a:off x="0" y="0"/>
              <a:ext cx="335310" cy="2781781"/>
            </a:xfrm>
            <a:custGeom>
              <a:avLst/>
              <a:gdLst/>
              <a:ahLst/>
              <a:cxnLst/>
              <a:rect l="l" t="t" r="r" b="b"/>
              <a:pathLst>
                <a:path w="335310" h="2781781">
                  <a:moveTo>
                    <a:pt x="0" y="0"/>
                  </a:moveTo>
                  <a:lnTo>
                    <a:pt x="335310" y="0"/>
                  </a:lnTo>
                  <a:lnTo>
                    <a:pt x="335310" y="2781781"/>
                  </a:lnTo>
                  <a:lnTo>
                    <a:pt x="0" y="2781781"/>
                  </a:lnTo>
                  <a:close/>
                </a:path>
              </a:pathLst>
            </a:custGeom>
            <a:solidFill>
              <a:srgbClr val="F5DFDC"/>
            </a:solidFill>
            <a:ln cap="sq">
              <a:noFill/>
              <a:prstDash val="solid"/>
              <a:miter/>
            </a:ln>
          </p:spPr>
          <p:txBody>
            <a:bodyPr/>
            <a:lstStyle/>
            <a:p>
              <a:endParaRPr lang="en-IN"/>
            </a:p>
          </p:txBody>
        </p:sp>
        <p:sp>
          <p:nvSpPr>
            <p:cNvPr id="21" name="TextBox 7">
              <a:extLst>
                <a:ext uri="{FF2B5EF4-FFF2-40B4-BE49-F238E27FC236}">
                  <a16:creationId xmlns:a16="http://schemas.microsoft.com/office/drawing/2014/main" id="{FC1AF729-1AB2-C8E0-183B-F5290880835A}"/>
                </a:ext>
              </a:extLst>
            </p:cNvPr>
            <p:cNvSpPr txBox="1"/>
            <p:nvPr/>
          </p:nvSpPr>
          <p:spPr>
            <a:xfrm>
              <a:off x="0" y="38100"/>
              <a:ext cx="335310" cy="2743681"/>
            </a:xfrm>
            <a:prstGeom prst="rect">
              <a:avLst/>
            </a:prstGeom>
          </p:spPr>
          <p:txBody>
            <a:bodyPr lIns="50800" tIns="50800" rIns="50800" bIns="50800" rtlCol="0" anchor="ctr"/>
            <a:lstStyle/>
            <a:p>
              <a:pPr algn="ctr">
                <a:lnSpc>
                  <a:spcPts val="2100"/>
                </a:lnSpc>
              </a:pPr>
              <a:endParaRPr/>
            </a:p>
          </p:txBody>
        </p:sp>
      </p:grpSp>
      <p:grpSp>
        <p:nvGrpSpPr>
          <p:cNvPr id="16" name="Group 2">
            <a:extLst>
              <a:ext uri="{FF2B5EF4-FFF2-40B4-BE49-F238E27FC236}">
                <a16:creationId xmlns:a16="http://schemas.microsoft.com/office/drawing/2014/main" id="{AA11D256-8F31-FCE5-43F5-DEF4CCA5471A}"/>
              </a:ext>
            </a:extLst>
          </p:cNvPr>
          <p:cNvGrpSpPr/>
          <p:nvPr/>
        </p:nvGrpSpPr>
        <p:grpSpPr>
          <a:xfrm>
            <a:off x="-998214" y="24260"/>
            <a:ext cx="1273129" cy="10562074"/>
            <a:chOff x="0" y="0"/>
            <a:chExt cx="335310" cy="2781781"/>
          </a:xfrm>
        </p:grpSpPr>
        <p:sp>
          <p:nvSpPr>
            <p:cNvPr id="17" name="Freeform 3">
              <a:extLst>
                <a:ext uri="{FF2B5EF4-FFF2-40B4-BE49-F238E27FC236}">
                  <a16:creationId xmlns:a16="http://schemas.microsoft.com/office/drawing/2014/main" id="{BCE27D75-DC9A-153A-4826-C138048EEFE7}"/>
                </a:ext>
              </a:extLst>
            </p:cNvPr>
            <p:cNvSpPr/>
            <p:nvPr/>
          </p:nvSpPr>
          <p:spPr>
            <a:xfrm>
              <a:off x="0" y="0"/>
              <a:ext cx="335310" cy="2781781"/>
            </a:xfrm>
            <a:custGeom>
              <a:avLst/>
              <a:gdLst/>
              <a:ahLst/>
              <a:cxnLst/>
              <a:rect l="l" t="t" r="r" b="b"/>
              <a:pathLst>
                <a:path w="335310" h="2781781">
                  <a:moveTo>
                    <a:pt x="0" y="0"/>
                  </a:moveTo>
                  <a:lnTo>
                    <a:pt x="335310" y="0"/>
                  </a:lnTo>
                  <a:lnTo>
                    <a:pt x="335310" y="2781781"/>
                  </a:lnTo>
                  <a:lnTo>
                    <a:pt x="0" y="2781781"/>
                  </a:lnTo>
                  <a:close/>
                </a:path>
              </a:pathLst>
            </a:custGeom>
            <a:solidFill>
              <a:srgbClr val="F5DFDC"/>
            </a:solidFill>
            <a:ln cap="sq">
              <a:noFill/>
              <a:prstDash val="solid"/>
              <a:miter/>
            </a:ln>
          </p:spPr>
          <p:txBody>
            <a:bodyPr/>
            <a:lstStyle/>
            <a:p>
              <a:endParaRPr lang="en-IN"/>
            </a:p>
          </p:txBody>
        </p:sp>
        <p:sp>
          <p:nvSpPr>
            <p:cNvPr id="18" name="TextBox 4">
              <a:extLst>
                <a:ext uri="{FF2B5EF4-FFF2-40B4-BE49-F238E27FC236}">
                  <a16:creationId xmlns:a16="http://schemas.microsoft.com/office/drawing/2014/main" id="{0E7EA051-312A-09D4-BE1E-03D1FE78069A}"/>
                </a:ext>
              </a:extLst>
            </p:cNvPr>
            <p:cNvSpPr txBox="1"/>
            <p:nvPr/>
          </p:nvSpPr>
          <p:spPr>
            <a:xfrm>
              <a:off x="0" y="38100"/>
              <a:ext cx="335310" cy="2743681"/>
            </a:xfrm>
            <a:prstGeom prst="rect">
              <a:avLst/>
            </a:prstGeom>
          </p:spPr>
          <p:txBody>
            <a:bodyPr lIns="50800" tIns="50800" rIns="50800" bIns="50800" rtlCol="0" anchor="ctr"/>
            <a:lstStyle/>
            <a:p>
              <a:pPr algn="ctr">
                <a:lnSpc>
                  <a:spcPts val="2100"/>
                </a:lnSpc>
              </a:pPr>
              <a:endParaRPr/>
            </a:p>
          </p:txBody>
        </p:sp>
      </p:grpSp>
      <p:sp>
        <p:nvSpPr>
          <p:cNvPr id="8" name="Freeform 8">
            <a:extLst>
              <a:ext uri="{FF2B5EF4-FFF2-40B4-BE49-F238E27FC236}">
                <a16:creationId xmlns:a16="http://schemas.microsoft.com/office/drawing/2014/main" id="{32AF3287-4D0A-EEA9-CED5-B58E433A1239}"/>
              </a:ext>
            </a:extLst>
          </p:cNvPr>
          <p:cNvSpPr/>
          <p:nvPr/>
        </p:nvSpPr>
        <p:spPr>
          <a:xfrm>
            <a:off x="14706600" y="-202510"/>
            <a:ext cx="4521184" cy="1528982"/>
          </a:xfrm>
          <a:custGeom>
            <a:avLst/>
            <a:gdLst/>
            <a:ahLst/>
            <a:cxnLst/>
            <a:rect l="l" t="t" r="r" b="b"/>
            <a:pathLst>
              <a:path w="4521184" h="1528982">
                <a:moveTo>
                  <a:pt x="0" y="0"/>
                </a:moveTo>
                <a:lnTo>
                  <a:pt x="4521184" y="0"/>
                </a:lnTo>
                <a:lnTo>
                  <a:pt x="4521184" y="1528982"/>
                </a:lnTo>
                <a:lnTo>
                  <a:pt x="0" y="152898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9" name="Freeform 9">
            <a:extLst>
              <a:ext uri="{FF2B5EF4-FFF2-40B4-BE49-F238E27FC236}">
                <a16:creationId xmlns:a16="http://schemas.microsoft.com/office/drawing/2014/main" id="{121BF15F-6999-71FD-9BD4-7925D25E11AA}"/>
              </a:ext>
            </a:extLst>
          </p:cNvPr>
          <p:cNvSpPr/>
          <p:nvPr/>
        </p:nvSpPr>
        <p:spPr>
          <a:xfrm flipH="1" flipV="1">
            <a:off x="-1128348" y="8895555"/>
            <a:ext cx="4521184" cy="1528982"/>
          </a:xfrm>
          <a:custGeom>
            <a:avLst/>
            <a:gdLst/>
            <a:ahLst/>
            <a:cxnLst/>
            <a:rect l="l" t="t" r="r" b="b"/>
            <a:pathLst>
              <a:path w="4521184" h="1528982">
                <a:moveTo>
                  <a:pt x="4521184" y="1528982"/>
                </a:moveTo>
                <a:lnTo>
                  <a:pt x="0" y="1528982"/>
                </a:lnTo>
                <a:lnTo>
                  <a:pt x="0" y="0"/>
                </a:lnTo>
                <a:lnTo>
                  <a:pt x="4521184" y="0"/>
                </a:lnTo>
                <a:lnTo>
                  <a:pt x="4521184" y="1528982"/>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10" name="Freeform 10">
            <a:extLst>
              <a:ext uri="{FF2B5EF4-FFF2-40B4-BE49-F238E27FC236}">
                <a16:creationId xmlns:a16="http://schemas.microsoft.com/office/drawing/2014/main" id="{3CADFD1E-554F-2C97-50DE-686AC2E8B747}"/>
              </a:ext>
            </a:extLst>
          </p:cNvPr>
          <p:cNvSpPr/>
          <p:nvPr/>
        </p:nvSpPr>
        <p:spPr>
          <a:xfrm>
            <a:off x="16459200" y="9182100"/>
            <a:ext cx="2636110" cy="1524151"/>
          </a:xfrm>
          <a:custGeom>
            <a:avLst/>
            <a:gdLst/>
            <a:ahLst/>
            <a:cxnLst/>
            <a:rect l="l" t="t" r="r" b="b"/>
            <a:pathLst>
              <a:path w="2636110" h="1524151">
                <a:moveTo>
                  <a:pt x="0" y="0"/>
                </a:moveTo>
                <a:lnTo>
                  <a:pt x="2636110" y="0"/>
                </a:lnTo>
                <a:lnTo>
                  <a:pt x="2636110" y="1524151"/>
                </a:lnTo>
                <a:lnTo>
                  <a:pt x="0" y="152415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dirty="0"/>
          </a:p>
        </p:txBody>
      </p:sp>
      <p:sp>
        <p:nvSpPr>
          <p:cNvPr id="11" name="Freeform 11">
            <a:extLst>
              <a:ext uri="{FF2B5EF4-FFF2-40B4-BE49-F238E27FC236}">
                <a16:creationId xmlns:a16="http://schemas.microsoft.com/office/drawing/2014/main" id="{33BE43B9-743E-9A52-E58E-73BCE2E4FD3D}"/>
              </a:ext>
            </a:extLst>
          </p:cNvPr>
          <p:cNvSpPr/>
          <p:nvPr/>
        </p:nvSpPr>
        <p:spPr>
          <a:xfrm flipH="1" flipV="1">
            <a:off x="-762000" y="-428776"/>
            <a:ext cx="2636110" cy="1524151"/>
          </a:xfrm>
          <a:custGeom>
            <a:avLst/>
            <a:gdLst/>
            <a:ahLst/>
            <a:cxnLst/>
            <a:rect l="l" t="t" r="r" b="b"/>
            <a:pathLst>
              <a:path w="2636110" h="1524151">
                <a:moveTo>
                  <a:pt x="2636110" y="1524151"/>
                </a:moveTo>
                <a:lnTo>
                  <a:pt x="0" y="1524151"/>
                </a:lnTo>
                <a:lnTo>
                  <a:pt x="0" y="0"/>
                </a:lnTo>
                <a:lnTo>
                  <a:pt x="2636110" y="0"/>
                </a:lnTo>
                <a:lnTo>
                  <a:pt x="2636110" y="1524151"/>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dirty="0"/>
          </a:p>
        </p:txBody>
      </p:sp>
      <p:sp>
        <p:nvSpPr>
          <p:cNvPr id="25" name="TextBox 24">
            <a:extLst>
              <a:ext uri="{FF2B5EF4-FFF2-40B4-BE49-F238E27FC236}">
                <a16:creationId xmlns:a16="http://schemas.microsoft.com/office/drawing/2014/main" id="{6A5522E9-B591-8335-049A-2A56EC7E0041}"/>
              </a:ext>
            </a:extLst>
          </p:cNvPr>
          <p:cNvSpPr txBox="1"/>
          <p:nvPr/>
        </p:nvSpPr>
        <p:spPr>
          <a:xfrm>
            <a:off x="2362200" y="1327064"/>
            <a:ext cx="6286682" cy="784830"/>
          </a:xfrm>
          <a:prstGeom prst="rect">
            <a:avLst/>
          </a:prstGeom>
          <a:noFill/>
        </p:spPr>
        <p:txBody>
          <a:bodyPr wrap="square" rtlCol="0">
            <a:spAutoFit/>
          </a:bodyPr>
          <a:lstStyle/>
          <a:p>
            <a:r>
              <a:rPr lang="en-IN" sz="4500" dirty="0">
                <a:effectLst>
                  <a:outerShdw blurRad="38100" dist="38100" dir="2700000" algn="tl">
                    <a:srgbClr val="000000">
                      <a:alpha val="43137"/>
                    </a:srgbClr>
                  </a:outerShdw>
                </a:effectLst>
                <a:latin typeface="+mj-lt"/>
              </a:rPr>
              <a:t>Limitations</a:t>
            </a:r>
          </a:p>
        </p:txBody>
      </p:sp>
      <p:sp>
        <p:nvSpPr>
          <p:cNvPr id="7" name="TextBox 6">
            <a:extLst>
              <a:ext uri="{FF2B5EF4-FFF2-40B4-BE49-F238E27FC236}">
                <a16:creationId xmlns:a16="http://schemas.microsoft.com/office/drawing/2014/main" id="{ED794899-4B12-8F49-8BD7-9AA43BA4F58A}"/>
              </a:ext>
            </a:extLst>
          </p:cNvPr>
          <p:cNvSpPr txBox="1"/>
          <p:nvPr/>
        </p:nvSpPr>
        <p:spPr>
          <a:xfrm>
            <a:off x="8669121" y="8951267"/>
            <a:ext cx="495649" cy="461665"/>
          </a:xfrm>
          <a:prstGeom prst="rect">
            <a:avLst/>
          </a:prstGeom>
          <a:noFill/>
        </p:spPr>
        <p:txBody>
          <a:bodyPr wrap="none" rtlCol="0">
            <a:spAutoFit/>
          </a:bodyPr>
          <a:lstStyle/>
          <a:p>
            <a:r>
              <a:rPr lang="en-IN" sz="2400" dirty="0">
                <a:solidFill>
                  <a:schemeClr val="tx1">
                    <a:lumMod val="65000"/>
                    <a:lumOff val="35000"/>
                  </a:schemeClr>
                </a:solidFill>
              </a:rPr>
              <a:t>26</a:t>
            </a:r>
          </a:p>
        </p:txBody>
      </p:sp>
      <p:sp>
        <p:nvSpPr>
          <p:cNvPr id="2" name="TextBox 1">
            <a:extLst>
              <a:ext uri="{FF2B5EF4-FFF2-40B4-BE49-F238E27FC236}">
                <a16:creationId xmlns:a16="http://schemas.microsoft.com/office/drawing/2014/main" id="{A37C73FD-3C09-F6B5-44E8-930576160798}"/>
              </a:ext>
            </a:extLst>
          </p:cNvPr>
          <p:cNvSpPr txBox="1"/>
          <p:nvPr/>
        </p:nvSpPr>
        <p:spPr>
          <a:xfrm>
            <a:off x="2382439" y="4682473"/>
            <a:ext cx="6286682" cy="784830"/>
          </a:xfrm>
          <a:prstGeom prst="rect">
            <a:avLst/>
          </a:prstGeom>
          <a:noFill/>
        </p:spPr>
        <p:txBody>
          <a:bodyPr wrap="square" rtlCol="0">
            <a:spAutoFit/>
          </a:bodyPr>
          <a:lstStyle/>
          <a:p>
            <a:r>
              <a:rPr lang="en-IN" sz="4450" dirty="0">
                <a:effectLst>
                  <a:outerShdw blurRad="38100" dist="38100" dir="2700000" algn="tl">
                    <a:srgbClr val="000000">
                      <a:alpha val="43137"/>
                    </a:srgbClr>
                  </a:outerShdw>
                </a:effectLst>
                <a:latin typeface="+mj-lt"/>
              </a:rPr>
              <a:t>Future Scope</a:t>
            </a:r>
          </a:p>
        </p:txBody>
      </p:sp>
      <p:sp>
        <p:nvSpPr>
          <p:cNvPr id="4" name="TextBox 3">
            <a:extLst>
              <a:ext uri="{FF2B5EF4-FFF2-40B4-BE49-F238E27FC236}">
                <a16:creationId xmlns:a16="http://schemas.microsoft.com/office/drawing/2014/main" id="{5842F9AD-ADE6-32F8-338D-AB06017D77F6}"/>
              </a:ext>
            </a:extLst>
          </p:cNvPr>
          <p:cNvSpPr txBox="1"/>
          <p:nvPr/>
        </p:nvSpPr>
        <p:spPr>
          <a:xfrm>
            <a:off x="2658960" y="2377578"/>
            <a:ext cx="11426601" cy="2062103"/>
          </a:xfrm>
          <a:prstGeom prst="rect">
            <a:avLst/>
          </a:prstGeom>
          <a:noFill/>
        </p:spPr>
        <p:txBody>
          <a:bodyPr wrap="square">
            <a:spAutoFit/>
          </a:bodyPr>
          <a:lstStyle/>
          <a:p>
            <a:pPr marL="457200" indent="-457200">
              <a:buFont typeface="Arial" panose="020B0604020202020204" pitchFamily="34" charset="0"/>
              <a:buChar char="•"/>
            </a:pPr>
            <a:r>
              <a:rPr lang="en-US" sz="3200" dirty="0"/>
              <a:t>The model is trained on a limited dataset, so performance may reduce on unseen real-world data.</a:t>
            </a:r>
          </a:p>
          <a:p>
            <a:pPr marL="457200" indent="-457200">
              <a:buFont typeface="Arial" panose="020B0604020202020204" pitchFamily="34" charset="0"/>
              <a:buChar char="•"/>
            </a:pPr>
            <a:r>
              <a:rPr lang="en-US" sz="3200" dirty="0"/>
              <a:t>Experiments are performed on CPU without GPU acceleration, leading to higher training and computation time.</a:t>
            </a:r>
            <a:endParaRPr lang="en-IN" sz="3200" dirty="0"/>
          </a:p>
        </p:txBody>
      </p:sp>
      <p:sp>
        <p:nvSpPr>
          <p:cNvPr id="6" name="TextBox 5">
            <a:extLst>
              <a:ext uri="{FF2B5EF4-FFF2-40B4-BE49-F238E27FC236}">
                <a16:creationId xmlns:a16="http://schemas.microsoft.com/office/drawing/2014/main" id="{B839BF43-1F7C-EF51-48E4-11EE599FE34D}"/>
              </a:ext>
            </a:extLst>
          </p:cNvPr>
          <p:cNvSpPr txBox="1"/>
          <p:nvPr/>
        </p:nvSpPr>
        <p:spPr>
          <a:xfrm>
            <a:off x="2698990" y="5607219"/>
            <a:ext cx="12931560" cy="3046988"/>
          </a:xfrm>
          <a:prstGeom prst="rect">
            <a:avLst/>
          </a:prstGeom>
          <a:noFill/>
        </p:spPr>
        <p:txBody>
          <a:bodyPr wrap="square">
            <a:spAutoFit/>
          </a:bodyPr>
          <a:lstStyle/>
          <a:p>
            <a:pPr marL="457200" indent="-457200">
              <a:buFont typeface="Arial" panose="020B0604020202020204" pitchFamily="34" charset="0"/>
              <a:buChar char="•"/>
            </a:pPr>
            <a:r>
              <a:rPr lang="en-US" sz="3200" dirty="0"/>
              <a:t>Extend the system using GPU/accelerator-based parallel computing for faster training and inference.</a:t>
            </a:r>
          </a:p>
          <a:p>
            <a:pPr marL="457200" indent="-457200">
              <a:buFont typeface="Arial" panose="020B0604020202020204" pitchFamily="34" charset="0"/>
              <a:buChar char="•"/>
            </a:pPr>
            <a:r>
              <a:rPr lang="en-US" sz="3200" dirty="0"/>
              <a:t>Apply advanced architectures and larger datasets to improve accuracy and real-world performance.</a:t>
            </a:r>
          </a:p>
          <a:p>
            <a:pPr marL="457200" indent="-457200">
              <a:buFont typeface="Arial" panose="020B0604020202020204" pitchFamily="34" charset="0"/>
              <a:buChar char="•"/>
            </a:pPr>
            <a:r>
              <a:rPr lang="en-US" sz="3200" dirty="0"/>
              <a:t>Integrate optimized convolution techniques directly into CNN models to further improve computational efficiency.</a:t>
            </a:r>
            <a:endParaRPr lang="en-IN" sz="3200" dirty="0"/>
          </a:p>
        </p:txBody>
      </p:sp>
    </p:spTree>
    <p:extLst>
      <p:ext uri="{BB962C8B-B14F-4D97-AF65-F5344CB8AC3E}">
        <p14:creationId xmlns:p14="http://schemas.microsoft.com/office/powerpoint/2010/main" val="10913660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522D87-D079-A39B-B9C3-FB0A6508B6D4}"/>
            </a:ext>
          </a:extLst>
        </p:cNvPr>
        <p:cNvGrpSpPr/>
        <p:nvPr/>
      </p:nvGrpSpPr>
      <p:grpSpPr>
        <a:xfrm>
          <a:off x="0" y="0"/>
          <a:ext cx="0" cy="0"/>
          <a:chOff x="0" y="0"/>
          <a:chExt cx="0" cy="0"/>
        </a:xfrm>
      </p:grpSpPr>
      <p:grpSp>
        <p:nvGrpSpPr>
          <p:cNvPr id="19" name="Group 5">
            <a:extLst>
              <a:ext uri="{FF2B5EF4-FFF2-40B4-BE49-F238E27FC236}">
                <a16:creationId xmlns:a16="http://schemas.microsoft.com/office/drawing/2014/main" id="{9C52E5D7-A20C-CC0A-D8DA-215EDF073A50}"/>
              </a:ext>
            </a:extLst>
          </p:cNvPr>
          <p:cNvGrpSpPr/>
          <p:nvPr/>
        </p:nvGrpSpPr>
        <p:grpSpPr>
          <a:xfrm>
            <a:off x="18088875" y="-137537"/>
            <a:ext cx="1273129" cy="10562074"/>
            <a:chOff x="0" y="0"/>
            <a:chExt cx="335310" cy="2781781"/>
          </a:xfrm>
        </p:grpSpPr>
        <p:sp>
          <p:nvSpPr>
            <p:cNvPr id="20" name="Freeform 6">
              <a:extLst>
                <a:ext uri="{FF2B5EF4-FFF2-40B4-BE49-F238E27FC236}">
                  <a16:creationId xmlns:a16="http://schemas.microsoft.com/office/drawing/2014/main" id="{F0C2D388-2CE9-2CC6-5364-A14EEAD87C12}"/>
                </a:ext>
              </a:extLst>
            </p:cNvPr>
            <p:cNvSpPr/>
            <p:nvPr/>
          </p:nvSpPr>
          <p:spPr>
            <a:xfrm>
              <a:off x="0" y="0"/>
              <a:ext cx="335310" cy="2781781"/>
            </a:xfrm>
            <a:custGeom>
              <a:avLst/>
              <a:gdLst/>
              <a:ahLst/>
              <a:cxnLst/>
              <a:rect l="l" t="t" r="r" b="b"/>
              <a:pathLst>
                <a:path w="335310" h="2781781">
                  <a:moveTo>
                    <a:pt x="0" y="0"/>
                  </a:moveTo>
                  <a:lnTo>
                    <a:pt x="335310" y="0"/>
                  </a:lnTo>
                  <a:lnTo>
                    <a:pt x="335310" y="2781781"/>
                  </a:lnTo>
                  <a:lnTo>
                    <a:pt x="0" y="2781781"/>
                  </a:lnTo>
                  <a:close/>
                </a:path>
              </a:pathLst>
            </a:custGeom>
            <a:solidFill>
              <a:srgbClr val="F5DFDC"/>
            </a:solidFill>
            <a:ln cap="sq">
              <a:noFill/>
              <a:prstDash val="solid"/>
              <a:miter/>
            </a:ln>
          </p:spPr>
          <p:txBody>
            <a:bodyPr/>
            <a:lstStyle/>
            <a:p>
              <a:endParaRPr lang="en-IN"/>
            </a:p>
          </p:txBody>
        </p:sp>
        <p:sp>
          <p:nvSpPr>
            <p:cNvPr id="21" name="TextBox 7">
              <a:extLst>
                <a:ext uri="{FF2B5EF4-FFF2-40B4-BE49-F238E27FC236}">
                  <a16:creationId xmlns:a16="http://schemas.microsoft.com/office/drawing/2014/main" id="{A601889B-8132-EC99-F418-6A26BA4160BE}"/>
                </a:ext>
              </a:extLst>
            </p:cNvPr>
            <p:cNvSpPr txBox="1"/>
            <p:nvPr/>
          </p:nvSpPr>
          <p:spPr>
            <a:xfrm>
              <a:off x="0" y="38100"/>
              <a:ext cx="335310" cy="2743681"/>
            </a:xfrm>
            <a:prstGeom prst="rect">
              <a:avLst/>
            </a:prstGeom>
          </p:spPr>
          <p:txBody>
            <a:bodyPr lIns="50800" tIns="50800" rIns="50800" bIns="50800" rtlCol="0" anchor="ctr"/>
            <a:lstStyle/>
            <a:p>
              <a:pPr algn="ctr">
                <a:lnSpc>
                  <a:spcPts val="2100"/>
                </a:lnSpc>
              </a:pPr>
              <a:endParaRPr/>
            </a:p>
          </p:txBody>
        </p:sp>
      </p:grpSp>
      <p:grpSp>
        <p:nvGrpSpPr>
          <p:cNvPr id="16" name="Group 2">
            <a:extLst>
              <a:ext uri="{FF2B5EF4-FFF2-40B4-BE49-F238E27FC236}">
                <a16:creationId xmlns:a16="http://schemas.microsoft.com/office/drawing/2014/main" id="{22124068-A767-168E-C72F-DBEC432B9655}"/>
              </a:ext>
            </a:extLst>
          </p:cNvPr>
          <p:cNvGrpSpPr/>
          <p:nvPr/>
        </p:nvGrpSpPr>
        <p:grpSpPr>
          <a:xfrm>
            <a:off x="-998214" y="24260"/>
            <a:ext cx="1273129" cy="10562074"/>
            <a:chOff x="0" y="0"/>
            <a:chExt cx="335310" cy="2781781"/>
          </a:xfrm>
        </p:grpSpPr>
        <p:sp>
          <p:nvSpPr>
            <p:cNvPr id="17" name="Freeform 3">
              <a:extLst>
                <a:ext uri="{FF2B5EF4-FFF2-40B4-BE49-F238E27FC236}">
                  <a16:creationId xmlns:a16="http://schemas.microsoft.com/office/drawing/2014/main" id="{7271470E-04C9-BB06-DDA9-FE03EB0AEACB}"/>
                </a:ext>
              </a:extLst>
            </p:cNvPr>
            <p:cNvSpPr/>
            <p:nvPr/>
          </p:nvSpPr>
          <p:spPr>
            <a:xfrm>
              <a:off x="0" y="0"/>
              <a:ext cx="335310" cy="2781781"/>
            </a:xfrm>
            <a:custGeom>
              <a:avLst/>
              <a:gdLst/>
              <a:ahLst/>
              <a:cxnLst/>
              <a:rect l="l" t="t" r="r" b="b"/>
              <a:pathLst>
                <a:path w="335310" h="2781781">
                  <a:moveTo>
                    <a:pt x="0" y="0"/>
                  </a:moveTo>
                  <a:lnTo>
                    <a:pt x="335310" y="0"/>
                  </a:lnTo>
                  <a:lnTo>
                    <a:pt x="335310" y="2781781"/>
                  </a:lnTo>
                  <a:lnTo>
                    <a:pt x="0" y="2781781"/>
                  </a:lnTo>
                  <a:close/>
                </a:path>
              </a:pathLst>
            </a:custGeom>
            <a:solidFill>
              <a:srgbClr val="F5DFDC"/>
            </a:solidFill>
            <a:ln cap="sq">
              <a:noFill/>
              <a:prstDash val="solid"/>
              <a:miter/>
            </a:ln>
          </p:spPr>
          <p:txBody>
            <a:bodyPr/>
            <a:lstStyle/>
            <a:p>
              <a:endParaRPr lang="en-IN"/>
            </a:p>
          </p:txBody>
        </p:sp>
        <p:sp>
          <p:nvSpPr>
            <p:cNvPr id="18" name="TextBox 4">
              <a:extLst>
                <a:ext uri="{FF2B5EF4-FFF2-40B4-BE49-F238E27FC236}">
                  <a16:creationId xmlns:a16="http://schemas.microsoft.com/office/drawing/2014/main" id="{26B1F171-B85A-F6C5-D624-6C4F79265E6A}"/>
                </a:ext>
              </a:extLst>
            </p:cNvPr>
            <p:cNvSpPr txBox="1"/>
            <p:nvPr/>
          </p:nvSpPr>
          <p:spPr>
            <a:xfrm>
              <a:off x="0" y="38100"/>
              <a:ext cx="335310" cy="2743681"/>
            </a:xfrm>
            <a:prstGeom prst="rect">
              <a:avLst/>
            </a:prstGeom>
          </p:spPr>
          <p:txBody>
            <a:bodyPr lIns="50800" tIns="50800" rIns="50800" bIns="50800" rtlCol="0" anchor="ctr"/>
            <a:lstStyle/>
            <a:p>
              <a:pPr algn="ctr">
                <a:lnSpc>
                  <a:spcPts val="2100"/>
                </a:lnSpc>
              </a:pPr>
              <a:endParaRPr/>
            </a:p>
          </p:txBody>
        </p:sp>
      </p:grpSp>
      <p:sp>
        <p:nvSpPr>
          <p:cNvPr id="8" name="Freeform 8">
            <a:extLst>
              <a:ext uri="{FF2B5EF4-FFF2-40B4-BE49-F238E27FC236}">
                <a16:creationId xmlns:a16="http://schemas.microsoft.com/office/drawing/2014/main" id="{04746BE1-53C2-CCE6-B33C-6CE0CD18550C}"/>
              </a:ext>
            </a:extLst>
          </p:cNvPr>
          <p:cNvSpPr/>
          <p:nvPr/>
        </p:nvSpPr>
        <p:spPr>
          <a:xfrm>
            <a:off x="14706600" y="-202510"/>
            <a:ext cx="4521184" cy="1528982"/>
          </a:xfrm>
          <a:custGeom>
            <a:avLst/>
            <a:gdLst/>
            <a:ahLst/>
            <a:cxnLst/>
            <a:rect l="l" t="t" r="r" b="b"/>
            <a:pathLst>
              <a:path w="4521184" h="1528982">
                <a:moveTo>
                  <a:pt x="0" y="0"/>
                </a:moveTo>
                <a:lnTo>
                  <a:pt x="4521184" y="0"/>
                </a:lnTo>
                <a:lnTo>
                  <a:pt x="4521184" y="1528982"/>
                </a:lnTo>
                <a:lnTo>
                  <a:pt x="0" y="152898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9" name="Freeform 9">
            <a:extLst>
              <a:ext uri="{FF2B5EF4-FFF2-40B4-BE49-F238E27FC236}">
                <a16:creationId xmlns:a16="http://schemas.microsoft.com/office/drawing/2014/main" id="{1C7EF689-3E65-FE5E-F03D-8DDEC2F5EB91}"/>
              </a:ext>
            </a:extLst>
          </p:cNvPr>
          <p:cNvSpPr/>
          <p:nvPr/>
        </p:nvSpPr>
        <p:spPr>
          <a:xfrm flipH="1" flipV="1">
            <a:off x="-1128348" y="8895555"/>
            <a:ext cx="4521184" cy="1528982"/>
          </a:xfrm>
          <a:custGeom>
            <a:avLst/>
            <a:gdLst/>
            <a:ahLst/>
            <a:cxnLst/>
            <a:rect l="l" t="t" r="r" b="b"/>
            <a:pathLst>
              <a:path w="4521184" h="1528982">
                <a:moveTo>
                  <a:pt x="4521184" y="1528982"/>
                </a:moveTo>
                <a:lnTo>
                  <a:pt x="0" y="1528982"/>
                </a:lnTo>
                <a:lnTo>
                  <a:pt x="0" y="0"/>
                </a:lnTo>
                <a:lnTo>
                  <a:pt x="4521184" y="0"/>
                </a:lnTo>
                <a:lnTo>
                  <a:pt x="4521184" y="1528982"/>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10" name="Freeform 10">
            <a:extLst>
              <a:ext uri="{FF2B5EF4-FFF2-40B4-BE49-F238E27FC236}">
                <a16:creationId xmlns:a16="http://schemas.microsoft.com/office/drawing/2014/main" id="{1B7891A9-06C1-4824-4112-30041C7E3D0B}"/>
              </a:ext>
            </a:extLst>
          </p:cNvPr>
          <p:cNvSpPr/>
          <p:nvPr/>
        </p:nvSpPr>
        <p:spPr>
          <a:xfrm>
            <a:off x="16459200" y="9182100"/>
            <a:ext cx="2636110" cy="1524151"/>
          </a:xfrm>
          <a:custGeom>
            <a:avLst/>
            <a:gdLst/>
            <a:ahLst/>
            <a:cxnLst/>
            <a:rect l="l" t="t" r="r" b="b"/>
            <a:pathLst>
              <a:path w="2636110" h="1524151">
                <a:moveTo>
                  <a:pt x="0" y="0"/>
                </a:moveTo>
                <a:lnTo>
                  <a:pt x="2636110" y="0"/>
                </a:lnTo>
                <a:lnTo>
                  <a:pt x="2636110" y="1524151"/>
                </a:lnTo>
                <a:lnTo>
                  <a:pt x="0" y="152415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dirty="0"/>
          </a:p>
        </p:txBody>
      </p:sp>
      <p:sp>
        <p:nvSpPr>
          <p:cNvPr id="11" name="Freeform 11">
            <a:extLst>
              <a:ext uri="{FF2B5EF4-FFF2-40B4-BE49-F238E27FC236}">
                <a16:creationId xmlns:a16="http://schemas.microsoft.com/office/drawing/2014/main" id="{DA94947F-4CE6-E128-D310-EB1A4A42AEC8}"/>
              </a:ext>
            </a:extLst>
          </p:cNvPr>
          <p:cNvSpPr/>
          <p:nvPr/>
        </p:nvSpPr>
        <p:spPr>
          <a:xfrm flipH="1" flipV="1">
            <a:off x="-762000" y="-428776"/>
            <a:ext cx="2636110" cy="1524151"/>
          </a:xfrm>
          <a:custGeom>
            <a:avLst/>
            <a:gdLst/>
            <a:ahLst/>
            <a:cxnLst/>
            <a:rect l="l" t="t" r="r" b="b"/>
            <a:pathLst>
              <a:path w="2636110" h="1524151">
                <a:moveTo>
                  <a:pt x="2636110" y="1524151"/>
                </a:moveTo>
                <a:lnTo>
                  <a:pt x="0" y="1524151"/>
                </a:lnTo>
                <a:lnTo>
                  <a:pt x="0" y="0"/>
                </a:lnTo>
                <a:lnTo>
                  <a:pt x="2636110" y="0"/>
                </a:lnTo>
                <a:lnTo>
                  <a:pt x="2636110" y="1524151"/>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dirty="0"/>
          </a:p>
        </p:txBody>
      </p:sp>
      <p:sp>
        <p:nvSpPr>
          <p:cNvPr id="25" name="TextBox 24">
            <a:extLst>
              <a:ext uri="{FF2B5EF4-FFF2-40B4-BE49-F238E27FC236}">
                <a16:creationId xmlns:a16="http://schemas.microsoft.com/office/drawing/2014/main" id="{375DC1B4-90CE-2BDF-7BFD-690355F710B8}"/>
              </a:ext>
            </a:extLst>
          </p:cNvPr>
          <p:cNvSpPr txBox="1"/>
          <p:nvPr/>
        </p:nvSpPr>
        <p:spPr>
          <a:xfrm>
            <a:off x="2113044" y="1095375"/>
            <a:ext cx="6286682" cy="907941"/>
          </a:xfrm>
          <a:prstGeom prst="rect">
            <a:avLst/>
          </a:prstGeom>
          <a:noFill/>
        </p:spPr>
        <p:txBody>
          <a:bodyPr wrap="square" rtlCol="0">
            <a:spAutoFit/>
          </a:bodyPr>
          <a:lstStyle/>
          <a:p>
            <a:r>
              <a:rPr lang="en-IN" sz="5300" dirty="0">
                <a:effectLst>
                  <a:outerShdw blurRad="38100" dist="38100" dir="2700000" algn="tl">
                    <a:srgbClr val="000000">
                      <a:alpha val="43137"/>
                    </a:srgbClr>
                  </a:outerShdw>
                </a:effectLst>
                <a:latin typeface="+mj-lt"/>
              </a:rPr>
              <a:t>Conclusion</a:t>
            </a:r>
          </a:p>
        </p:txBody>
      </p:sp>
      <p:sp>
        <p:nvSpPr>
          <p:cNvPr id="12" name="TextBox 11">
            <a:extLst>
              <a:ext uri="{FF2B5EF4-FFF2-40B4-BE49-F238E27FC236}">
                <a16:creationId xmlns:a16="http://schemas.microsoft.com/office/drawing/2014/main" id="{3F536966-FA8C-1C37-0D66-F5B0FCFF7893}"/>
              </a:ext>
            </a:extLst>
          </p:cNvPr>
          <p:cNvSpPr txBox="1"/>
          <p:nvPr/>
        </p:nvSpPr>
        <p:spPr>
          <a:xfrm>
            <a:off x="8669121" y="8951267"/>
            <a:ext cx="495649" cy="461665"/>
          </a:xfrm>
          <a:prstGeom prst="rect">
            <a:avLst/>
          </a:prstGeom>
          <a:noFill/>
        </p:spPr>
        <p:txBody>
          <a:bodyPr wrap="none" rtlCol="0">
            <a:spAutoFit/>
          </a:bodyPr>
          <a:lstStyle/>
          <a:p>
            <a:r>
              <a:rPr lang="en-IN" sz="2400" dirty="0">
                <a:solidFill>
                  <a:schemeClr val="tx1">
                    <a:lumMod val="65000"/>
                    <a:lumOff val="35000"/>
                  </a:schemeClr>
                </a:solidFill>
              </a:rPr>
              <a:t>27</a:t>
            </a:r>
          </a:p>
        </p:txBody>
      </p:sp>
      <p:sp>
        <p:nvSpPr>
          <p:cNvPr id="4" name="TextBox 3">
            <a:extLst>
              <a:ext uri="{FF2B5EF4-FFF2-40B4-BE49-F238E27FC236}">
                <a16:creationId xmlns:a16="http://schemas.microsoft.com/office/drawing/2014/main" id="{BEF75EBC-600C-0E9C-0436-871BC8F983DC}"/>
              </a:ext>
            </a:extLst>
          </p:cNvPr>
          <p:cNvSpPr txBox="1"/>
          <p:nvPr/>
        </p:nvSpPr>
        <p:spPr>
          <a:xfrm>
            <a:off x="2190901" y="2304475"/>
            <a:ext cx="12956439" cy="4832092"/>
          </a:xfrm>
          <a:prstGeom prst="rect">
            <a:avLst/>
          </a:prstGeom>
          <a:noFill/>
        </p:spPr>
        <p:txBody>
          <a:bodyPr wrap="square">
            <a:spAutoFit/>
          </a:bodyPr>
          <a:lstStyle/>
          <a:p>
            <a:pPr marL="457200" indent="-457200" algn="just">
              <a:spcAft>
                <a:spcPts val="600"/>
              </a:spcAft>
              <a:buFont typeface="Arial" panose="020B0604020202020204" pitchFamily="34" charset="0"/>
              <a:buChar char="•"/>
            </a:pPr>
            <a:r>
              <a:rPr lang="en-US" sz="3200" dirty="0"/>
              <a:t>A CNN-based model is developed for brain tumor detection using MRI images with good accuracy.</a:t>
            </a:r>
          </a:p>
          <a:p>
            <a:pPr marL="457200" indent="-457200" algn="just">
              <a:spcAft>
                <a:spcPts val="600"/>
              </a:spcAft>
              <a:buFont typeface="Arial" panose="020B0604020202020204" pitchFamily="34" charset="0"/>
              <a:buChar char="•"/>
            </a:pPr>
            <a:r>
              <a:rPr lang="en-US" sz="3200" dirty="0"/>
              <a:t>Convolution is identified as the main computational bottleneck.</a:t>
            </a:r>
          </a:p>
          <a:p>
            <a:pPr marL="457200" indent="-457200" algn="just">
              <a:spcAft>
                <a:spcPts val="600"/>
              </a:spcAft>
              <a:buFont typeface="Arial" panose="020B0604020202020204" pitchFamily="34" charset="0"/>
              <a:buChar char="•"/>
            </a:pPr>
            <a:r>
              <a:rPr lang="en-US" sz="3200" dirty="0"/>
              <a:t>Four methods are implemented: Naive, Naive + OpenMP, img2col, and img2col + OpenMP.</a:t>
            </a:r>
          </a:p>
          <a:p>
            <a:pPr marL="457200" indent="-457200" algn="just">
              <a:spcAft>
                <a:spcPts val="600"/>
              </a:spcAft>
              <a:buFont typeface="Arial" panose="020B0604020202020204" pitchFamily="34" charset="0"/>
              <a:buChar char="•"/>
            </a:pPr>
            <a:r>
              <a:rPr lang="en-US" sz="3200" dirty="0"/>
              <a:t>Using OpenMP (collapse), img2col + OpenMP achieves the best performance.</a:t>
            </a:r>
          </a:p>
          <a:p>
            <a:pPr marL="457200" indent="-457200" algn="just">
              <a:spcAft>
                <a:spcPts val="600"/>
              </a:spcAft>
              <a:buFont typeface="Arial" panose="020B0604020202020204" pitchFamily="34" charset="0"/>
              <a:buChar char="•"/>
            </a:pPr>
            <a:r>
              <a:rPr lang="en-US" sz="3200" dirty="0"/>
              <a:t>Further improvement is obtained using collapse + scheduling, where guided scheduling gives the lowest execution time.</a:t>
            </a:r>
            <a:endParaRPr lang="en-IN" sz="3200" dirty="0"/>
          </a:p>
        </p:txBody>
      </p:sp>
    </p:spTree>
    <p:extLst>
      <p:ext uri="{BB962C8B-B14F-4D97-AF65-F5344CB8AC3E}">
        <p14:creationId xmlns:p14="http://schemas.microsoft.com/office/powerpoint/2010/main" val="136983512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82287D-BFF9-B6A5-EBE5-3D0B64E091C3}"/>
            </a:ext>
          </a:extLst>
        </p:cNvPr>
        <p:cNvGrpSpPr/>
        <p:nvPr/>
      </p:nvGrpSpPr>
      <p:grpSpPr>
        <a:xfrm>
          <a:off x="0" y="0"/>
          <a:ext cx="0" cy="0"/>
          <a:chOff x="0" y="0"/>
          <a:chExt cx="0" cy="0"/>
        </a:xfrm>
      </p:grpSpPr>
      <p:grpSp>
        <p:nvGrpSpPr>
          <p:cNvPr id="19" name="Group 5">
            <a:extLst>
              <a:ext uri="{FF2B5EF4-FFF2-40B4-BE49-F238E27FC236}">
                <a16:creationId xmlns:a16="http://schemas.microsoft.com/office/drawing/2014/main" id="{962C7F34-8DA1-8E19-47E4-F6BF7A136946}"/>
              </a:ext>
            </a:extLst>
          </p:cNvPr>
          <p:cNvGrpSpPr/>
          <p:nvPr/>
        </p:nvGrpSpPr>
        <p:grpSpPr>
          <a:xfrm>
            <a:off x="18088875" y="-137537"/>
            <a:ext cx="1273129" cy="10562074"/>
            <a:chOff x="0" y="0"/>
            <a:chExt cx="335310" cy="2781781"/>
          </a:xfrm>
        </p:grpSpPr>
        <p:sp>
          <p:nvSpPr>
            <p:cNvPr id="20" name="Freeform 6">
              <a:extLst>
                <a:ext uri="{FF2B5EF4-FFF2-40B4-BE49-F238E27FC236}">
                  <a16:creationId xmlns:a16="http://schemas.microsoft.com/office/drawing/2014/main" id="{3E864781-D9DB-E080-B909-A4DA4731A926}"/>
                </a:ext>
              </a:extLst>
            </p:cNvPr>
            <p:cNvSpPr/>
            <p:nvPr/>
          </p:nvSpPr>
          <p:spPr>
            <a:xfrm>
              <a:off x="0" y="0"/>
              <a:ext cx="335310" cy="2781781"/>
            </a:xfrm>
            <a:custGeom>
              <a:avLst/>
              <a:gdLst/>
              <a:ahLst/>
              <a:cxnLst/>
              <a:rect l="l" t="t" r="r" b="b"/>
              <a:pathLst>
                <a:path w="335310" h="2781781">
                  <a:moveTo>
                    <a:pt x="0" y="0"/>
                  </a:moveTo>
                  <a:lnTo>
                    <a:pt x="335310" y="0"/>
                  </a:lnTo>
                  <a:lnTo>
                    <a:pt x="335310" y="2781781"/>
                  </a:lnTo>
                  <a:lnTo>
                    <a:pt x="0" y="2781781"/>
                  </a:lnTo>
                  <a:close/>
                </a:path>
              </a:pathLst>
            </a:custGeom>
            <a:solidFill>
              <a:srgbClr val="F5DFDC"/>
            </a:solidFill>
            <a:ln cap="sq">
              <a:noFill/>
              <a:prstDash val="solid"/>
              <a:miter/>
            </a:ln>
          </p:spPr>
          <p:txBody>
            <a:bodyPr/>
            <a:lstStyle/>
            <a:p>
              <a:endParaRPr lang="en-IN"/>
            </a:p>
          </p:txBody>
        </p:sp>
        <p:sp>
          <p:nvSpPr>
            <p:cNvPr id="21" name="TextBox 7">
              <a:extLst>
                <a:ext uri="{FF2B5EF4-FFF2-40B4-BE49-F238E27FC236}">
                  <a16:creationId xmlns:a16="http://schemas.microsoft.com/office/drawing/2014/main" id="{96C0E1C9-D24F-6D93-950E-2152517CF782}"/>
                </a:ext>
              </a:extLst>
            </p:cNvPr>
            <p:cNvSpPr txBox="1"/>
            <p:nvPr/>
          </p:nvSpPr>
          <p:spPr>
            <a:xfrm>
              <a:off x="0" y="38100"/>
              <a:ext cx="335310" cy="2743681"/>
            </a:xfrm>
            <a:prstGeom prst="rect">
              <a:avLst/>
            </a:prstGeom>
          </p:spPr>
          <p:txBody>
            <a:bodyPr lIns="50800" tIns="50800" rIns="50800" bIns="50800" rtlCol="0" anchor="ctr"/>
            <a:lstStyle/>
            <a:p>
              <a:pPr algn="ctr">
                <a:lnSpc>
                  <a:spcPts val="2100"/>
                </a:lnSpc>
              </a:pPr>
              <a:endParaRPr/>
            </a:p>
          </p:txBody>
        </p:sp>
      </p:grpSp>
      <p:grpSp>
        <p:nvGrpSpPr>
          <p:cNvPr id="16" name="Group 2">
            <a:extLst>
              <a:ext uri="{FF2B5EF4-FFF2-40B4-BE49-F238E27FC236}">
                <a16:creationId xmlns:a16="http://schemas.microsoft.com/office/drawing/2014/main" id="{D00C54CB-3210-EB80-CC40-6A4FC904483B}"/>
              </a:ext>
            </a:extLst>
          </p:cNvPr>
          <p:cNvGrpSpPr/>
          <p:nvPr/>
        </p:nvGrpSpPr>
        <p:grpSpPr>
          <a:xfrm>
            <a:off x="-998214" y="24260"/>
            <a:ext cx="1273129" cy="10562074"/>
            <a:chOff x="0" y="0"/>
            <a:chExt cx="335310" cy="2781781"/>
          </a:xfrm>
        </p:grpSpPr>
        <p:sp>
          <p:nvSpPr>
            <p:cNvPr id="17" name="Freeform 3">
              <a:extLst>
                <a:ext uri="{FF2B5EF4-FFF2-40B4-BE49-F238E27FC236}">
                  <a16:creationId xmlns:a16="http://schemas.microsoft.com/office/drawing/2014/main" id="{1149066E-931A-042D-A245-729B97D066E7}"/>
                </a:ext>
              </a:extLst>
            </p:cNvPr>
            <p:cNvSpPr/>
            <p:nvPr/>
          </p:nvSpPr>
          <p:spPr>
            <a:xfrm>
              <a:off x="0" y="0"/>
              <a:ext cx="335310" cy="2781781"/>
            </a:xfrm>
            <a:custGeom>
              <a:avLst/>
              <a:gdLst/>
              <a:ahLst/>
              <a:cxnLst/>
              <a:rect l="l" t="t" r="r" b="b"/>
              <a:pathLst>
                <a:path w="335310" h="2781781">
                  <a:moveTo>
                    <a:pt x="0" y="0"/>
                  </a:moveTo>
                  <a:lnTo>
                    <a:pt x="335310" y="0"/>
                  </a:lnTo>
                  <a:lnTo>
                    <a:pt x="335310" y="2781781"/>
                  </a:lnTo>
                  <a:lnTo>
                    <a:pt x="0" y="2781781"/>
                  </a:lnTo>
                  <a:close/>
                </a:path>
              </a:pathLst>
            </a:custGeom>
            <a:solidFill>
              <a:srgbClr val="F5DFDC"/>
            </a:solidFill>
            <a:ln cap="sq">
              <a:noFill/>
              <a:prstDash val="solid"/>
              <a:miter/>
            </a:ln>
          </p:spPr>
          <p:txBody>
            <a:bodyPr/>
            <a:lstStyle/>
            <a:p>
              <a:endParaRPr lang="en-IN"/>
            </a:p>
          </p:txBody>
        </p:sp>
        <p:sp>
          <p:nvSpPr>
            <p:cNvPr id="18" name="TextBox 4">
              <a:extLst>
                <a:ext uri="{FF2B5EF4-FFF2-40B4-BE49-F238E27FC236}">
                  <a16:creationId xmlns:a16="http://schemas.microsoft.com/office/drawing/2014/main" id="{E66B8A91-88B2-1BD9-98BF-31C8606E7A61}"/>
                </a:ext>
              </a:extLst>
            </p:cNvPr>
            <p:cNvSpPr txBox="1"/>
            <p:nvPr/>
          </p:nvSpPr>
          <p:spPr>
            <a:xfrm>
              <a:off x="0" y="38100"/>
              <a:ext cx="335310" cy="2743681"/>
            </a:xfrm>
            <a:prstGeom prst="rect">
              <a:avLst/>
            </a:prstGeom>
          </p:spPr>
          <p:txBody>
            <a:bodyPr lIns="50800" tIns="50800" rIns="50800" bIns="50800" rtlCol="0" anchor="ctr"/>
            <a:lstStyle/>
            <a:p>
              <a:pPr algn="ctr">
                <a:lnSpc>
                  <a:spcPts val="2100"/>
                </a:lnSpc>
              </a:pPr>
              <a:endParaRPr/>
            </a:p>
          </p:txBody>
        </p:sp>
      </p:grpSp>
      <p:sp>
        <p:nvSpPr>
          <p:cNvPr id="8" name="Freeform 8">
            <a:extLst>
              <a:ext uri="{FF2B5EF4-FFF2-40B4-BE49-F238E27FC236}">
                <a16:creationId xmlns:a16="http://schemas.microsoft.com/office/drawing/2014/main" id="{83FB1D40-C945-7D44-F572-1D5F5BE35B58}"/>
              </a:ext>
            </a:extLst>
          </p:cNvPr>
          <p:cNvSpPr/>
          <p:nvPr/>
        </p:nvSpPr>
        <p:spPr>
          <a:xfrm>
            <a:off x="14706600" y="-202510"/>
            <a:ext cx="4521184" cy="1528982"/>
          </a:xfrm>
          <a:custGeom>
            <a:avLst/>
            <a:gdLst/>
            <a:ahLst/>
            <a:cxnLst/>
            <a:rect l="l" t="t" r="r" b="b"/>
            <a:pathLst>
              <a:path w="4521184" h="1528982">
                <a:moveTo>
                  <a:pt x="0" y="0"/>
                </a:moveTo>
                <a:lnTo>
                  <a:pt x="4521184" y="0"/>
                </a:lnTo>
                <a:lnTo>
                  <a:pt x="4521184" y="1528982"/>
                </a:lnTo>
                <a:lnTo>
                  <a:pt x="0" y="152898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9" name="Freeform 9">
            <a:extLst>
              <a:ext uri="{FF2B5EF4-FFF2-40B4-BE49-F238E27FC236}">
                <a16:creationId xmlns:a16="http://schemas.microsoft.com/office/drawing/2014/main" id="{868F96E4-D160-7402-89B2-BDAA9E8616BE}"/>
              </a:ext>
            </a:extLst>
          </p:cNvPr>
          <p:cNvSpPr/>
          <p:nvPr/>
        </p:nvSpPr>
        <p:spPr>
          <a:xfrm flipH="1" flipV="1">
            <a:off x="-1128348" y="8895555"/>
            <a:ext cx="4521184" cy="1528982"/>
          </a:xfrm>
          <a:custGeom>
            <a:avLst/>
            <a:gdLst/>
            <a:ahLst/>
            <a:cxnLst/>
            <a:rect l="l" t="t" r="r" b="b"/>
            <a:pathLst>
              <a:path w="4521184" h="1528982">
                <a:moveTo>
                  <a:pt x="4521184" y="1528982"/>
                </a:moveTo>
                <a:lnTo>
                  <a:pt x="0" y="1528982"/>
                </a:lnTo>
                <a:lnTo>
                  <a:pt x="0" y="0"/>
                </a:lnTo>
                <a:lnTo>
                  <a:pt x="4521184" y="0"/>
                </a:lnTo>
                <a:lnTo>
                  <a:pt x="4521184" y="1528982"/>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10" name="Freeform 10">
            <a:extLst>
              <a:ext uri="{FF2B5EF4-FFF2-40B4-BE49-F238E27FC236}">
                <a16:creationId xmlns:a16="http://schemas.microsoft.com/office/drawing/2014/main" id="{445D4D52-F5BA-AD5E-82D4-CB843822991E}"/>
              </a:ext>
            </a:extLst>
          </p:cNvPr>
          <p:cNvSpPr/>
          <p:nvPr/>
        </p:nvSpPr>
        <p:spPr>
          <a:xfrm>
            <a:off x="16459200" y="9182100"/>
            <a:ext cx="2636110" cy="1524151"/>
          </a:xfrm>
          <a:custGeom>
            <a:avLst/>
            <a:gdLst/>
            <a:ahLst/>
            <a:cxnLst/>
            <a:rect l="l" t="t" r="r" b="b"/>
            <a:pathLst>
              <a:path w="2636110" h="1524151">
                <a:moveTo>
                  <a:pt x="0" y="0"/>
                </a:moveTo>
                <a:lnTo>
                  <a:pt x="2636110" y="0"/>
                </a:lnTo>
                <a:lnTo>
                  <a:pt x="2636110" y="1524151"/>
                </a:lnTo>
                <a:lnTo>
                  <a:pt x="0" y="152415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dirty="0"/>
          </a:p>
        </p:txBody>
      </p:sp>
      <p:sp>
        <p:nvSpPr>
          <p:cNvPr id="11" name="Freeform 11">
            <a:extLst>
              <a:ext uri="{FF2B5EF4-FFF2-40B4-BE49-F238E27FC236}">
                <a16:creationId xmlns:a16="http://schemas.microsoft.com/office/drawing/2014/main" id="{D7DAC46E-2AFA-7983-ECAC-49E5CEEB4CEE}"/>
              </a:ext>
            </a:extLst>
          </p:cNvPr>
          <p:cNvSpPr/>
          <p:nvPr/>
        </p:nvSpPr>
        <p:spPr>
          <a:xfrm flipH="1" flipV="1">
            <a:off x="-762000" y="-428776"/>
            <a:ext cx="2636110" cy="1524151"/>
          </a:xfrm>
          <a:custGeom>
            <a:avLst/>
            <a:gdLst/>
            <a:ahLst/>
            <a:cxnLst/>
            <a:rect l="l" t="t" r="r" b="b"/>
            <a:pathLst>
              <a:path w="2636110" h="1524151">
                <a:moveTo>
                  <a:pt x="2636110" y="1524151"/>
                </a:moveTo>
                <a:lnTo>
                  <a:pt x="0" y="1524151"/>
                </a:lnTo>
                <a:lnTo>
                  <a:pt x="0" y="0"/>
                </a:lnTo>
                <a:lnTo>
                  <a:pt x="2636110" y="0"/>
                </a:lnTo>
                <a:lnTo>
                  <a:pt x="2636110" y="1524151"/>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dirty="0"/>
          </a:p>
        </p:txBody>
      </p:sp>
      <p:sp>
        <p:nvSpPr>
          <p:cNvPr id="25" name="TextBox 24">
            <a:extLst>
              <a:ext uri="{FF2B5EF4-FFF2-40B4-BE49-F238E27FC236}">
                <a16:creationId xmlns:a16="http://schemas.microsoft.com/office/drawing/2014/main" id="{4846745F-B7E7-936E-98D9-292C8005AD21}"/>
              </a:ext>
            </a:extLst>
          </p:cNvPr>
          <p:cNvSpPr txBox="1"/>
          <p:nvPr/>
        </p:nvSpPr>
        <p:spPr>
          <a:xfrm>
            <a:off x="2113044" y="1095375"/>
            <a:ext cx="6286682" cy="907941"/>
          </a:xfrm>
          <a:prstGeom prst="rect">
            <a:avLst/>
          </a:prstGeom>
          <a:noFill/>
        </p:spPr>
        <p:txBody>
          <a:bodyPr wrap="square" rtlCol="0">
            <a:spAutoFit/>
          </a:bodyPr>
          <a:lstStyle/>
          <a:p>
            <a:r>
              <a:rPr lang="en-IN" sz="5300" dirty="0">
                <a:effectLst>
                  <a:outerShdw blurRad="38100" dist="38100" dir="2700000" algn="tl">
                    <a:srgbClr val="000000">
                      <a:alpha val="43137"/>
                    </a:srgbClr>
                  </a:outerShdw>
                </a:effectLst>
                <a:latin typeface="+mj-lt"/>
              </a:rPr>
              <a:t>References</a:t>
            </a:r>
          </a:p>
        </p:txBody>
      </p:sp>
      <p:sp>
        <p:nvSpPr>
          <p:cNvPr id="12" name="TextBox 11">
            <a:extLst>
              <a:ext uri="{FF2B5EF4-FFF2-40B4-BE49-F238E27FC236}">
                <a16:creationId xmlns:a16="http://schemas.microsoft.com/office/drawing/2014/main" id="{4C3F6E76-8559-360F-3CCA-3F561794FC44}"/>
              </a:ext>
            </a:extLst>
          </p:cNvPr>
          <p:cNvSpPr txBox="1"/>
          <p:nvPr/>
        </p:nvSpPr>
        <p:spPr>
          <a:xfrm>
            <a:off x="8669121" y="8951267"/>
            <a:ext cx="495649" cy="461665"/>
          </a:xfrm>
          <a:prstGeom prst="rect">
            <a:avLst/>
          </a:prstGeom>
          <a:noFill/>
        </p:spPr>
        <p:txBody>
          <a:bodyPr wrap="none" rtlCol="0">
            <a:spAutoFit/>
          </a:bodyPr>
          <a:lstStyle/>
          <a:p>
            <a:r>
              <a:rPr lang="en-IN" sz="2400" dirty="0">
                <a:solidFill>
                  <a:schemeClr val="tx1">
                    <a:lumMod val="65000"/>
                    <a:lumOff val="35000"/>
                  </a:schemeClr>
                </a:solidFill>
              </a:rPr>
              <a:t>28</a:t>
            </a:r>
          </a:p>
        </p:txBody>
      </p:sp>
      <p:sp>
        <p:nvSpPr>
          <p:cNvPr id="3" name="TextBox 2">
            <a:extLst>
              <a:ext uri="{FF2B5EF4-FFF2-40B4-BE49-F238E27FC236}">
                <a16:creationId xmlns:a16="http://schemas.microsoft.com/office/drawing/2014/main" id="{468A08FF-1A6A-F200-0ABA-C8E5ECF8D805}"/>
              </a:ext>
            </a:extLst>
          </p:cNvPr>
          <p:cNvSpPr txBox="1"/>
          <p:nvPr/>
        </p:nvSpPr>
        <p:spPr>
          <a:xfrm>
            <a:off x="1904590" y="2376805"/>
            <a:ext cx="14249400" cy="5742598"/>
          </a:xfrm>
          <a:prstGeom prst="rect">
            <a:avLst/>
          </a:prstGeom>
          <a:noFill/>
        </p:spPr>
        <p:txBody>
          <a:bodyPr wrap="square">
            <a:spAutoFit/>
          </a:bodyPr>
          <a:lstStyle/>
          <a:p>
            <a:pPr marL="514350" indent="-514350">
              <a:spcAft>
                <a:spcPts val="700"/>
              </a:spcAft>
              <a:buFont typeface="+mj-lt"/>
              <a:buAutoNum type="arabicPeriod"/>
            </a:pPr>
            <a:r>
              <a:rPr lang="en-IN" sz="2600" dirty="0" err="1"/>
              <a:t>Raviraju</a:t>
            </a:r>
            <a:r>
              <a:rPr lang="en-IN" sz="2600" dirty="0"/>
              <a:t> </a:t>
            </a:r>
            <a:r>
              <a:rPr lang="en-IN" sz="2600" dirty="0" err="1"/>
              <a:t>Balappa</a:t>
            </a:r>
            <a:r>
              <a:rPr lang="en-IN" sz="2600" dirty="0"/>
              <a:t> D, Dr. Gautam Kumar Rajput. “The Role and Application of Matrices in Artificial Intelligence: Foundations, Methods, and Advancements”, International Journal of Innovative Science and Research Technology , Volume 9,    Issue 11, November 2024.                                                                                               </a:t>
            </a:r>
          </a:p>
          <a:p>
            <a:pPr marL="514350" indent="-514350">
              <a:spcAft>
                <a:spcPts val="700"/>
              </a:spcAft>
              <a:buFont typeface="+mj-lt"/>
              <a:buAutoNum type="arabicPeriod"/>
            </a:pPr>
            <a:r>
              <a:rPr lang="en-IN" sz="2600" dirty="0"/>
              <a:t>Jiawei Guo, </a:t>
            </a:r>
            <a:r>
              <a:rPr lang="en-IN" sz="2600" dirty="0" err="1"/>
              <a:t>Jieming</a:t>
            </a:r>
            <a:r>
              <a:rPr lang="en-IN" sz="2600" dirty="0"/>
              <a:t> Mab, Ángel F. García-Fernández, </a:t>
            </a:r>
            <a:r>
              <a:rPr lang="en-IN" sz="2600" dirty="0" err="1"/>
              <a:t>Yungang</a:t>
            </a:r>
            <a:r>
              <a:rPr lang="en-IN" sz="2600" dirty="0"/>
              <a:t> Zhang, Haining Liang. “A Survey on Image Enhancement for Low-light Images”, Heliyon,2023.</a:t>
            </a:r>
          </a:p>
          <a:p>
            <a:pPr marL="514350" indent="-514350">
              <a:spcAft>
                <a:spcPts val="700"/>
              </a:spcAft>
              <a:buFont typeface="+mj-lt"/>
              <a:buAutoNum type="arabicPeriod"/>
            </a:pPr>
            <a:r>
              <a:rPr lang="en-IN" sz="2600" dirty="0"/>
              <a:t>P. Gokila Brindha, M. Kavinraj, P. </a:t>
            </a:r>
            <a:r>
              <a:rPr lang="en-IN" sz="2600" dirty="0" err="1"/>
              <a:t>Manivasakam</a:t>
            </a:r>
            <a:r>
              <a:rPr lang="en-IN" sz="2600" dirty="0"/>
              <a:t>, and P. Prasanth, “Brain </a:t>
            </a:r>
            <a:r>
              <a:rPr lang="en-IN" sz="2600" dirty="0" err="1"/>
              <a:t>Tumor</a:t>
            </a:r>
            <a:r>
              <a:rPr lang="en-IN" sz="2600" dirty="0"/>
              <a:t> Detection from MRI Images Using Deep Learning Techniques,” IVC RAISE, 2020.</a:t>
            </a:r>
          </a:p>
          <a:p>
            <a:pPr marL="514350" indent="-514350" algn="just">
              <a:spcAft>
                <a:spcPts val="700"/>
              </a:spcAft>
              <a:buFont typeface="+mj-lt"/>
              <a:buAutoNum type="arabicPeriod"/>
            </a:pPr>
            <a:r>
              <a:rPr lang="en-IN" sz="2600" dirty="0"/>
              <a:t>Tonmoy Hossain, Fairuz Shadmani Shishir, </a:t>
            </a:r>
            <a:r>
              <a:rPr lang="en-IN" sz="2600" dirty="0" err="1"/>
              <a:t>Mohsena</a:t>
            </a:r>
            <a:r>
              <a:rPr lang="en-IN" sz="2600" dirty="0"/>
              <a:t> Ashraf, MD Abdullah Al Nasim, and Faisal Muhammad Shah, “Brain </a:t>
            </a:r>
            <a:r>
              <a:rPr lang="en-IN" sz="2600" dirty="0" err="1"/>
              <a:t>Tumor</a:t>
            </a:r>
            <a:r>
              <a:rPr lang="en-IN" sz="2600" dirty="0"/>
              <a:t> Detection Using Convolutional Neural Network,” IEEE, 2019.</a:t>
            </a:r>
          </a:p>
          <a:p>
            <a:pPr marL="514350" indent="-514350">
              <a:spcAft>
                <a:spcPts val="700"/>
              </a:spcAft>
              <a:buFont typeface="+mj-lt"/>
              <a:buAutoNum type="arabicPeriod"/>
            </a:pPr>
            <a:r>
              <a:rPr lang="en-IN" sz="2600" dirty="0"/>
              <a:t>Awad Bin Naeem, Onur Osman, </a:t>
            </a:r>
            <a:r>
              <a:rPr lang="en-IN" sz="2600" dirty="0" err="1"/>
              <a:t>Shtwai</a:t>
            </a:r>
            <a:r>
              <a:rPr lang="en-IN" sz="2600" dirty="0"/>
              <a:t> </a:t>
            </a:r>
            <a:r>
              <a:rPr lang="en-IN" sz="2600" dirty="0" err="1"/>
              <a:t>Alsubai</a:t>
            </a:r>
            <a:r>
              <a:rPr lang="en-IN" sz="2600" dirty="0"/>
              <a:t>, Taner </a:t>
            </a:r>
            <a:r>
              <a:rPr lang="en-IN" sz="2600" dirty="0" err="1"/>
              <a:t>Cevik</a:t>
            </a:r>
            <a:r>
              <a:rPr lang="en-IN" sz="2600" dirty="0"/>
              <a:t>, Abdelhamid Zaidi, and Jawad Rasheed, “Lightweight CNN for Accurate Brain </a:t>
            </a:r>
            <a:r>
              <a:rPr lang="en-IN" sz="2600" dirty="0" err="1"/>
              <a:t>Tumor</a:t>
            </a:r>
            <a:r>
              <a:rPr lang="en-IN" sz="2600" dirty="0"/>
              <a:t> Detection from MRI with Limited Training Data,”2025.</a:t>
            </a:r>
          </a:p>
          <a:p>
            <a:pPr marL="514350" indent="-514350">
              <a:spcAft>
                <a:spcPts val="700"/>
              </a:spcAft>
              <a:buFont typeface="+mj-lt"/>
              <a:buAutoNum type="arabicPeriod"/>
            </a:pPr>
            <a:r>
              <a:rPr lang="en-IN" sz="2600" dirty="0"/>
              <a:t>Ranit Sen, Gopinath Balaji, and Harsh </a:t>
            </a:r>
            <a:r>
              <a:rPr lang="en-IN" sz="2600" dirty="0" err="1"/>
              <a:t>Kirty</a:t>
            </a:r>
            <a:r>
              <a:rPr lang="en-IN" sz="2600" dirty="0"/>
              <a:t>, “Detection and Classification of Brain </a:t>
            </a:r>
            <a:r>
              <a:rPr lang="en-IN" sz="2600" dirty="0" err="1"/>
              <a:t>Tumors</a:t>
            </a:r>
            <a:r>
              <a:rPr lang="en-IN" sz="2600" dirty="0"/>
              <a:t> Using Deep Convolutional Neural Networks,” 2022.</a:t>
            </a:r>
          </a:p>
        </p:txBody>
      </p:sp>
    </p:spTree>
    <p:extLst>
      <p:ext uri="{BB962C8B-B14F-4D97-AF65-F5344CB8AC3E}">
        <p14:creationId xmlns:p14="http://schemas.microsoft.com/office/powerpoint/2010/main" val="289873231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FCEAAB-FCF9-899B-95F8-86E1BA5C6C92}"/>
            </a:ext>
          </a:extLst>
        </p:cNvPr>
        <p:cNvGrpSpPr/>
        <p:nvPr/>
      </p:nvGrpSpPr>
      <p:grpSpPr>
        <a:xfrm>
          <a:off x="0" y="0"/>
          <a:ext cx="0" cy="0"/>
          <a:chOff x="0" y="0"/>
          <a:chExt cx="0" cy="0"/>
        </a:xfrm>
      </p:grpSpPr>
      <p:grpSp>
        <p:nvGrpSpPr>
          <p:cNvPr id="19" name="Group 5">
            <a:extLst>
              <a:ext uri="{FF2B5EF4-FFF2-40B4-BE49-F238E27FC236}">
                <a16:creationId xmlns:a16="http://schemas.microsoft.com/office/drawing/2014/main" id="{EE491FC2-1A64-F14F-F847-A5AD49DEA1C8}"/>
              </a:ext>
            </a:extLst>
          </p:cNvPr>
          <p:cNvGrpSpPr/>
          <p:nvPr/>
        </p:nvGrpSpPr>
        <p:grpSpPr>
          <a:xfrm>
            <a:off x="18088875" y="-137537"/>
            <a:ext cx="1273129" cy="10562074"/>
            <a:chOff x="0" y="0"/>
            <a:chExt cx="335310" cy="2781781"/>
          </a:xfrm>
        </p:grpSpPr>
        <p:sp>
          <p:nvSpPr>
            <p:cNvPr id="20" name="Freeform 6">
              <a:extLst>
                <a:ext uri="{FF2B5EF4-FFF2-40B4-BE49-F238E27FC236}">
                  <a16:creationId xmlns:a16="http://schemas.microsoft.com/office/drawing/2014/main" id="{132EE59E-06A7-326E-B5E1-D948FE9E89E8}"/>
                </a:ext>
              </a:extLst>
            </p:cNvPr>
            <p:cNvSpPr/>
            <p:nvPr/>
          </p:nvSpPr>
          <p:spPr>
            <a:xfrm>
              <a:off x="0" y="0"/>
              <a:ext cx="335310" cy="2781781"/>
            </a:xfrm>
            <a:custGeom>
              <a:avLst/>
              <a:gdLst/>
              <a:ahLst/>
              <a:cxnLst/>
              <a:rect l="l" t="t" r="r" b="b"/>
              <a:pathLst>
                <a:path w="335310" h="2781781">
                  <a:moveTo>
                    <a:pt x="0" y="0"/>
                  </a:moveTo>
                  <a:lnTo>
                    <a:pt x="335310" y="0"/>
                  </a:lnTo>
                  <a:lnTo>
                    <a:pt x="335310" y="2781781"/>
                  </a:lnTo>
                  <a:lnTo>
                    <a:pt x="0" y="2781781"/>
                  </a:lnTo>
                  <a:close/>
                </a:path>
              </a:pathLst>
            </a:custGeom>
            <a:solidFill>
              <a:srgbClr val="F5DFDC"/>
            </a:solidFill>
            <a:ln cap="sq">
              <a:noFill/>
              <a:prstDash val="solid"/>
              <a:miter/>
            </a:ln>
          </p:spPr>
          <p:txBody>
            <a:bodyPr/>
            <a:lstStyle/>
            <a:p>
              <a:endParaRPr lang="en-IN"/>
            </a:p>
          </p:txBody>
        </p:sp>
        <p:sp>
          <p:nvSpPr>
            <p:cNvPr id="21" name="TextBox 7">
              <a:extLst>
                <a:ext uri="{FF2B5EF4-FFF2-40B4-BE49-F238E27FC236}">
                  <a16:creationId xmlns:a16="http://schemas.microsoft.com/office/drawing/2014/main" id="{8144A4F1-901A-C39B-DD20-FA5DE4107FCD}"/>
                </a:ext>
              </a:extLst>
            </p:cNvPr>
            <p:cNvSpPr txBox="1"/>
            <p:nvPr/>
          </p:nvSpPr>
          <p:spPr>
            <a:xfrm>
              <a:off x="0" y="38100"/>
              <a:ext cx="335310" cy="2743681"/>
            </a:xfrm>
            <a:prstGeom prst="rect">
              <a:avLst/>
            </a:prstGeom>
          </p:spPr>
          <p:txBody>
            <a:bodyPr lIns="50800" tIns="50800" rIns="50800" bIns="50800" rtlCol="0" anchor="ctr"/>
            <a:lstStyle/>
            <a:p>
              <a:pPr algn="ctr">
                <a:lnSpc>
                  <a:spcPts val="2100"/>
                </a:lnSpc>
              </a:pPr>
              <a:endParaRPr/>
            </a:p>
          </p:txBody>
        </p:sp>
      </p:grpSp>
      <p:grpSp>
        <p:nvGrpSpPr>
          <p:cNvPr id="16" name="Group 2">
            <a:extLst>
              <a:ext uri="{FF2B5EF4-FFF2-40B4-BE49-F238E27FC236}">
                <a16:creationId xmlns:a16="http://schemas.microsoft.com/office/drawing/2014/main" id="{E7131780-6A02-72B4-2C4A-83542C6F6E4B}"/>
              </a:ext>
            </a:extLst>
          </p:cNvPr>
          <p:cNvGrpSpPr/>
          <p:nvPr/>
        </p:nvGrpSpPr>
        <p:grpSpPr>
          <a:xfrm>
            <a:off x="-998214" y="24260"/>
            <a:ext cx="1273129" cy="10562074"/>
            <a:chOff x="0" y="0"/>
            <a:chExt cx="335310" cy="2781781"/>
          </a:xfrm>
        </p:grpSpPr>
        <p:sp>
          <p:nvSpPr>
            <p:cNvPr id="17" name="Freeform 3">
              <a:extLst>
                <a:ext uri="{FF2B5EF4-FFF2-40B4-BE49-F238E27FC236}">
                  <a16:creationId xmlns:a16="http://schemas.microsoft.com/office/drawing/2014/main" id="{5ABD4254-7388-D1C4-AC53-48FE961551A1}"/>
                </a:ext>
              </a:extLst>
            </p:cNvPr>
            <p:cNvSpPr/>
            <p:nvPr/>
          </p:nvSpPr>
          <p:spPr>
            <a:xfrm>
              <a:off x="0" y="0"/>
              <a:ext cx="335310" cy="2781781"/>
            </a:xfrm>
            <a:custGeom>
              <a:avLst/>
              <a:gdLst/>
              <a:ahLst/>
              <a:cxnLst/>
              <a:rect l="l" t="t" r="r" b="b"/>
              <a:pathLst>
                <a:path w="335310" h="2781781">
                  <a:moveTo>
                    <a:pt x="0" y="0"/>
                  </a:moveTo>
                  <a:lnTo>
                    <a:pt x="335310" y="0"/>
                  </a:lnTo>
                  <a:lnTo>
                    <a:pt x="335310" y="2781781"/>
                  </a:lnTo>
                  <a:lnTo>
                    <a:pt x="0" y="2781781"/>
                  </a:lnTo>
                  <a:close/>
                </a:path>
              </a:pathLst>
            </a:custGeom>
            <a:solidFill>
              <a:srgbClr val="F5DFDC"/>
            </a:solidFill>
            <a:ln cap="sq">
              <a:noFill/>
              <a:prstDash val="solid"/>
              <a:miter/>
            </a:ln>
          </p:spPr>
          <p:txBody>
            <a:bodyPr/>
            <a:lstStyle/>
            <a:p>
              <a:endParaRPr lang="en-IN"/>
            </a:p>
          </p:txBody>
        </p:sp>
        <p:sp>
          <p:nvSpPr>
            <p:cNvPr id="18" name="TextBox 4">
              <a:extLst>
                <a:ext uri="{FF2B5EF4-FFF2-40B4-BE49-F238E27FC236}">
                  <a16:creationId xmlns:a16="http://schemas.microsoft.com/office/drawing/2014/main" id="{C585CB02-1971-00EF-158A-D1ADD9A7A9AB}"/>
                </a:ext>
              </a:extLst>
            </p:cNvPr>
            <p:cNvSpPr txBox="1"/>
            <p:nvPr/>
          </p:nvSpPr>
          <p:spPr>
            <a:xfrm>
              <a:off x="0" y="38100"/>
              <a:ext cx="335310" cy="2743681"/>
            </a:xfrm>
            <a:prstGeom prst="rect">
              <a:avLst/>
            </a:prstGeom>
          </p:spPr>
          <p:txBody>
            <a:bodyPr lIns="50800" tIns="50800" rIns="50800" bIns="50800" rtlCol="0" anchor="ctr"/>
            <a:lstStyle/>
            <a:p>
              <a:pPr algn="ctr">
                <a:lnSpc>
                  <a:spcPts val="2100"/>
                </a:lnSpc>
              </a:pPr>
              <a:endParaRPr/>
            </a:p>
          </p:txBody>
        </p:sp>
      </p:grpSp>
      <p:sp>
        <p:nvSpPr>
          <p:cNvPr id="8" name="Freeform 8">
            <a:extLst>
              <a:ext uri="{FF2B5EF4-FFF2-40B4-BE49-F238E27FC236}">
                <a16:creationId xmlns:a16="http://schemas.microsoft.com/office/drawing/2014/main" id="{199E466C-F6D5-94E2-7723-EF55A02E3257}"/>
              </a:ext>
            </a:extLst>
          </p:cNvPr>
          <p:cNvSpPr/>
          <p:nvPr/>
        </p:nvSpPr>
        <p:spPr>
          <a:xfrm>
            <a:off x="14706600" y="-202510"/>
            <a:ext cx="4521184" cy="1528982"/>
          </a:xfrm>
          <a:custGeom>
            <a:avLst/>
            <a:gdLst/>
            <a:ahLst/>
            <a:cxnLst/>
            <a:rect l="l" t="t" r="r" b="b"/>
            <a:pathLst>
              <a:path w="4521184" h="1528982">
                <a:moveTo>
                  <a:pt x="0" y="0"/>
                </a:moveTo>
                <a:lnTo>
                  <a:pt x="4521184" y="0"/>
                </a:lnTo>
                <a:lnTo>
                  <a:pt x="4521184" y="1528982"/>
                </a:lnTo>
                <a:lnTo>
                  <a:pt x="0" y="152898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9" name="Freeform 9">
            <a:extLst>
              <a:ext uri="{FF2B5EF4-FFF2-40B4-BE49-F238E27FC236}">
                <a16:creationId xmlns:a16="http://schemas.microsoft.com/office/drawing/2014/main" id="{685AB144-E1D6-1049-E3CB-38ABC912F35D}"/>
              </a:ext>
            </a:extLst>
          </p:cNvPr>
          <p:cNvSpPr/>
          <p:nvPr/>
        </p:nvSpPr>
        <p:spPr>
          <a:xfrm flipH="1" flipV="1">
            <a:off x="-1128348" y="8895555"/>
            <a:ext cx="4521184" cy="1528982"/>
          </a:xfrm>
          <a:custGeom>
            <a:avLst/>
            <a:gdLst/>
            <a:ahLst/>
            <a:cxnLst/>
            <a:rect l="l" t="t" r="r" b="b"/>
            <a:pathLst>
              <a:path w="4521184" h="1528982">
                <a:moveTo>
                  <a:pt x="4521184" y="1528982"/>
                </a:moveTo>
                <a:lnTo>
                  <a:pt x="0" y="1528982"/>
                </a:lnTo>
                <a:lnTo>
                  <a:pt x="0" y="0"/>
                </a:lnTo>
                <a:lnTo>
                  <a:pt x="4521184" y="0"/>
                </a:lnTo>
                <a:lnTo>
                  <a:pt x="4521184" y="1528982"/>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10" name="Freeform 10">
            <a:extLst>
              <a:ext uri="{FF2B5EF4-FFF2-40B4-BE49-F238E27FC236}">
                <a16:creationId xmlns:a16="http://schemas.microsoft.com/office/drawing/2014/main" id="{84C7FE8C-359C-F3FE-E61D-59ADA57A5CC0}"/>
              </a:ext>
            </a:extLst>
          </p:cNvPr>
          <p:cNvSpPr/>
          <p:nvPr/>
        </p:nvSpPr>
        <p:spPr>
          <a:xfrm>
            <a:off x="16459200" y="9182100"/>
            <a:ext cx="2636110" cy="1524151"/>
          </a:xfrm>
          <a:custGeom>
            <a:avLst/>
            <a:gdLst/>
            <a:ahLst/>
            <a:cxnLst/>
            <a:rect l="l" t="t" r="r" b="b"/>
            <a:pathLst>
              <a:path w="2636110" h="1524151">
                <a:moveTo>
                  <a:pt x="0" y="0"/>
                </a:moveTo>
                <a:lnTo>
                  <a:pt x="2636110" y="0"/>
                </a:lnTo>
                <a:lnTo>
                  <a:pt x="2636110" y="1524151"/>
                </a:lnTo>
                <a:lnTo>
                  <a:pt x="0" y="152415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dirty="0"/>
          </a:p>
        </p:txBody>
      </p:sp>
      <p:sp>
        <p:nvSpPr>
          <p:cNvPr id="11" name="Freeform 11">
            <a:extLst>
              <a:ext uri="{FF2B5EF4-FFF2-40B4-BE49-F238E27FC236}">
                <a16:creationId xmlns:a16="http://schemas.microsoft.com/office/drawing/2014/main" id="{6CF1A922-C1C4-38CA-780B-FD6B52F6C2E6}"/>
              </a:ext>
            </a:extLst>
          </p:cNvPr>
          <p:cNvSpPr/>
          <p:nvPr/>
        </p:nvSpPr>
        <p:spPr>
          <a:xfrm flipH="1" flipV="1">
            <a:off x="-762000" y="-428776"/>
            <a:ext cx="2636110" cy="1524151"/>
          </a:xfrm>
          <a:custGeom>
            <a:avLst/>
            <a:gdLst/>
            <a:ahLst/>
            <a:cxnLst/>
            <a:rect l="l" t="t" r="r" b="b"/>
            <a:pathLst>
              <a:path w="2636110" h="1524151">
                <a:moveTo>
                  <a:pt x="2636110" y="1524151"/>
                </a:moveTo>
                <a:lnTo>
                  <a:pt x="0" y="1524151"/>
                </a:lnTo>
                <a:lnTo>
                  <a:pt x="0" y="0"/>
                </a:lnTo>
                <a:lnTo>
                  <a:pt x="2636110" y="0"/>
                </a:lnTo>
                <a:lnTo>
                  <a:pt x="2636110" y="1524151"/>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dirty="0"/>
          </a:p>
        </p:txBody>
      </p:sp>
      <p:sp>
        <p:nvSpPr>
          <p:cNvPr id="12" name="TextBox 11">
            <a:extLst>
              <a:ext uri="{FF2B5EF4-FFF2-40B4-BE49-F238E27FC236}">
                <a16:creationId xmlns:a16="http://schemas.microsoft.com/office/drawing/2014/main" id="{3F7D68CF-499F-9087-52B3-0CD1FFDB903D}"/>
              </a:ext>
            </a:extLst>
          </p:cNvPr>
          <p:cNvSpPr txBox="1"/>
          <p:nvPr/>
        </p:nvSpPr>
        <p:spPr>
          <a:xfrm>
            <a:off x="8669121" y="8951267"/>
            <a:ext cx="495649" cy="461665"/>
          </a:xfrm>
          <a:prstGeom prst="rect">
            <a:avLst/>
          </a:prstGeom>
          <a:noFill/>
        </p:spPr>
        <p:txBody>
          <a:bodyPr wrap="none" rtlCol="0">
            <a:spAutoFit/>
          </a:bodyPr>
          <a:lstStyle/>
          <a:p>
            <a:r>
              <a:rPr lang="en-IN" sz="2400" dirty="0">
                <a:solidFill>
                  <a:schemeClr val="tx1">
                    <a:lumMod val="65000"/>
                    <a:lumOff val="35000"/>
                  </a:schemeClr>
                </a:solidFill>
              </a:rPr>
              <a:t>29</a:t>
            </a:r>
          </a:p>
        </p:txBody>
      </p:sp>
      <p:sp>
        <p:nvSpPr>
          <p:cNvPr id="3" name="TextBox 2">
            <a:extLst>
              <a:ext uri="{FF2B5EF4-FFF2-40B4-BE49-F238E27FC236}">
                <a16:creationId xmlns:a16="http://schemas.microsoft.com/office/drawing/2014/main" id="{D77F4F58-CDDC-78D1-2A16-B442498507A0}"/>
              </a:ext>
            </a:extLst>
          </p:cNvPr>
          <p:cNvSpPr txBox="1"/>
          <p:nvPr/>
        </p:nvSpPr>
        <p:spPr>
          <a:xfrm>
            <a:off x="1904590" y="1368033"/>
            <a:ext cx="14249400" cy="7478970"/>
          </a:xfrm>
          <a:prstGeom prst="rect">
            <a:avLst/>
          </a:prstGeom>
          <a:noFill/>
        </p:spPr>
        <p:txBody>
          <a:bodyPr wrap="square">
            <a:spAutoFit/>
          </a:bodyPr>
          <a:lstStyle/>
          <a:p>
            <a:pPr marL="514350" indent="-514350" algn="just">
              <a:spcAft>
                <a:spcPts val="600"/>
              </a:spcAft>
              <a:buFont typeface="+mj-lt"/>
              <a:buAutoNum type="arabicPeriod" startAt="7"/>
            </a:pPr>
            <a:r>
              <a:rPr lang="en-IN" sz="2500" dirty="0"/>
              <a:t>Khalil </a:t>
            </a:r>
            <a:r>
              <a:rPr lang="en-IN" sz="2500" dirty="0" err="1"/>
              <a:t>Mouhah</a:t>
            </a:r>
            <a:r>
              <a:rPr lang="en-IN" sz="2500" dirty="0"/>
              <a:t>, Hind Faiz, and Safae </a:t>
            </a:r>
            <a:r>
              <a:rPr lang="en-IN" sz="2500" dirty="0" err="1"/>
              <a:t>Bourhnane</a:t>
            </a:r>
            <a:r>
              <a:rPr lang="en-IN" sz="2500" dirty="0"/>
              <a:t>, “Large Matrix Multiplication Algorithms: Analysis and Comparison,” Proc. 7th International Conference on Algorithms, Computing and Systems (ICACS ’23). 2024.</a:t>
            </a:r>
          </a:p>
          <a:p>
            <a:pPr marL="514350" indent="-514350" algn="just">
              <a:spcAft>
                <a:spcPts val="600"/>
              </a:spcAft>
              <a:buFont typeface="+mj-lt"/>
              <a:buAutoNum type="arabicPeriod" startAt="7"/>
            </a:pPr>
            <a:r>
              <a:rPr lang="en-IN" sz="2500" dirty="0" err="1"/>
              <a:t>Mufakir</a:t>
            </a:r>
            <a:r>
              <a:rPr lang="en-IN" sz="2500" dirty="0"/>
              <a:t> Qamar Ansari and </a:t>
            </a:r>
            <a:r>
              <a:rPr lang="en-IN" sz="2500" dirty="0" err="1"/>
              <a:t>Mudabir</a:t>
            </a:r>
            <a:r>
              <a:rPr lang="en-IN" sz="2500" dirty="0"/>
              <a:t> Qamar Ansari, “Accelerating Matrix Multiplication: A Performance Comparison Between Multi-Core CPU and GPU,” Independent Research Report, 2025.</a:t>
            </a:r>
          </a:p>
          <a:p>
            <a:pPr marL="514350" indent="-514350" algn="just">
              <a:spcAft>
                <a:spcPts val="600"/>
              </a:spcAft>
              <a:buFont typeface="+mj-lt"/>
              <a:buAutoNum type="arabicPeriod" startAt="7"/>
            </a:pPr>
            <a:r>
              <a:rPr lang="en-IN" sz="2500" dirty="0"/>
              <a:t>Nizar </a:t>
            </a:r>
            <a:r>
              <a:rPr lang="en-IN" sz="2500" dirty="0" err="1"/>
              <a:t>AlHafez</a:t>
            </a:r>
            <a:r>
              <a:rPr lang="en-IN" sz="2500" dirty="0"/>
              <a:t> and Ahmad Kurdi, “Parallel Paradigms in Modern HPC: A Comparative Analysis of MPI,  OpenMP, and </a:t>
            </a:r>
            <a:r>
              <a:rPr lang="en-IN" sz="2500" dirty="0" err="1"/>
              <a:t>CUDA,”Higher</a:t>
            </a:r>
            <a:r>
              <a:rPr lang="en-IN" sz="2500" dirty="0"/>
              <a:t> Institute for Applied Sciences and Technology (HIAST), Damascus, Syria, 2025.</a:t>
            </a:r>
          </a:p>
          <a:p>
            <a:pPr marL="514350" indent="-514350" algn="just">
              <a:spcAft>
                <a:spcPts val="600"/>
              </a:spcAft>
              <a:buFont typeface="+mj-lt"/>
              <a:buAutoNum type="arabicPeriod" startAt="7"/>
            </a:pPr>
            <a:r>
              <a:rPr lang="en-US" sz="2500" dirty="0"/>
              <a:t>Eric </a:t>
            </a:r>
            <a:r>
              <a:rPr lang="en-US" sz="2500" dirty="0" err="1"/>
              <a:t>Hitimana</a:t>
            </a:r>
            <a:r>
              <a:rPr lang="en-US" sz="2500" dirty="0"/>
              <a:t>, Eric </a:t>
            </a:r>
            <a:r>
              <a:rPr lang="en-US" sz="2500" dirty="0" err="1"/>
              <a:t>Nizeyimana</a:t>
            </a:r>
            <a:r>
              <a:rPr lang="en-US" sz="2500" dirty="0"/>
              <a:t>, and Gaurav Bajpai, “Comparative Study on Performance of High-Performance Computing under OpenMP and MPI on Image  Segmentation,” University of Rwanda–College of Science and Technology, 2016.</a:t>
            </a:r>
          </a:p>
          <a:p>
            <a:pPr marL="514350" indent="-514350" algn="just">
              <a:spcAft>
                <a:spcPts val="600"/>
              </a:spcAft>
              <a:buFont typeface="+mj-lt"/>
              <a:buAutoNum type="arabicPeriod" startAt="7"/>
            </a:pPr>
            <a:r>
              <a:rPr lang="en-US" sz="2500" dirty="0"/>
              <a:t>Ethan Davis, “High Performance Matrix Multiplication,” Independent Research Study, Mar. 2025.</a:t>
            </a:r>
          </a:p>
          <a:p>
            <a:pPr marL="514350" indent="-514350" algn="just">
              <a:spcAft>
                <a:spcPts val="600"/>
              </a:spcAft>
              <a:buFont typeface="+mj-lt"/>
              <a:buAutoNum type="arabicPeriod" startAt="7"/>
            </a:pPr>
            <a:r>
              <a:rPr lang="en-US" sz="2500" dirty="0"/>
              <a:t>Prudhvi </a:t>
            </a:r>
            <a:r>
              <a:rPr lang="en-US" sz="2500" dirty="0" err="1"/>
              <a:t>Naayini</a:t>
            </a:r>
            <a:r>
              <a:rPr lang="en-US" sz="2500" dirty="0"/>
              <a:t>, Srikanth </a:t>
            </a:r>
            <a:r>
              <a:rPr lang="en-US" sz="2500" dirty="0" err="1"/>
              <a:t>Kamatala</a:t>
            </a:r>
            <a:r>
              <a:rPr lang="en-US" sz="2500" dirty="0"/>
              <a:t>. “High-Performance Data Computing: Parallel Frameworks, Execution Strategies, and Real-World Deployments” . International Journal of Scientific Advances ISSN: 2708-7972 Volume: 4, Issue: 6 , Nov– Dec 2023.</a:t>
            </a:r>
          </a:p>
          <a:p>
            <a:pPr marL="514350" indent="-514350" algn="just">
              <a:spcAft>
                <a:spcPts val="600"/>
              </a:spcAft>
              <a:buFont typeface="+mj-lt"/>
              <a:buAutoNum type="arabicPeriod" startAt="7"/>
            </a:pPr>
            <a:r>
              <a:rPr lang="en-US" sz="2500" dirty="0"/>
              <a:t> </a:t>
            </a:r>
            <a:r>
              <a:rPr lang="en-US" sz="2500" dirty="0" err="1"/>
              <a:t>Mohanarajesh</a:t>
            </a:r>
            <a:r>
              <a:rPr lang="en-US" sz="2500" dirty="0"/>
              <a:t> Kommineni. ” Study High-Performance Computing Techniques for Optimizing and Accelerating AI Algorithms Using Quantum Computing and Specialized Hardware “, International Journal of Innovations in Applied Sciences and Engineering</a:t>
            </a:r>
          </a:p>
        </p:txBody>
      </p:sp>
    </p:spTree>
    <p:extLst>
      <p:ext uri="{BB962C8B-B14F-4D97-AF65-F5344CB8AC3E}">
        <p14:creationId xmlns:p14="http://schemas.microsoft.com/office/powerpoint/2010/main" val="310995310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028700" y="1028700"/>
            <a:ext cx="16230600" cy="8610600"/>
            <a:chOff x="0" y="0"/>
            <a:chExt cx="4274726" cy="2167467"/>
          </a:xfrm>
        </p:grpSpPr>
        <p:sp>
          <p:nvSpPr>
            <p:cNvPr id="3" name="Freeform 3"/>
            <p:cNvSpPr/>
            <p:nvPr/>
          </p:nvSpPr>
          <p:spPr>
            <a:xfrm>
              <a:off x="0" y="0"/>
              <a:ext cx="4274726" cy="2059094"/>
            </a:xfrm>
            <a:custGeom>
              <a:avLst/>
              <a:gdLst/>
              <a:ahLst/>
              <a:cxnLst/>
              <a:rect l="l" t="t" r="r" b="b"/>
              <a:pathLst>
                <a:path w="4274726" h="2167467">
                  <a:moveTo>
                    <a:pt x="0" y="0"/>
                  </a:moveTo>
                  <a:lnTo>
                    <a:pt x="4274726" y="0"/>
                  </a:lnTo>
                  <a:lnTo>
                    <a:pt x="4274726" y="2167467"/>
                  </a:lnTo>
                  <a:lnTo>
                    <a:pt x="0" y="2167467"/>
                  </a:lnTo>
                  <a:close/>
                </a:path>
              </a:pathLst>
            </a:custGeom>
            <a:solidFill>
              <a:srgbClr val="F5DFDC"/>
            </a:solidFill>
            <a:ln cap="sq">
              <a:noFill/>
              <a:prstDash val="solid"/>
              <a:miter/>
            </a:ln>
          </p:spPr>
          <p:txBody>
            <a:bodyPr/>
            <a:lstStyle/>
            <a:p>
              <a:endParaRPr lang="en-IN" dirty="0"/>
            </a:p>
          </p:txBody>
        </p:sp>
        <p:sp>
          <p:nvSpPr>
            <p:cNvPr id="4" name="TextBox 4"/>
            <p:cNvSpPr txBox="1"/>
            <p:nvPr/>
          </p:nvSpPr>
          <p:spPr>
            <a:xfrm>
              <a:off x="0" y="38100"/>
              <a:ext cx="4274726" cy="2129367"/>
            </a:xfrm>
            <a:prstGeom prst="rect">
              <a:avLst/>
            </a:prstGeom>
          </p:spPr>
          <p:txBody>
            <a:bodyPr lIns="50800" tIns="50800" rIns="50800" bIns="50800" rtlCol="0" anchor="ctr"/>
            <a:lstStyle/>
            <a:p>
              <a:pPr algn="ctr">
                <a:lnSpc>
                  <a:spcPts val="2100"/>
                </a:lnSpc>
              </a:pPr>
              <a:endParaRPr/>
            </a:p>
          </p:txBody>
        </p:sp>
      </p:grpSp>
      <p:sp>
        <p:nvSpPr>
          <p:cNvPr id="5" name="Freeform 5"/>
          <p:cNvSpPr/>
          <p:nvPr/>
        </p:nvSpPr>
        <p:spPr>
          <a:xfrm>
            <a:off x="13540321" y="1028700"/>
            <a:ext cx="3686707" cy="1246777"/>
          </a:xfrm>
          <a:custGeom>
            <a:avLst/>
            <a:gdLst/>
            <a:ahLst/>
            <a:cxnLst/>
            <a:rect l="l" t="t" r="r" b="b"/>
            <a:pathLst>
              <a:path w="3686707" h="1246777">
                <a:moveTo>
                  <a:pt x="0" y="0"/>
                </a:moveTo>
                <a:lnTo>
                  <a:pt x="3686708" y="0"/>
                </a:lnTo>
                <a:lnTo>
                  <a:pt x="3686708" y="1246777"/>
                </a:lnTo>
                <a:lnTo>
                  <a:pt x="0" y="124677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6" name="Freeform 6"/>
          <p:cNvSpPr/>
          <p:nvPr/>
        </p:nvSpPr>
        <p:spPr>
          <a:xfrm flipH="1" flipV="1">
            <a:off x="1076212" y="417982"/>
            <a:ext cx="2636110" cy="1524151"/>
          </a:xfrm>
          <a:custGeom>
            <a:avLst/>
            <a:gdLst/>
            <a:ahLst/>
            <a:cxnLst/>
            <a:rect l="l" t="t" r="r" b="b"/>
            <a:pathLst>
              <a:path w="2636110" h="1524151">
                <a:moveTo>
                  <a:pt x="2636110" y="1524150"/>
                </a:moveTo>
                <a:lnTo>
                  <a:pt x="0" y="1524150"/>
                </a:lnTo>
                <a:lnTo>
                  <a:pt x="0" y="0"/>
                </a:lnTo>
                <a:lnTo>
                  <a:pt x="2636110" y="0"/>
                </a:lnTo>
                <a:lnTo>
                  <a:pt x="2636110" y="152415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sp>
        <p:nvSpPr>
          <p:cNvPr id="7" name="Freeform 7"/>
          <p:cNvSpPr/>
          <p:nvPr/>
        </p:nvSpPr>
        <p:spPr>
          <a:xfrm>
            <a:off x="14623190" y="8234270"/>
            <a:ext cx="2636110" cy="1524151"/>
          </a:xfrm>
          <a:custGeom>
            <a:avLst/>
            <a:gdLst/>
            <a:ahLst/>
            <a:cxnLst/>
            <a:rect l="l" t="t" r="r" b="b"/>
            <a:pathLst>
              <a:path w="2636110" h="1524151">
                <a:moveTo>
                  <a:pt x="0" y="0"/>
                </a:moveTo>
                <a:lnTo>
                  <a:pt x="2636110" y="0"/>
                </a:lnTo>
                <a:lnTo>
                  <a:pt x="2636110" y="1524150"/>
                </a:lnTo>
                <a:lnTo>
                  <a:pt x="0" y="152415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sp>
        <p:nvSpPr>
          <p:cNvPr id="8" name="Freeform 8"/>
          <p:cNvSpPr/>
          <p:nvPr/>
        </p:nvSpPr>
        <p:spPr>
          <a:xfrm flipH="1" flipV="1">
            <a:off x="1076212" y="7904013"/>
            <a:ext cx="3686707" cy="1246777"/>
          </a:xfrm>
          <a:custGeom>
            <a:avLst/>
            <a:gdLst/>
            <a:ahLst/>
            <a:cxnLst/>
            <a:rect l="l" t="t" r="r" b="b"/>
            <a:pathLst>
              <a:path w="3686707" h="1246777">
                <a:moveTo>
                  <a:pt x="3686707" y="1246777"/>
                </a:moveTo>
                <a:lnTo>
                  <a:pt x="0" y="1246777"/>
                </a:lnTo>
                <a:lnTo>
                  <a:pt x="0" y="0"/>
                </a:lnTo>
                <a:lnTo>
                  <a:pt x="3686707" y="0"/>
                </a:lnTo>
                <a:lnTo>
                  <a:pt x="3686707" y="1246777"/>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dirty="0"/>
          </a:p>
        </p:txBody>
      </p:sp>
      <p:sp>
        <p:nvSpPr>
          <p:cNvPr id="13" name="TextBox 10">
            <a:extLst>
              <a:ext uri="{FF2B5EF4-FFF2-40B4-BE49-F238E27FC236}">
                <a16:creationId xmlns:a16="http://schemas.microsoft.com/office/drawing/2014/main" id="{B043B3E6-B90B-78B2-6B53-722CD14CF441}"/>
              </a:ext>
            </a:extLst>
          </p:cNvPr>
          <p:cNvSpPr txBox="1"/>
          <p:nvPr/>
        </p:nvSpPr>
        <p:spPr>
          <a:xfrm>
            <a:off x="3208836" y="3963607"/>
            <a:ext cx="11870327" cy="2426494"/>
          </a:xfrm>
          <a:prstGeom prst="rect">
            <a:avLst/>
          </a:prstGeom>
        </p:spPr>
        <p:txBody>
          <a:bodyPr lIns="0" tIns="0" rIns="0" bIns="0" rtlCol="0" anchor="t">
            <a:spAutoFit/>
          </a:bodyPr>
          <a:lstStyle/>
          <a:p>
            <a:pPr algn="ctr">
              <a:lnSpc>
                <a:spcPts val="19023"/>
              </a:lnSpc>
            </a:pPr>
            <a:r>
              <a:rPr lang="en-US" sz="16399" dirty="0">
                <a:solidFill>
                  <a:srgbClr val="0E182F"/>
                </a:solidFill>
                <a:latin typeface="Martel"/>
                <a:ea typeface="Martel"/>
                <a:cs typeface="Martel"/>
                <a:sym typeface="Martel"/>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1289</TotalTime>
  <Words>2672</Words>
  <Application>Microsoft Office PowerPoint</Application>
  <PresentationFormat>Custom</PresentationFormat>
  <Paragraphs>299</Paragraphs>
  <Slides>30</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30</vt:i4>
      </vt:variant>
    </vt:vector>
  </HeadingPairs>
  <TitlesOfParts>
    <vt:vector size="37" baseType="lpstr">
      <vt:lpstr>Arial</vt:lpstr>
      <vt:lpstr>Calibri</vt:lpstr>
      <vt:lpstr>Martel Semi-Bold</vt:lpstr>
      <vt:lpstr>Cambria Math</vt:lpstr>
      <vt:lpstr>Martel</vt:lpstr>
      <vt:lpstr>Aptos</vt:lpstr>
      <vt:lpstr>Office Theme</vt:lpstr>
      <vt:lpstr>PowerPoint Presentation</vt:lpstr>
      <vt:lpstr>Table of Contents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Pink Modern Minimalist Thesis Defense Presentation</dc:title>
  <dc:creator>Shreevani M S</dc:creator>
  <cp:lastModifiedBy>Raviteja M S</cp:lastModifiedBy>
  <cp:revision>27</cp:revision>
  <dcterms:created xsi:type="dcterms:W3CDTF">2006-08-16T00:00:00Z</dcterms:created>
  <dcterms:modified xsi:type="dcterms:W3CDTF">2026-04-06T21:39:47Z</dcterms:modified>
  <dc:identifier>DAG1fBjc1MU</dc:identifier>
</cp:coreProperties>
</file>